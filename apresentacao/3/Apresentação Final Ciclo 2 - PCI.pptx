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Lemonada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Lemonada-bold.fnt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Abertura. Apresente os tres e diga em uma frase o recorte: um agente, um turno, uma microarea. Nao mencione PDDL ainda, isso vem no slide 3. A frase que prepara tudo: quase todo mundo ataca isso como problema de rota, e a rota e so metade do problema.</a:t>
            </a:r>
            <a:endParaRPr/>
          </a:p>
        </p:txBody>
      </p:sp>
      <p:sp>
        <p:nvSpPr>
          <p:cNvPr id="45" name="Google Shape;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728b28727897d59_14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h2728b28727897d59_14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/>
          </a:p>
        </p:txBody>
      </p:sp>
      <p:sp>
        <p:nvSpPr>
          <p:cNvPr id="57" name="Google Shape;57;h2728b28727897d59_14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2728b28727897d59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h2728b28727897d59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/>
          </a:p>
        </p:txBody>
      </p:sp>
      <p:sp>
        <p:nvSpPr>
          <p:cNvPr id="70" name="Google Shape;70;h2728b28727897d59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728b28727897d59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h2728b28727897d59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/>
          </a:p>
        </p:txBody>
      </p:sp>
      <p:sp>
        <p:nvSpPr>
          <p:cNvPr id="83" name="Google Shape;83;h2728b28727897d59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2728b28727897d59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h2728b28727897d59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/>
          </a:p>
        </p:txBody>
      </p:sp>
      <p:sp>
        <p:nvSpPr>
          <p:cNvPr id="106" name="Google Shape;106;h2728b28727897d59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2728b28727897d59_14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2728b28727897d59_14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 esta a honestidade que fortalece. Dissemos aos professores que eramos os primeiros, fomos checar, e nao somos. Mas a lista de artigos do TDSP e o nosso melhor argumento: um artigo e um algoritmo novo por jurisdicao, Uniao Europeia, Estados Unidos, Canada, Australia. Isso e o custo de manutencao do jeito procedural, acontecendo de verdade, por vinte anos. Nos medimos esse custo em laboratorio.</a:t>
            </a:r>
            <a:endParaRPr/>
          </a:p>
        </p:txBody>
      </p:sp>
      <p:sp>
        <p:nvSpPr>
          <p:cNvPr id="130" name="Google Shape;130;h2728b28727897d59_14_4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2728b28727897d59_0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2728b28727897d59_0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/>
          </a:p>
        </p:txBody>
      </p:sp>
      <p:sp>
        <p:nvSpPr>
          <p:cNvPr id="150" name="Google Shape;150;h2728b28727897d59_0_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2728b28727897d59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h2728b28727897d59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/>
          </a:p>
        </p:txBody>
      </p:sp>
      <p:sp>
        <p:nvSpPr>
          <p:cNvPr id="178" name="Google Shape;178;h2728b28727897d59_0_3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isso e mais forte do que esconder: mostra que o desenho experimental funcionou. O caminho 1 de erro, previsto no slide anterior, foi o que se materializou. Se perguntarem quantas instancias: 40 no E7, 25 no E9, 8 por tamanho no E8.</a:t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Coordenadas reais de Porto Alegre, dados clinicos ficticios. Diga o recorte: um agente, um turno, uma microarea. A unidade de saude e o pino escuro marcado com U.</a:t>
            </a:r>
            <a:endParaRPr/>
          </a:p>
        </p:txBody>
      </p:sp>
      <p:sp>
        <p:nvSpPr>
          <p:cNvPr id="215" name="Google Shape;21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perguntarem o criterio: prioridade clinica mais atraso relativo a janela de cada grupo, e corte no orcamento. O E5 mediu o ganho: cobertura de atrasados vai de 37% para 73%.</a:t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 o roteirizador esta deliberadamente CEGO a norma, que e a situacao de quem usa OR-Tools ou um servico externo. O tracado segue as ruas de verdade, nao liga as coordenadas em reta.</a:t>
            </a:r>
            <a:endParaRPr/>
          </a:p>
        </p:txBody>
      </p:sp>
      <p:sp>
        <p:nvSpPr>
          <p:cNvPr id="249" name="Google Shape;2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dois aros tracejados no mapa sao p4 e p7, os pinos 1 e 6. Este e o momento de dizer que a inviabilidade e sensivel a ordem: vale para esta rota, nao para o turno. Por isso vale voltar ao passo 2.</a:t>
            </a:r>
            <a:endParaRPr/>
          </a:p>
        </p:txBody>
      </p:sp>
      <p:sp>
        <p:nvSpPr>
          <p:cNvPr id="266" name="Google Shape;2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 o slide que mais vale na demonstracao. Duas rotas geometricamente identicas, e so uma e executavel. O E13 mediu isso em 45 instancias: o custo da conformidade deu ZERO minuto de caminhada em todos os casos.</a:t>
            </a:r>
            <a:endParaRPr/>
          </a:p>
        </p:txBody>
      </p:sp>
      <p:sp>
        <p:nvSpPr>
          <p:cNvPr id="285" name="Google Shape;28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 garantia de otimalidade, porque a busca usada aqui e A* com h_max. Se perguntarem o tempo: pouco mais de um segundo e meio.</a:t>
            </a:r>
            <a:endParaRPr/>
          </a:p>
        </p:txBody>
      </p:sp>
      <p:sp>
        <p:nvSpPr>
          <p:cNvPr id="302" name="Google Shape;30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 da demonstracao. O tracejado terracota sai da parada 2 ate a unidade e volta: e o desvio de reposicao que o planejamento decidiu, e ele cai ENTRE visitas, nao no meio de uma, que era exatamente o erro do executor procedural.</a:t>
            </a:r>
            <a:endParaRPr/>
          </a:p>
        </p:txBody>
      </p:sp>
      <p:sp>
        <p:nvSpPr>
          <p:cNvPr id="323" name="Google Shape;3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2728b28727897d59_14_5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h2728b28727897d59_14_5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 E a frase final: nenhuma das duas metades sozinha resolve.</a:t>
            </a:r>
            <a:endParaRPr/>
          </a:p>
        </p:txBody>
      </p:sp>
      <p:sp>
        <p:nvSpPr>
          <p:cNvPr id="344" name="Google Shape;344;h2728b28727897d59_14_5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728b28727897d59_0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h2728b28727897d59_0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</a:t>
            </a:r>
            <a:endParaRPr/>
          </a:p>
        </p:txBody>
      </p:sp>
      <p:sp>
        <p:nvSpPr>
          <p:cNvPr id="366" name="Google Shape;366;h2728b28727897d59_0_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11064240" y="632764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">
  <p:cSld name="BASE (h4ae0447d94099342_14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 1">
  <p:cSld name="BASE (h2bbf99b40feeb504_7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">
  <p:cSld name="BASE (h2728b28727897d59_3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 1">
  <p:cSld name="BASE (h4ae0447d94099342_9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0"/>
          <p:cNvSpPr txBox="1"/>
          <p:nvPr/>
        </p:nvSpPr>
        <p:spPr>
          <a:xfrm>
            <a:off x="11064240" y="632764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 (h4ae0447d94099342_14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">
  <p:cSld name="BASE (h2bbf99b40feeb504_7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bbf99b40feeb504_27_0)">
  <p:cSld name="Generated (h2bbf99b40feeb504_27_0)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">
  <p:cSld name="BASE (h4ae0447d94099342_9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3">
  <p:cSld name="BASE (h4ae0447d94099342_115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4">
  <p:cSld name="BASE (h4ae0447d94099342_123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9.jpg"/><Relationship Id="rId5" Type="http://schemas.openxmlformats.org/officeDocument/2006/relationships/hyperlink" Target="https://github.com/extreme500/PCI-Saude-GrupoB/blob/main/apresentacao/3/roteiro-do-turno-de-carro.tx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/>
        </p:nvSpPr>
        <p:spPr>
          <a:xfrm>
            <a:off x="197978" y="373198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8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PROJETO EM CIÊNCIA E INOVAÇÃO  ·  INF99003  ·  CICLO 2  ·  APRESENTAÇÃO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8"/>
          <p:cNvSpPr txBox="1"/>
          <p:nvPr/>
        </p:nvSpPr>
        <p:spPr>
          <a:xfrm>
            <a:off x="209996" y="1228225"/>
            <a:ext cx="117720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400"/>
              <a:buFont typeface="Cambria"/>
              <a:buNone/>
            </a:pPr>
            <a:r>
              <a:rPr b="1" i="0" lang="en-US" sz="5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Automatizado para</a:t>
            </a:r>
            <a:endParaRPr b="1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400"/>
              <a:buFont typeface="Cambria"/>
              <a:buNone/>
            </a:pPr>
            <a:r>
              <a:rPr b="1" i="0" lang="en-US" sz="5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cumprimento de protocolos legais</a:t>
            </a:r>
            <a:endParaRPr b="1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8"/>
          <p:cNvSpPr txBox="1"/>
          <p:nvPr/>
        </p:nvSpPr>
        <p:spPr>
          <a:xfrm>
            <a:off x="314140" y="3331214"/>
            <a:ext cx="1188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Visitas domiciliares de Agentes Comunitários de Saúde na Atenção Primária do SUS.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/>
          <p:nvPr/>
        </p:nvSpPr>
        <p:spPr>
          <a:xfrm>
            <a:off x="412877" y="4592302"/>
            <a:ext cx="1920300" cy="45600"/>
          </a:xfrm>
          <a:prstGeom prst="rect">
            <a:avLst/>
          </a:prstGeom>
          <a:solidFill>
            <a:srgbClr val="B35C38"/>
          </a:solidFill>
          <a:ln cap="flat" cmpd="sng" w="12700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8"/>
          <p:cNvSpPr txBox="1"/>
          <p:nvPr/>
        </p:nvSpPr>
        <p:spPr>
          <a:xfrm>
            <a:off x="210000" y="4972625"/>
            <a:ext cx="117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Gabriel Pieruccini Knopp  ·  Arthur Andrade da Silva  ·  Izadora Candotti de Oliveira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8"/>
          <p:cNvSpPr txBox="1"/>
          <p:nvPr/>
        </p:nvSpPr>
        <p:spPr>
          <a:xfrm>
            <a:off x="210000" y="5457253"/>
            <a:ext cx="117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600"/>
              <a:buFont typeface="Calibri"/>
              <a:buNone/>
            </a:pPr>
            <a:r>
              <a:rPr b="0" i="0" lang="en-US" sz="2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Grupo B  ·  Instituto de Informática, UFRGS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2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CONTEXTUALIZAÇÃO</a:t>
            </a:r>
            <a:endParaRPr b="1" sz="372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" name="Google Shape;60;p19"/>
          <p:cNvSpPr/>
          <p:nvPr/>
        </p:nvSpPr>
        <p:spPr>
          <a:xfrm>
            <a:off x="685800" y="1190625"/>
            <a:ext cx="5219700" cy="3296100"/>
          </a:xfrm>
          <a:prstGeom prst="roundRect">
            <a:avLst>
              <a:gd fmla="val 5079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9"/>
          <p:cNvSpPr txBox="1"/>
          <p:nvPr/>
        </p:nvSpPr>
        <p:spPr>
          <a:xfrm>
            <a:off x="952500" y="1381125"/>
            <a:ext cx="4686300" cy="26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ABORDAGEM TRADICIONAL</a:t>
            </a:r>
            <a:endParaRPr b="1" sz="19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Problema de percurso</a:t>
            </a:r>
            <a:endParaRPr b="1" sz="32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400"/>
              </a:spcBef>
              <a:spcAft>
                <a:spcPts val="800"/>
              </a:spcAft>
              <a:buNone/>
            </a:pPr>
            <a:r>
              <a:rPr b="0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Minimizar deslocamento, cobrir o território no prazo e respeitar a capacidade da equipe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4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roteirizadores convencionais já resolvem bem.</a:t>
            </a:r>
            <a:endParaRPr b="1" sz="2400">
              <a:solidFill>
                <a:srgbClr val="3329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9"/>
          <p:cNvSpPr/>
          <p:nvPr/>
        </p:nvSpPr>
        <p:spPr>
          <a:xfrm>
            <a:off x="6286500" y="1190625"/>
            <a:ext cx="5219700" cy="3296100"/>
          </a:xfrm>
          <a:prstGeom prst="roundRect">
            <a:avLst>
              <a:gd fmla="val 5079" name="adj"/>
            </a:avLst>
          </a:prstGeom>
          <a:solidFill>
            <a:srgbClr val="FFFDF8"/>
          </a:solidFill>
          <a:ln cap="flat" cmpd="sng" w="19050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9"/>
          <p:cNvSpPr txBox="1"/>
          <p:nvPr/>
        </p:nvSpPr>
        <p:spPr>
          <a:xfrm>
            <a:off x="6553200" y="1381125"/>
            <a:ext cx="4686300" cy="282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RESTRIÇÃO LEGAL &amp; DINÂMICA</a:t>
            </a:r>
            <a:endParaRPr b="1" sz="18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Deixa de fora algo importante</a:t>
            </a:r>
            <a:endParaRPr b="1" sz="3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Lei 11.350/2006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condiciona o que o agente pode fazer em cada residência.</a:t>
            </a:r>
            <a:endParaRPr b="0"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Insumo e supervisão se esgotam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ao longo do turno.</a:t>
            </a:r>
            <a:endParaRPr b="0"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9"/>
          <p:cNvSpPr/>
          <p:nvPr/>
        </p:nvSpPr>
        <p:spPr>
          <a:xfrm>
            <a:off x="685800" y="4784650"/>
            <a:ext cx="10820400" cy="1121100"/>
          </a:xfrm>
          <a:prstGeom prst="roundRect">
            <a:avLst>
              <a:gd fmla="val 1066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9"/>
          <p:cNvSpPr txBox="1"/>
          <p:nvPr/>
        </p:nvSpPr>
        <p:spPr>
          <a:xfrm>
            <a:off x="990600" y="4784650"/>
            <a:ext cx="10210800" cy="112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“Aquela sequência de atendimentos é </a:t>
            </a:r>
            <a:r>
              <a:rPr b="1" i="0" lang="en-US" sz="24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executável sem violar a norma</a:t>
            </a: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i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/>
        </p:nvSpPr>
        <p:spPr>
          <a:xfrm>
            <a:off x="685800" y="811928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0"/>
          <p:cNvSpPr/>
          <p:nvPr/>
        </p:nvSpPr>
        <p:spPr>
          <a:xfrm>
            <a:off x="381000" y="1138600"/>
            <a:ext cx="11369100" cy="2346900"/>
          </a:xfrm>
          <a:prstGeom prst="roundRect">
            <a:avLst>
              <a:gd fmla="val 555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814850" y="1345076"/>
            <a:ext cx="10569300" cy="16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0" i="1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desde que o A</a:t>
            </a:r>
            <a:r>
              <a:rPr i="1" lang="en-US" sz="25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CS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concluído </a:t>
            </a:r>
            <a:r>
              <a:rPr b="1" i="1" lang="en-US" sz="25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curso técnico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disponíveis os </a:t>
            </a:r>
            <a:r>
              <a:rPr b="1" i="1" lang="en-US" sz="25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equipamentos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adequados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são atividades do Agente […]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assistidas por profissional de saúde de nível superior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[…] a aferição da pressão arterial […],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encaminhando o paciente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para a unidade de saúde de referência”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0"/>
          <p:cNvSpPr txBox="1"/>
          <p:nvPr/>
        </p:nvSpPr>
        <p:spPr>
          <a:xfrm>
            <a:off x="826233" y="3132858"/>
            <a:ext cx="1023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Lei nº 11.350/2006, art. 3º § 4º, na redação da Lei nº 13.595/2018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381000" y="3626575"/>
            <a:ext cx="11369100" cy="2700900"/>
          </a:xfrm>
          <a:prstGeom prst="roundRect">
            <a:avLst>
              <a:gd fmla="val 494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 txBox="1"/>
          <p:nvPr/>
        </p:nvSpPr>
        <p:spPr>
          <a:xfrm>
            <a:off x="992452" y="3980751"/>
            <a:ext cx="10234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ourier New"/>
              <a:buNone/>
            </a:pPr>
            <a:r>
              <a:rPr b="1" i="0" lang="en-US" sz="22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:precondition</a:t>
            </a: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  <a:t>(and (curso-tecnico-concluido ?ag)</a:t>
            </a:r>
            <a:b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  <a:t>     (equipamento-disponivel ?ag)</a:t>
            </a:r>
            <a:b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  <a:t>     (supervisao-ativa ?ag))</a:t>
            </a:r>
            <a:b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200" u="none" cap="none" strike="noStrike">
                <a:solidFill>
                  <a:srgbClr val="B35C38"/>
                </a:solidFill>
                <a:latin typeface="Courier New"/>
                <a:ea typeface="Courier New"/>
                <a:cs typeface="Courier New"/>
                <a:sym typeface="Courier New"/>
              </a:rPr>
              <a:t>:effect</a:t>
            </a:r>
            <a:r>
              <a:rPr b="0" i="0" lang="en-US" sz="2200" u="none" cap="none" strike="noStrike">
                <a:solidFill>
                  <a:srgbClr val="B35C38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FDF5F0"/>
                </a:highlight>
                <a:latin typeface="Courier New"/>
                <a:ea typeface="Courier New"/>
                <a:cs typeface="Courier New"/>
                <a:sym typeface="Courier New"/>
              </a:rPr>
              <a:t>(and (pa-ok ?p)</a:t>
            </a:r>
            <a:endParaRPr b="0" i="0" sz="2200" u="none" cap="none" strike="noStrike">
              <a:solidFill>
                <a:schemeClr val="dk1"/>
              </a:solidFill>
              <a:highlight>
                <a:srgbClr val="FDF5F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300"/>
              <a:buFont typeface="Courier New"/>
              <a:buNone/>
            </a:pP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FDF5F0"/>
                </a:highlight>
                <a:latin typeface="Courier New"/>
                <a:ea typeface="Courier New"/>
                <a:cs typeface="Courier New"/>
                <a:sym typeface="Courier New"/>
              </a:rPr>
              <a:t>     (pendencia-encaminhamento ?p))</a:t>
            </a:r>
            <a:endParaRPr b="0" i="0" sz="2200" u="none" cap="none" strike="noStrike">
              <a:solidFill>
                <a:schemeClr val="dk1"/>
              </a:solidFill>
              <a:highlight>
                <a:srgbClr val="FDF5F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381000" y="2963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/>
          <p:nvPr/>
        </p:nvSpPr>
        <p:spPr>
          <a:xfrm>
            <a:off x="392513" y="1033725"/>
            <a:ext cx="5524500" cy="2143200"/>
          </a:xfrm>
          <a:prstGeom prst="roundRect">
            <a:avLst>
              <a:gd fmla="val 711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pSp>
        <p:nvGrpSpPr>
          <p:cNvPr id="87" name="Google Shape;87;p21"/>
          <p:cNvGrpSpPr/>
          <p:nvPr/>
        </p:nvGrpSpPr>
        <p:grpSpPr>
          <a:xfrm>
            <a:off x="582992" y="1153850"/>
            <a:ext cx="5219601" cy="1762275"/>
            <a:chOff x="952500" y="1484658"/>
            <a:chExt cx="4686300" cy="1762275"/>
          </a:xfrm>
        </p:grpSpPr>
        <p:sp>
          <p:nvSpPr>
            <p:cNvPr id="88" name="Google Shape;88;p21"/>
            <p:cNvSpPr txBox="1"/>
            <p:nvPr/>
          </p:nvSpPr>
          <p:spPr>
            <a:xfrm>
              <a:off x="952500" y="1484658"/>
              <a:ext cx="46863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RECURSO 1</a:t>
              </a:r>
              <a:endParaRPr b="1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1"/>
            <p:cNvSpPr txBox="1"/>
            <p:nvPr/>
          </p:nvSpPr>
          <p:spPr>
            <a:xfrm>
              <a:off x="952500" y="1770408"/>
              <a:ext cx="4686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Insumo consumível</a:t>
              </a:r>
              <a:endParaRPr b="1" sz="2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90" name="Google Shape;90;p21"/>
            <p:cNvSpPr txBox="1"/>
            <p:nvPr/>
          </p:nvSpPr>
          <p:spPr>
            <a:xfrm>
              <a:off x="952500" y="2199033"/>
              <a:ext cx="46863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r>
                <a:rPr b="1" lang="en-US" sz="25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ita de glicemia</a:t>
              </a:r>
              <a:r>
                <a:rPr b="0" lang="en-US" sz="25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 só se repõe na unidade de saúde. </a:t>
              </a:r>
              <a:r>
                <a:rPr b="1" lang="en-US" sz="25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Acabar obriga desvio</a:t>
              </a:r>
              <a:r>
                <a:rPr b="0" lang="en-US" sz="25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25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1"/>
          <p:cNvSpPr/>
          <p:nvPr/>
        </p:nvSpPr>
        <p:spPr>
          <a:xfrm>
            <a:off x="6100088" y="1033725"/>
            <a:ext cx="5661300" cy="2143200"/>
          </a:xfrm>
          <a:prstGeom prst="roundRect">
            <a:avLst>
              <a:gd fmla="val 711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pSp>
        <p:nvGrpSpPr>
          <p:cNvPr id="92" name="Google Shape;92;p21"/>
          <p:cNvGrpSpPr/>
          <p:nvPr/>
        </p:nvGrpSpPr>
        <p:grpSpPr>
          <a:xfrm>
            <a:off x="6206725" y="1132154"/>
            <a:ext cx="5444600" cy="1762271"/>
            <a:chOff x="6553200" y="1484658"/>
            <a:chExt cx="4804200" cy="1762271"/>
          </a:xfrm>
        </p:grpSpPr>
        <p:sp>
          <p:nvSpPr>
            <p:cNvPr id="93" name="Google Shape;93;p21"/>
            <p:cNvSpPr txBox="1"/>
            <p:nvPr/>
          </p:nvSpPr>
          <p:spPr>
            <a:xfrm>
              <a:off x="6553200" y="1484658"/>
              <a:ext cx="46863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RECURSO 2</a:t>
              </a:r>
              <a:endParaRPr b="1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1"/>
            <p:cNvSpPr txBox="1"/>
            <p:nvPr/>
          </p:nvSpPr>
          <p:spPr>
            <a:xfrm>
              <a:off x="6553200" y="1770408"/>
              <a:ext cx="4686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Supervisão da equipe</a:t>
              </a:r>
              <a:endParaRPr b="1" sz="2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95" name="Google Shape;95;p21"/>
            <p:cNvSpPr txBox="1"/>
            <p:nvPr/>
          </p:nvSpPr>
          <p:spPr>
            <a:xfrm>
              <a:off x="6553200" y="2199029"/>
              <a:ext cx="48042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O § 4º </a:t>
              </a:r>
              <a:r>
                <a:rPr b="1" lang="en-US" sz="2200">
                  <a:solidFill>
                    <a:srgbClr val="4A6B5B"/>
                  </a:solidFill>
                  <a:latin typeface="Calibri"/>
                  <a:ea typeface="Calibri"/>
                  <a:cs typeface="Calibri"/>
                  <a:sym typeface="Calibri"/>
                </a:rPr>
                <a:t>exige</a:t>
              </a:r>
              <a:r>
                <a:rPr b="1"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assistência de </a:t>
              </a:r>
              <a:r>
                <a:rPr b="1" lang="en-US" sz="2200">
                  <a:solidFill>
                    <a:srgbClr val="4A6B5B"/>
                  </a:solidFill>
                  <a:latin typeface="Calibri"/>
                  <a:ea typeface="Calibri"/>
                  <a:cs typeface="Calibri"/>
                  <a:sym typeface="Calibri"/>
                </a:rPr>
                <a:t>profissional de nível superior</a:t>
              </a:r>
              <a:r>
                <a:rPr b="0"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, e modelamos que se encerra quando o agente deixa a residência (arbi</a:t>
              </a:r>
              <a:r>
                <a:rPr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trário)</a:t>
              </a:r>
              <a:r>
                <a:rPr b="0"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1"/>
          <p:cNvSpPr/>
          <p:nvPr/>
        </p:nvSpPr>
        <p:spPr>
          <a:xfrm>
            <a:off x="239750" y="3531725"/>
            <a:ext cx="5967000" cy="2688300"/>
          </a:xfrm>
          <a:prstGeom prst="roundRect">
            <a:avLst>
              <a:gd fmla="val 6400" name="adj"/>
            </a:avLst>
          </a:prstGeom>
          <a:solidFill>
            <a:srgbClr val="F3DFD3"/>
          </a:solidFill>
          <a:ln>
            <a:noFill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7" name="Google Shape;97;p21"/>
          <p:cNvSpPr txBox="1"/>
          <p:nvPr/>
        </p:nvSpPr>
        <p:spPr>
          <a:xfrm>
            <a:off x="461150" y="3728300"/>
            <a:ext cx="5616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decisão na terceira parada pode inviabilizar a sétima.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21"/>
          <p:cNvSpPr txBox="1"/>
          <p:nvPr/>
        </p:nvSpPr>
        <p:spPr>
          <a:xfrm>
            <a:off x="438800" y="4439985"/>
            <a:ext cx="5661300" cy="156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úmero de </a:t>
            </a:r>
            <a:r>
              <a:rPr b="1" lang="en-US" sz="2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sequências candidatas cresce exponencialmente</a:t>
            </a:r>
            <a:r>
              <a:rPr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interação entre decisões distantes se torna algo difícil de tratar por inspeção manua</a:t>
            </a:r>
            <a:r>
              <a:rPr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381000" y="2963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6457524" y="3531651"/>
            <a:ext cx="5444588" cy="2776249"/>
          </a:xfrm>
          <a:prstGeom prst="roundRect">
            <a:avLst>
              <a:gd fmla="val 7568" name="adj"/>
            </a:avLst>
          </a:prstGeom>
          <a:solidFill>
            <a:srgbClr val="FFF6E8"/>
          </a:solidFill>
          <a:ln cap="flat" cmpd="sng" w="12700">
            <a:solidFill>
              <a:srgbClr val="DDE7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1"/>
          <p:cNvSpPr txBox="1"/>
          <p:nvPr/>
        </p:nvSpPr>
        <p:spPr>
          <a:xfrm>
            <a:off x="6610575" y="3532990"/>
            <a:ext cx="5150700" cy="26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300"/>
              <a:buFont typeface="Cambria"/>
              <a:buNone/>
            </a:pPr>
            <a:r>
              <a:rPr b="0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executor </a:t>
            </a:r>
            <a:r>
              <a:rPr b="1" lang="en-US" sz="27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guloso </a:t>
            </a:r>
            <a:r>
              <a:rPr b="0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depende de </a:t>
            </a:r>
            <a:r>
              <a:rPr b="1" i="0" lang="en-US" sz="27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alguém descobrir cada interação entre regras</a:t>
            </a:r>
            <a:r>
              <a:rPr b="0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 O </a:t>
            </a:r>
            <a:r>
              <a:rPr b="1" i="0" lang="en-US" sz="270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planejamento </a:t>
            </a:r>
            <a:r>
              <a:rPr b="0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lê as regras do domínio e </a:t>
            </a:r>
            <a:r>
              <a:rPr b="1" i="0" lang="en-US" sz="2700" u="none" cap="none" strike="noStrike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deriva a ordem correta sozinho</a:t>
            </a:r>
            <a:r>
              <a:rPr b="0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563875" y="767849"/>
            <a:ext cx="1082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685800" y="1088985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/>
          <p:nvPr/>
        </p:nvSpPr>
        <p:spPr>
          <a:xfrm>
            <a:off x="4400550" y="1088985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/>
          <p:nvPr/>
        </p:nvSpPr>
        <p:spPr>
          <a:xfrm>
            <a:off x="8115300" y="1088985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563875" y="747275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15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914400" y="1317585"/>
            <a:ext cx="2933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 em saúde domiciliar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914400" y="2353335"/>
            <a:ext cx="3003900" cy="310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Reconhece qualificação profissional como restrição, mas a modela como </a:t>
            </a:r>
            <a:r>
              <a:rPr b="1" lang="en-US" sz="24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etiqueta fixa de compatibilidade</a:t>
            </a:r>
            <a:r>
              <a:rPr b="0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4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20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Fikar &amp; Hirsch (2017)</a:t>
            </a:r>
            <a:endParaRPr b="0" sz="22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Cissé et al. (2017)</a:t>
            </a:r>
            <a:endParaRPr b="0" sz="22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4629150" y="1317585"/>
            <a:ext cx="2933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em protocolos clínicos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4629150" y="2327385"/>
            <a:ext cx="29337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 diretrizes clínicas para domínios de planejamento, mas </a:t>
            </a:r>
            <a:r>
              <a:rPr b="1" lang="en-US" sz="23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sem componente de roteamento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21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González-Ferrer et al. (2013)</a:t>
            </a:r>
            <a:endParaRPr b="0" sz="21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Bradbrook et al. (2005)</a:t>
            </a:r>
            <a:endParaRPr b="0" sz="21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2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REVISÃO DE LITERATURA E MERCADO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5329000" y="6057650"/>
            <a:ext cx="3390900" cy="5442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5329000" y="6153150"/>
            <a:ext cx="3390900" cy="35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Ferramentas de mercado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2979725" y="6057650"/>
            <a:ext cx="1960500" cy="544200"/>
          </a:xfrm>
          <a:prstGeom prst="roundRect">
            <a:avLst>
              <a:gd fmla="val 4494" name="adj"/>
            </a:avLst>
          </a:prstGeom>
          <a:solidFill>
            <a:srgbClr val="FFE8E8"/>
          </a:solidFill>
          <a:ln cap="flat" cmpd="sng" w="9525">
            <a:solidFill>
              <a:srgbClr val="E6CB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OR-Tools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9108675" y="6056100"/>
            <a:ext cx="1546500" cy="544200"/>
          </a:xfrm>
          <a:prstGeom prst="roundRect">
            <a:avLst>
              <a:gd fmla="val 4494" name="adj"/>
            </a:avLst>
          </a:prstGeom>
          <a:solidFill>
            <a:srgbClr val="EFFFE3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OSRM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123" name="Google Shape;123;p22"/>
          <p:cNvCxnSpPr>
            <a:stCxn id="120" idx="1"/>
            <a:endCxn id="121" idx="3"/>
          </p:cNvCxnSpPr>
          <p:nvPr/>
        </p:nvCxnSpPr>
        <p:spPr>
          <a:xfrm flipH="1">
            <a:off x="4940200" y="6328200"/>
            <a:ext cx="3888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2"/>
          <p:cNvCxnSpPr>
            <a:stCxn id="120" idx="3"/>
            <a:endCxn id="122" idx="1"/>
          </p:cNvCxnSpPr>
          <p:nvPr/>
        </p:nvCxnSpPr>
        <p:spPr>
          <a:xfrm>
            <a:off x="8719900" y="6328200"/>
            <a:ext cx="3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2"/>
          <p:cNvSpPr txBox="1"/>
          <p:nvPr/>
        </p:nvSpPr>
        <p:spPr>
          <a:xfrm>
            <a:off x="8308800" y="1283763"/>
            <a:ext cx="3003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Regra legal dentro de roteamento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8229600" y="2136488"/>
            <a:ext cx="31623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Jornada de motoristas é </a:t>
            </a:r>
            <a:r>
              <a:rPr b="1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lei embutida em roteirização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e tem revisão sistemática própria. O problema tratado é o TDSP.</a:t>
            </a:r>
            <a:endParaRPr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20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0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Archetti &amp; Savelsbergh (2009)</a:t>
            </a:r>
            <a:endParaRPr sz="20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0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Goel (2010) · Goel &amp; Kok (2011)</a:t>
            </a:r>
            <a:endParaRPr sz="20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C4F41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685800" y="1047750"/>
            <a:ext cx="10820400" cy="1762200"/>
          </a:xfrm>
          <a:prstGeom prst="roundRect">
            <a:avLst>
              <a:gd fmla="val 8648" name="adj"/>
            </a:avLst>
          </a:prstGeom>
          <a:solidFill>
            <a:srgbClr val="DDE7E0"/>
          </a:solidFill>
          <a:ln cap="flat" cmpd="sng" w="9525">
            <a:solidFill>
              <a:srgbClr val="CBD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952500" y="1485900"/>
            <a:ext cx="102870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sequência de ações obrigatórias dentro da visita</a:t>
            </a: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derivada de norma jurídica, como domínio declarativo acoplado a roteamento, com a qualificação tratada como 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soma de condições que se gastam</a:t>
            </a: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não como etiqueta fixa.”</a:t>
            </a:r>
            <a:endParaRPr b="0" i="1" sz="22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685800" y="3000375"/>
            <a:ext cx="5257800" cy="3048000"/>
          </a:xfrm>
          <a:prstGeom prst="roundRect">
            <a:avLst>
              <a:gd fmla="val 5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952500" y="3190875"/>
            <a:ext cx="47244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O QUE A LITERATURA DO TDSP MOSTRA</a:t>
            </a:r>
            <a:endParaRPr b="1" sz="13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952500" y="3571875"/>
            <a:ext cx="47244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Um artigo e um algoritmo </a:t>
            </a:r>
            <a:r>
              <a:rPr b="1" lang="en-US" sz="22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novo por jurisdição</a:t>
            </a:r>
            <a:r>
              <a:rPr b="0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2200">
              <a:solidFill>
                <a:srgbClr val="3329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• União Europeia, Estados Unidos, Canadá, Austrália.</a:t>
            </a:r>
            <a:endParaRPr b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O mesmo problema resolvido quatro vezes.</a:t>
            </a:r>
            <a:endParaRPr b="1" sz="2200">
              <a:solidFill>
                <a:srgbClr val="3329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248400" y="3000375"/>
            <a:ext cx="5257800" cy="3048000"/>
          </a:xfrm>
          <a:prstGeom prst="roundRect">
            <a:avLst>
              <a:gd fmla="val 5000" name="adj"/>
            </a:avLst>
          </a:prstGeom>
          <a:solidFill>
            <a:srgbClr val="DDE7E0"/>
          </a:solidFill>
          <a:ln cap="flat" cmpd="sng" w="9525">
            <a:solidFill>
              <a:srgbClr val="CBD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6515100" y="3190875"/>
            <a:ext cx="47244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OU SEJA</a:t>
            </a:r>
            <a:endParaRPr b="1" sz="13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6515100" y="3481959"/>
            <a:ext cx="47244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Aplicamos</a:t>
            </a:r>
            <a:r>
              <a:rPr lang="en-US" sz="24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4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a ideia do </a:t>
            </a:r>
            <a:r>
              <a:rPr b="1" lang="en-US" sz="24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pipeline que considera a lei como base de condições</a:t>
            </a:r>
            <a:r>
              <a:rPr b="0" lang="en-US" sz="24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4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usada para resolver o TDSP na literatura, </a:t>
            </a:r>
            <a:r>
              <a:rPr b="1" lang="en-US" sz="24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unida ao Planning</a:t>
            </a:r>
            <a:r>
              <a:rPr b="0" lang="en-US" sz="24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, facilitando a manutenção da solução para variações das regras.</a:t>
            </a:r>
            <a:endParaRPr b="0" sz="2400">
              <a:solidFill>
                <a:srgbClr val="2233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952500" y="1200150"/>
            <a:ext cx="10287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DE FORMA TÉCNICA</a:t>
            </a:r>
            <a:endParaRPr b="1" sz="13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429000" y="6210300"/>
            <a:ext cx="5334000" cy="381000"/>
          </a:xfrm>
          <a:prstGeom prst="roundRect">
            <a:avLst>
              <a:gd fmla="val 20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TDSP: “Truck Driver Scheduling Problem”</a:t>
            </a:r>
            <a:endParaRPr b="1" sz="19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11384280" y="6338499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23"/>
          <p:cNvGrpSpPr/>
          <p:nvPr/>
        </p:nvGrpSpPr>
        <p:grpSpPr>
          <a:xfrm>
            <a:off x="685800" y="6286500"/>
            <a:ext cx="2381400" cy="266700"/>
            <a:chOff x="0" y="0"/>
            <a:chExt cx="2381400" cy="266700"/>
          </a:xfrm>
        </p:grpSpPr>
        <p:sp>
          <p:nvSpPr>
            <p:cNvPr id="144" name="Google Shape;144;p23"/>
            <p:cNvSpPr/>
            <p:nvPr/>
          </p:nvSpPr>
          <p:spPr>
            <a:xfrm>
              <a:off x="0" y="0"/>
              <a:ext cx="23814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3"/>
            <p:cNvSpPr txBox="1"/>
            <p:nvPr/>
          </p:nvSpPr>
          <p:spPr>
            <a:xfrm>
              <a:off x="0" y="0"/>
              <a:ext cx="2381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A7A67"/>
                  </a:solidFill>
                  <a:latin typeface="Calibri"/>
                  <a:ea typeface="Calibri"/>
                  <a:cs typeface="Calibri"/>
                  <a:sym typeface="Calibri"/>
                </a:rPr>
                <a:t>INF99003 · Ciclo 2 · Grupo B</a:t>
              </a:r>
              <a:endParaRPr sz="10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23"/>
          <p:cNvSpPr txBox="1"/>
          <p:nvPr/>
        </p:nvSpPr>
        <p:spPr>
          <a:xfrm>
            <a:off x="685800" y="400050"/>
            <a:ext cx="10820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REVISÃO DE LITERATURA - INOVAÇÃO</a:t>
            </a:r>
            <a:endParaRPr b="1" sz="296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1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85800" y="1143057"/>
            <a:ext cx="3333900" cy="3314700"/>
          </a:xfrm>
          <a:prstGeom prst="roundRect">
            <a:avLst>
              <a:gd fmla="val 4307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2143125" y="1408216"/>
            <a:ext cx="419100" cy="4488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685800" y="1408214"/>
            <a:ext cx="3333900" cy="4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914400" y="2040522"/>
            <a:ext cx="2876700" cy="21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Seleção</a:t>
            </a:r>
            <a:endParaRPr b="1" i="0" sz="23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900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Quem entra no turno</a:t>
            </a:r>
            <a:endParaRPr b="1" i="0" sz="19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Prioridade clínica e atraso em relação ao intervalo máximo, sob orçamento de tempo.</a:t>
            </a:r>
            <a:endParaRPr b="1" i="0" sz="19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4076700" y="2734010"/>
            <a:ext cx="285900" cy="1224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2000" y="0"/>
                </a:moveTo>
                <a:lnTo>
                  <a:pt x="120000" y="60000"/>
                </a:lnTo>
                <a:lnTo>
                  <a:pt x="92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24"/>
          <p:cNvGrpSpPr/>
          <p:nvPr/>
        </p:nvGrpSpPr>
        <p:grpSpPr>
          <a:xfrm>
            <a:off x="4429125" y="1143057"/>
            <a:ext cx="3333900" cy="3314566"/>
            <a:chOff x="0" y="0"/>
            <a:chExt cx="3333900" cy="3095700"/>
          </a:xfrm>
        </p:grpSpPr>
        <p:sp>
          <p:nvSpPr>
            <p:cNvPr id="159" name="Google Shape;159;p24"/>
            <p:cNvSpPr/>
            <p:nvPr/>
          </p:nvSpPr>
          <p:spPr>
            <a:xfrm>
              <a:off x="0" y="0"/>
              <a:ext cx="3333900" cy="3095700"/>
            </a:xfrm>
            <a:prstGeom prst="roundRect">
              <a:avLst>
                <a:gd fmla="val 4307" name="adj"/>
              </a:avLst>
            </a:prstGeom>
            <a:solidFill>
              <a:srgbClr val="FFFDF8"/>
            </a:solidFill>
            <a:ln cap="flat" cmpd="sng" w="14300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1457325" y="247650"/>
              <a:ext cx="419100" cy="419100"/>
            </a:xfrm>
            <a:prstGeom prst="ellipse">
              <a:avLst/>
            </a:prstGeom>
            <a:solidFill>
              <a:srgbClr val="B35C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4"/>
            <p:cNvSpPr txBox="1"/>
            <p:nvPr/>
          </p:nvSpPr>
          <p:spPr>
            <a:xfrm>
              <a:off x="0" y="247650"/>
              <a:ext cx="33339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i="0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4"/>
            <p:cNvSpPr txBox="1"/>
            <p:nvPr/>
          </p:nvSpPr>
          <p:spPr>
            <a:xfrm>
              <a:off x="228600" y="838200"/>
              <a:ext cx="28767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>
                  <a:solidFill>
                    <a:srgbClr val="B35C38"/>
                  </a:solidFill>
                  <a:latin typeface="Cambria"/>
                  <a:ea typeface="Cambria"/>
                  <a:cs typeface="Cambria"/>
                  <a:sym typeface="Cambria"/>
                </a:rPr>
                <a:t>Roteamento</a:t>
              </a:r>
              <a:endParaRPr b="1" i="0" sz="23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-US" sz="1900">
                  <a:solidFill>
                    <a:srgbClr val="5C4F41"/>
                  </a:solidFill>
                  <a:latin typeface="Cambria"/>
                  <a:ea typeface="Cambria"/>
                  <a:cs typeface="Cambria"/>
                  <a:sym typeface="Cambria"/>
                </a:rPr>
                <a:t>Em que ordem visitar</a:t>
              </a:r>
              <a:endParaRPr b="1" i="0" sz="19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Heurística de grafos sobre a matriz de distâncias. Entrega a rota e o custo de desviar até a unidade. Usamos AG.</a:t>
              </a:r>
              <a:endParaRPr b="1" i="0" sz="19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63" name="Google Shape;163;p24"/>
          <p:cNvSpPr/>
          <p:nvPr/>
        </p:nvSpPr>
        <p:spPr>
          <a:xfrm>
            <a:off x="7820025" y="2734010"/>
            <a:ext cx="285900" cy="1224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2000" y="0"/>
                </a:moveTo>
                <a:lnTo>
                  <a:pt x="120000" y="60000"/>
                </a:lnTo>
                <a:lnTo>
                  <a:pt x="92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4A6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8172450" y="1143057"/>
            <a:ext cx="3333900" cy="3314700"/>
          </a:xfrm>
          <a:prstGeom prst="roundRect">
            <a:avLst>
              <a:gd fmla="val 4307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9629775" y="1408216"/>
            <a:ext cx="419100" cy="448800"/>
          </a:xfrm>
          <a:prstGeom prst="ellipse">
            <a:avLst/>
          </a:prstGeom>
          <a:solidFill>
            <a:srgbClr val="4A6B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8172450" y="1408216"/>
            <a:ext cx="3333900" cy="4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8401050" y="2040525"/>
            <a:ext cx="2983200" cy="21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endParaRPr b="1" i="0" sz="23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900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O que fazer em cada parada</a:t>
            </a:r>
            <a:endParaRPr b="1" i="0" sz="19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PDDL com as condições legais e os recursos finitos. Decide as ações e os desvios de reposição.</a:t>
            </a:r>
            <a:endParaRPr b="1" i="0" sz="19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685800" y="4699992"/>
            <a:ext cx="10820400" cy="1086900"/>
          </a:xfrm>
          <a:prstGeom prst="roundRect">
            <a:avLst>
              <a:gd fmla="val 8750" name="adj"/>
            </a:avLst>
          </a:prstGeom>
          <a:solidFill>
            <a:srgbClr val="DDE7E0"/>
          </a:solidFill>
          <a:ln cap="flat" cmpd="sng" w="9525">
            <a:solidFill>
              <a:srgbClr val="C4D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24"/>
          <p:cNvGrpSpPr/>
          <p:nvPr/>
        </p:nvGrpSpPr>
        <p:grpSpPr>
          <a:xfrm>
            <a:off x="948819" y="5018033"/>
            <a:ext cx="365700" cy="437100"/>
            <a:chOff x="948819" y="4733519"/>
            <a:chExt cx="365700" cy="437100"/>
          </a:xfrm>
        </p:grpSpPr>
        <p:sp>
          <p:nvSpPr>
            <p:cNvPr id="170" name="Google Shape;170;p24"/>
            <p:cNvSpPr/>
            <p:nvPr/>
          </p:nvSpPr>
          <p:spPr>
            <a:xfrm>
              <a:off x="988568" y="4733519"/>
              <a:ext cx="286200" cy="437100"/>
            </a:xfrm>
            <a:prstGeom prst="roundRect">
              <a:avLst>
                <a:gd fmla="val 21428" name="adj"/>
              </a:avLst>
            </a:prstGeom>
            <a:solidFill>
              <a:srgbClr val="4A6B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4"/>
            <p:cNvSpPr txBox="1"/>
            <p:nvPr/>
          </p:nvSpPr>
          <p:spPr>
            <a:xfrm>
              <a:off x="948819" y="4831251"/>
              <a:ext cx="365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0">
                  <a:solidFill>
                    <a:srgbClr val="FFFFFF"/>
                  </a:solidFill>
                  <a:latin typeface="Lemonada"/>
                  <a:ea typeface="Lemonada"/>
                  <a:cs typeface="Lemonada"/>
                  <a:sym typeface="Lemonada"/>
                </a:rPr>
                <a:t>!</a:t>
              </a:r>
              <a:endParaRPr b="1" i="0" sz="1680">
                <a:solidFill>
                  <a:srgbClr val="FFFFFF"/>
                </a:solidFill>
                <a:latin typeface="Lemonada"/>
                <a:ea typeface="Lemonada"/>
                <a:cs typeface="Lemonada"/>
                <a:sym typeface="Lemonada"/>
              </a:endParaRPr>
            </a:p>
          </p:txBody>
        </p:sp>
      </p:grpSp>
      <p:sp>
        <p:nvSpPr>
          <p:cNvPr id="172" name="Google Shape;172;p24"/>
          <p:cNvSpPr txBox="1"/>
          <p:nvPr/>
        </p:nvSpPr>
        <p:spPr>
          <a:xfrm>
            <a:off x="1540726" y="4845996"/>
            <a:ext cx="9765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A camada 3 nunca escolhe a rota, ela só anda pelas arestas que a camada 2 autorizou</a:t>
            </a:r>
            <a:r>
              <a:rPr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 =&gt;</a:t>
            </a: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rocar o roteirizador não muda uma linha do domínio</a:t>
            </a: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2200">
              <a:solidFill>
                <a:srgbClr val="2233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METODOLOGIA - PIPELINE</a:t>
            </a:r>
            <a:endParaRPr b="1"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685800" y="1143000"/>
            <a:ext cx="10820400" cy="1809600"/>
          </a:xfrm>
          <a:prstGeom prst="roundRect">
            <a:avLst>
              <a:gd fmla="val 8421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1114350" y="1333350"/>
            <a:ext cx="99633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representação declarativa das condições legais reduzirá a ocorrência de falsos negativos, ou seja, turnos classificados como inexequíveis quando existe sequência válida.”</a:t>
            </a:r>
            <a:endParaRPr i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685800" y="3238500"/>
            <a:ext cx="5219700" cy="27624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990600" y="356946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1</a:t>
            </a:r>
            <a:endParaRPr b="1" i="0" sz="17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990600" y="4048626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é redundante</a:t>
            </a:r>
            <a:endParaRPr b="1" i="0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990600" y="4620126"/>
            <a:ext cx="46101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executor procedural simples alcança desempenho equivalente.</a:t>
            </a:r>
            <a:endParaRPr b="0" i="0"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6286500" y="3238500"/>
            <a:ext cx="5219700" cy="27624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6591300" y="3588753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2</a:t>
            </a:r>
            <a:endParaRPr b="1" i="0" sz="17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6591300" y="4065337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não escala</a:t>
            </a:r>
            <a:endParaRPr b="1" i="0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6591300" y="4653547"/>
            <a:ext cx="46101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custo da busca cresce a ponto de inviabilizar microáreas reais.</a:t>
            </a:r>
            <a:endParaRPr b="0" i="0"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HIPÓTESE</a:t>
            </a:r>
            <a:endParaRPr b="1" sz="3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/>
          <p:nvPr/>
        </p:nvSpPr>
        <p:spPr>
          <a:xfrm>
            <a:off x="294000" y="1045321"/>
            <a:ext cx="3714000" cy="4386300"/>
          </a:xfrm>
          <a:prstGeom prst="roundRect">
            <a:avLst>
              <a:gd fmla="val 3611" name="adj"/>
            </a:avLst>
          </a:prstGeom>
          <a:solidFill>
            <a:srgbClr val="F3DFD3"/>
          </a:solidFill>
          <a:ln cap="flat" cmpd="sng" w="12700">
            <a:solidFill>
              <a:srgbClr val="E9C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380997" y="1116370"/>
            <a:ext cx="296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00"/>
              <a:buFont typeface="Calibri"/>
              <a:buNone/>
            </a:pPr>
            <a:r>
              <a:rPr b="1" lang="en-US" spc="120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FALSO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365401" y="1417850"/>
            <a:ext cx="357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“Achamos planos que um programa não acharia”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612300" y="2995050"/>
            <a:ext cx="30774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Uma correção manual de poucas linhas leva o executor procedural de </a:t>
            </a:r>
            <a:r>
              <a:rPr b="1" i="0" lang="en-US" sz="21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r>
              <a:rPr b="0" i="0" lang="en-US" sz="2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de falsos negativos a </a:t>
            </a:r>
            <a:r>
              <a:rPr b="1" i="0" lang="en-US" sz="210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r>
              <a:rPr b="0" i="0" lang="en-US" sz="2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4243850" y="1045221"/>
            <a:ext cx="3571200" cy="4386300"/>
          </a:xfrm>
          <a:prstGeom prst="roundRect">
            <a:avLst>
              <a:gd fmla="val 3611" name="adj"/>
            </a:avLst>
          </a:prstGeom>
          <a:solidFill>
            <a:srgbClr val="DDE7E0"/>
          </a:solidFill>
          <a:ln cap="flat" cmpd="sng" w="12700">
            <a:solidFill>
              <a:srgbClr val="E9C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4408213" y="1540688"/>
            <a:ext cx="32424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“O planejador está correto e é válido”</a:t>
            </a:r>
            <a:endParaRPr b="1" sz="2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105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t/>
            </a:r>
            <a:endParaRPr b="1" sz="3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4393550" y="2739899"/>
            <a:ext cx="3370200" cy="26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000"/>
              <a:buFont typeface="Calibri"/>
              <a:buNone/>
            </a:pP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Obtivemos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1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concordância total sobre viabilidade </a:t>
            </a:r>
            <a:r>
              <a:rPr lang="en-US" sz="21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com </a:t>
            </a: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os mesmos arquivos no </a:t>
            </a:r>
            <a:r>
              <a:rPr b="1" lang="en-US" sz="21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pyperplan</a:t>
            </a: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 Incluindo os 2 casos inviáveis e o domínio estendido.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105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t/>
            </a:r>
            <a:endParaRPr sz="2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050825" y="1045221"/>
            <a:ext cx="3571200" cy="4386300"/>
          </a:xfrm>
          <a:prstGeom prst="roundRect">
            <a:avLst>
              <a:gd fmla="val 3611" name="adj"/>
            </a:avLst>
          </a:prstGeom>
          <a:solidFill>
            <a:srgbClr val="F3DFD3"/>
          </a:solidFill>
          <a:ln cap="flat" cmpd="sng" w="12700">
            <a:solidFill>
              <a:srgbClr val="E9C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8122300" y="1298495"/>
            <a:ext cx="342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-US" sz="2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</a:t>
            </a:r>
            <a:r>
              <a:rPr b="1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planejamento </a:t>
            </a:r>
            <a:r>
              <a:rPr b="1" lang="en-US" sz="2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escala tão bem quanto o guloso”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8021125" y="2634730"/>
            <a:ext cx="3571200" cy="2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configuração </a:t>
            </a:r>
            <a:r>
              <a:rPr b="1" lang="en-US" sz="20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ótima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com </a:t>
            </a: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planejamento não cabe num turno grande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(+14 pacientes)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Trocar para uma </a:t>
            </a:r>
            <a:r>
              <a:rPr b="1" lang="en-US" sz="20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busca satisfaciente permite resolver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mesmo que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retorne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caminhos, em média, 3,5% mais caros que o algoritmo guloso.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1310550" y="5786825"/>
            <a:ext cx="9570900" cy="7248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CONCLUSÃO: </a:t>
            </a: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Ambos caminhos 1 e 2 de erro justamente se materializaram.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RESULTADOS </a:t>
            </a: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EXPERIMENTAÇÃO</a:t>
            </a:r>
            <a:endParaRPr b="1" sz="3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4243850" y="1091925"/>
            <a:ext cx="143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VERDADEIRO</a:t>
            </a:r>
            <a:endParaRPr b="1" i="0" sz="16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8096722" y="1116370"/>
            <a:ext cx="296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00"/>
              <a:buFont typeface="Calibri"/>
              <a:buNone/>
            </a:pPr>
            <a:r>
              <a:rPr b="1" lang="en-US" spc="120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FALSO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PONTO DE PARTIDA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microárea inteira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0.jpg" id="220" name="Google Shape;2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7379175" y="1572775"/>
            <a:ext cx="46569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600"/>
              <a:buFont typeface="Calibri"/>
              <a:buChar char="●"/>
            </a:pPr>
            <a:r>
              <a:rPr b="1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12 famílias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cadastradas na microárea;</a:t>
            </a:r>
            <a:endParaRPr sz="2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nidade de saúde </a:t>
            </a: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ponto de partida e de retorno</a:t>
            </a: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Nenhum turno cabe </a:t>
            </a: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todas as famílias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7379271" y="4506716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7379208" y="4899922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FAMÍLIAS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9500616" y="4506704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9500616" y="4899922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spc="70" sz="1200" u="none" cap="none" strike="noStrike">
                <a:solidFill>
                  <a:srgbClr val="980000"/>
                </a:solidFill>
                <a:highlight>
                  <a:srgbClr val="F4CCCC"/>
                </a:highlight>
                <a:latin typeface="Calibri"/>
                <a:ea typeface="Calibri"/>
                <a:cs typeface="Calibri"/>
                <a:sym typeface="Calibri"/>
              </a:rPr>
              <a:t>URGÊNCIA ALTA</a:t>
            </a:r>
            <a:endParaRPr b="1" i="0" sz="1200" u="none" cap="none" strike="noStrike">
              <a:solidFill>
                <a:srgbClr val="980000"/>
              </a:solidFill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27"/>
          <p:cNvCxnSpPr/>
          <p:nvPr/>
        </p:nvCxnSpPr>
        <p:spPr>
          <a:xfrm>
            <a:off x="7379208" y="5320546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27"/>
          <p:cNvSpPr txBox="1"/>
          <p:nvPr/>
        </p:nvSpPr>
        <p:spPr>
          <a:xfrm>
            <a:off x="7379208" y="5522976"/>
            <a:ext cx="42428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cor do pino é a urgência: </a:t>
            </a:r>
            <a:r>
              <a:rPr lang="en-US" sz="1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vermelho </a:t>
            </a:r>
            <a:r>
              <a:rPr b="0" i="0" lang="en-US" sz="1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é alta, </a:t>
            </a:r>
            <a:r>
              <a:rPr lang="en-US" sz="1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amarelo </a:t>
            </a:r>
            <a:r>
              <a:rPr b="0" i="0" lang="en-US" sz="1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é média, verde é baixa.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Seleção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1.jpg" id="237" name="Google Shape;2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7379149" y="1321900"/>
            <a:ext cx="4558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ordenação dos atendimentos prioriza </a:t>
            </a:r>
            <a:r>
              <a:rPr b="1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urgência </a:t>
            </a:r>
            <a:r>
              <a:rPr b="1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clínica</a:t>
            </a:r>
            <a:r>
              <a:rPr b="1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atraso em relação ao </a:t>
            </a:r>
            <a:r>
              <a:rPr b="1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intervalo máximo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respeitando o limite de</a:t>
            </a: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240 minutos. </a:t>
            </a:r>
            <a:endParaRPr b="0" i="0" sz="24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7379196" y="3795079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7379196" y="4289736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NO TURNO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9500604" y="3795079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9500604" y="4289736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ADIADOS (saem do mapa)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8"/>
          <p:cNvCxnSpPr/>
          <p:nvPr/>
        </p:nvCxnSpPr>
        <p:spPr>
          <a:xfrm>
            <a:off x="7379196" y="4710360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8"/>
          <p:cNvSpPr txBox="1"/>
          <p:nvPr/>
        </p:nvSpPr>
        <p:spPr>
          <a:xfrm>
            <a:off x="7379146" y="5080089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Esta camada ainda não sabe nada sobre a lei. Ela só escolhe com base em regras arbitrárias.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2.jpg" id="254" name="Google Shape;2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/>
        </p:nvSpPr>
        <p:spPr>
          <a:xfrm>
            <a:off x="7379200" y="1486002"/>
            <a:ext cx="4242900" cy="28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camada geométrica devolve uma sequência de paradas</a:t>
            </a:r>
            <a:r>
              <a:rPr lang="en-US" sz="2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9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Ela </a:t>
            </a:r>
            <a:r>
              <a:rPr b="1" i="0" lang="en-US" sz="2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otimiza somente distância</a:t>
            </a:r>
            <a:r>
              <a:rPr lang="en-US" sz="2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7379208" y="4167140"/>
            <a:ext cx="424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94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7379208" y="4565078"/>
            <a:ext cx="424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CAMINHADA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9"/>
          <p:cNvCxnSpPr/>
          <p:nvPr/>
        </p:nvCxnSpPr>
        <p:spPr>
          <a:xfrm>
            <a:off x="7379208" y="4985702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9"/>
          <p:cNvSpPr txBox="1"/>
          <p:nvPr/>
        </p:nvSpPr>
        <p:spPr>
          <a:xfrm>
            <a:off x="7379199" y="5186595"/>
            <a:ext cx="4525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Para demonstrar o pipeline, definimos arbitrariamente que as visitas de </a:t>
            </a:r>
            <a:r>
              <a:rPr b="1" lang="en-US" sz="17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urgência baixa</a:t>
            </a:r>
            <a:r>
              <a:rPr lang="en-US" sz="17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só podem ser realizadas depois de todas as de </a:t>
            </a:r>
            <a:r>
              <a:rPr b="1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urgência alta</a:t>
            </a:r>
            <a:r>
              <a:rPr lang="en-US" sz="17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9723598" y="4134593"/>
            <a:ext cx="197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9723598" y="4532539"/>
            <a:ext cx="197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RRO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lang="en-US" sz="3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Falha na rota: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protocolo NÃO cabe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3.jpg" id="271" name="Google Shape;27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7379208" y="1618371"/>
            <a:ext cx="3200400" cy="384000"/>
          </a:xfrm>
          <a:prstGeom prst="roundRect">
            <a:avLst>
              <a:gd fmla="val 119048" name="adj"/>
            </a:avLst>
          </a:prstGeom>
          <a:solidFill>
            <a:srgbClr val="F3DFD3"/>
          </a:solidFill>
          <a:ln cap="flat" cmpd="sng" w="12700">
            <a:solidFill>
              <a:srgbClr val="F3DF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7379208" y="1618371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ROTA REPROVADA PELO PROTOCOLO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7379200" y="2185306"/>
            <a:ext cx="4370700" cy="17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1ª parada é </a:t>
            </a:r>
            <a:r>
              <a:rPr b="1" i="0" lang="en-US" sz="200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urgência baixa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) e </a:t>
            </a:r>
            <a:r>
              <a:rPr b="1" i="0" lang="en-US" sz="20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p7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urgência alta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só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seria atendido 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na 6ª.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Nessa rota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iniciar uma visita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de baixa urgência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exig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iria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que nenhuma urgência alta estiv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pendente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7379208" y="4170626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7379208" y="4531338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ESTADOS EXAURIDOS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9500616" y="4170626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0,03s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9500616" y="4531338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PARA PROVAR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7379208" y="5057351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30"/>
          <p:cNvSpPr txBox="1"/>
          <p:nvPr/>
        </p:nvSpPr>
        <p:spPr>
          <a:xfrm>
            <a:off x="7320400" y="5200895"/>
            <a:ext cx="4488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planejamento não disse que não encontrou: ele exauriu o espaço e </a:t>
            </a:r>
            <a:r>
              <a:rPr b="1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demonstrou que não existe</a:t>
            </a: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2, DE NOVO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Outra rota, mesma distância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4.jpg" id="290" name="Google Shape;2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/>
        </p:nvSpPr>
        <p:spPr>
          <a:xfrm>
            <a:off x="7379200" y="1680797"/>
            <a:ext cx="4242900" cy="2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3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camada geométrica é chamada outra vez e devolve outra ordem. </a:t>
            </a:r>
            <a:endParaRPr b="0" i="0" sz="23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3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É a </a:t>
            </a:r>
            <a:r>
              <a:rPr b="1" i="0" lang="en-US" sz="23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mesma volta percorrida ao contrário</a:t>
            </a:r>
            <a:r>
              <a:rPr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=&gt; </a:t>
            </a:r>
            <a:r>
              <a:rPr b="0" i="0" lang="en-US" sz="23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custa os mesmos 94 minutos de caminhada.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7379208" y="5158683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9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que separa uma rota válida de uma inválida aqui não é o comprimento, é a ordem.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7379208" y="4081506"/>
            <a:ext cx="424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94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7379208" y="4479444"/>
            <a:ext cx="424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CAMINHADA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31"/>
          <p:cNvCxnSpPr/>
          <p:nvPr/>
        </p:nvCxnSpPr>
        <p:spPr>
          <a:xfrm>
            <a:off x="7379208" y="4900068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31"/>
          <p:cNvSpPr txBox="1"/>
          <p:nvPr/>
        </p:nvSpPr>
        <p:spPr>
          <a:xfrm>
            <a:off x="9723598" y="4048960"/>
            <a:ext cx="197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9723598" y="4446906"/>
            <a:ext cx="197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RRO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Sucesso na rota: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protocolo cabe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5.jpg" id="307" name="Google Shape;30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/>
          <p:nvPr/>
        </p:nvSpPr>
        <p:spPr>
          <a:xfrm>
            <a:off x="7379208" y="1647678"/>
            <a:ext cx="3200400" cy="384000"/>
          </a:xfrm>
          <a:prstGeom prst="roundRect">
            <a:avLst>
              <a:gd fmla="val 119048" name="adj"/>
            </a:avLst>
          </a:prstGeom>
          <a:solidFill>
            <a:srgbClr val="DDE7E0"/>
          </a:solidFill>
          <a:ln cap="flat" cmpd="sng" w="12700">
            <a:solidFill>
              <a:srgbClr val="DDE7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7379208" y="1647678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ROTA VÁLIDA SOB PROTOCOLO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 txBox="1"/>
          <p:nvPr/>
        </p:nvSpPr>
        <p:spPr>
          <a:xfrm>
            <a:off x="7379200" y="2176250"/>
            <a:ext cx="43707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planejamento gerou um plano que cumpre todas as regras estabelecidas, inclusive a que adicionamos.</a:t>
            </a:r>
            <a:endParaRPr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7408516" y="4359930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51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7408516" y="4725221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2"/>
          <p:cNvSpPr txBox="1"/>
          <p:nvPr/>
        </p:nvSpPr>
        <p:spPr>
          <a:xfrm>
            <a:off x="8260324" y="4359917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174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8260324" y="4742758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TURNO (C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ARRO)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32"/>
          <p:cNvCxnSpPr/>
          <p:nvPr/>
        </p:nvCxnSpPr>
        <p:spPr>
          <a:xfrm>
            <a:off x="7408516" y="5248422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32"/>
          <p:cNvSpPr txBox="1"/>
          <p:nvPr/>
        </p:nvSpPr>
        <p:spPr>
          <a:xfrm>
            <a:off x="7408553" y="5333878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lang="en-US" sz="1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urgência alta agora vem antes da baixa, que era exatamente o que faltava</a:t>
            </a:r>
            <a:r>
              <a:rPr lang="en-US" sz="1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antes!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10086032" y="4335050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266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10086025" y="4742750"/>
            <a:ext cx="185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TURNO (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 PÉ)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/>
        </p:nvSpPr>
        <p:spPr>
          <a:xfrm>
            <a:off x="566928" y="347472"/>
            <a:ext cx="11055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RESULTADO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566928" y="658368"/>
            <a:ext cx="110550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protocolo formalizado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512064" y="1517904"/>
            <a:ext cx="6510528" cy="4773168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6.jpg" id="328" name="Google Shape;3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8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/>
          <p:nvPr/>
        </p:nvSpPr>
        <p:spPr>
          <a:xfrm>
            <a:off x="7379208" y="1691640"/>
            <a:ext cx="3200400" cy="384048"/>
          </a:xfrm>
          <a:prstGeom prst="roundRect">
            <a:avLst>
              <a:gd fmla="val 119048" name="adj"/>
            </a:avLst>
          </a:prstGeom>
          <a:solidFill>
            <a:srgbClr val="DDE7E0"/>
          </a:solidFill>
          <a:ln cap="flat" cmpd="sng" w="12700">
            <a:solidFill>
              <a:srgbClr val="DDE7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"/>
          <p:cNvSpPr txBox="1"/>
          <p:nvPr/>
        </p:nvSpPr>
        <p:spPr>
          <a:xfrm>
            <a:off x="7379208" y="169164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ROTA VÁLIDA SOB PROTOCOLO</a:t>
            </a:r>
            <a:endParaRPr b="1" sz="13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7379200" y="2258573"/>
            <a:ext cx="42429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saída não é uma linha no mapa, é um </a:t>
            </a:r>
            <a:r>
              <a:rPr b="1" i="0" lang="en-US" sz="1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roteiro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9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Está representado em tracejado no mapa </a:t>
            </a: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quando o agente deve  sair da rota para repor material na unidade.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7402160" y="4086450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7402160" y="4515300"/>
            <a:ext cx="141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VISITAS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8816432" y="4086450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174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8816425" y="4515300"/>
            <a:ext cx="2043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TURNO (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CARRO)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10860029" y="4072675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51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10860029" y="4501525"/>
            <a:ext cx="141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33"/>
          <p:cNvCxnSpPr/>
          <p:nvPr/>
        </p:nvCxnSpPr>
        <p:spPr>
          <a:xfrm>
            <a:off x="7402160" y="4935924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33"/>
          <p:cNvSpPr txBox="1"/>
          <p:nvPr/>
        </p:nvSpPr>
        <p:spPr>
          <a:xfrm>
            <a:off x="7390686" y="5146979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Trocar o roteirizador não muda uma linha do domínio. Mudar a lei não muda uma linha do código de busca.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/>
        </p:nvSpPr>
        <p:spPr>
          <a:xfrm>
            <a:off x="566928" y="333375"/>
            <a:ext cx="1105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CONCLUSÃO · SÍNTESE DO PROJETO</a:t>
            </a:r>
            <a:endParaRPr b="1" sz="13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566928" y="619125"/>
            <a:ext cx="1105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3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b="1" sz="333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48" name="Google Shape;348;p34"/>
          <p:cNvGrpSpPr/>
          <p:nvPr/>
        </p:nvGrpSpPr>
        <p:grpSpPr>
          <a:xfrm>
            <a:off x="566928" y="1285875"/>
            <a:ext cx="11058000" cy="1571700"/>
            <a:chOff x="0" y="0"/>
            <a:chExt cx="11058000" cy="1571700"/>
          </a:xfrm>
        </p:grpSpPr>
        <p:sp>
          <p:nvSpPr>
            <p:cNvPr id="349" name="Google Shape;349;p34"/>
            <p:cNvSpPr/>
            <p:nvPr/>
          </p:nvSpPr>
          <p:spPr>
            <a:xfrm>
              <a:off x="0" y="0"/>
              <a:ext cx="11058000" cy="1571700"/>
            </a:xfrm>
            <a:prstGeom prst="roundRect">
              <a:avLst>
                <a:gd fmla="val 9696" name="adj"/>
              </a:avLst>
            </a:prstGeom>
            <a:solidFill>
              <a:srgbClr val="DDE7E0"/>
            </a:solidFill>
            <a:ln cap="flat" cmpd="sng" w="12675">
              <a:solidFill>
                <a:srgbClr val="C8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4"/>
            <p:cNvSpPr txBox="1"/>
            <p:nvPr/>
          </p:nvSpPr>
          <p:spPr>
            <a:xfrm>
              <a:off x="714375" y="142950"/>
              <a:ext cx="10048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37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"  </a:t>
              </a:r>
              <a:r>
                <a:rPr i="1" lang="en-US" sz="25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Manter a norma como especificação declarativa preserva a corretude </a:t>
              </a:r>
              <a:endParaRPr i="1" sz="25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5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do sistema diante de regras novas, a um custo de busca que ainda cabe </a:t>
              </a:r>
              <a:endParaRPr i="1" sz="25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5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num turno real. </a:t>
              </a:r>
              <a:endParaRPr b="1" i="1" sz="37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351" name="Google Shape;351;p34"/>
          <p:cNvGrpSpPr/>
          <p:nvPr/>
        </p:nvGrpSpPr>
        <p:grpSpPr>
          <a:xfrm>
            <a:off x="566928" y="3095625"/>
            <a:ext cx="5381700" cy="3095700"/>
            <a:chOff x="0" y="0"/>
            <a:chExt cx="5381700" cy="3095700"/>
          </a:xfrm>
        </p:grpSpPr>
        <p:sp>
          <p:nvSpPr>
            <p:cNvPr id="352" name="Google Shape;352;p34"/>
            <p:cNvSpPr/>
            <p:nvPr/>
          </p:nvSpPr>
          <p:spPr>
            <a:xfrm>
              <a:off x="0" y="0"/>
              <a:ext cx="5381700" cy="3095700"/>
            </a:xfrm>
            <a:prstGeom prst="roundRect">
              <a:avLst>
                <a:gd fmla="val 4923" name="adj"/>
              </a:avLst>
            </a:prstGeom>
            <a:solidFill>
              <a:srgbClr val="FFFDF8"/>
            </a:solidFill>
            <a:ln cap="flat" cmpd="sng" w="12675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285750" y="266700"/>
              <a:ext cx="2667000" cy="362100"/>
            </a:xfrm>
            <a:prstGeom prst="roundRect">
              <a:avLst>
                <a:gd fmla="val 50000" name="adj"/>
              </a:avLst>
            </a:prstGeom>
            <a:solidFill>
              <a:srgbClr val="FCEBE6"/>
            </a:solidFill>
            <a:ln cap="flat" cmpd="sng" w="9525">
              <a:solidFill>
                <a:srgbClr val="F5D0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4"/>
            <p:cNvSpPr txBox="1"/>
            <p:nvPr/>
          </p:nvSpPr>
          <p:spPr>
            <a:xfrm>
              <a:off x="428550" y="331650"/>
              <a:ext cx="2381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SE NÃO USARMOS PLANNING?</a:t>
              </a:r>
              <a:endParaRPr b="1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4"/>
            <p:cNvSpPr txBox="1"/>
            <p:nvPr/>
          </p:nvSpPr>
          <p:spPr>
            <a:xfrm>
              <a:off x="285750" y="428550"/>
              <a:ext cx="48102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O programa guloso volta a falhar assim que entra uma regra que ninguém previu ao escrevê-lo.</a:t>
              </a:r>
              <a:endParaRPr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34"/>
          <p:cNvGrpSpPr/>
          <p:nvPr/>
        </p:nvGrpSpPr>
        <p:grpSpPr>
          <a:xfrm>
            <a:off x="6243447" y="3095625"/>
            <a:ext cx="5381700" cy="3095700"/>
            <a:chOff x="0" y="0"/>
            <a:chExt cx="5381700" cy="3095700"/>
          </a:xfrm>
        </p:grpSpPr>
        <p:sp>
          <p:nvSpPr>
            <p:cNvPr id="357" name="Google Shape;357;p34"/>
            <p:cNvSpPr/>
            <p:nvPr/>
          </p:nvSpPr>
          <p:spPr>
            <a:xfrm>
              <a:off x="0" y="0"/>
              <a:ext cx="5381700" cy="3095700"/>
            </a:xfrm>
            <a:prstGeom prst="roundRect">
              <a:avLst>
                <a:gd fmla="val 4923" name="adj"/>
              </a:avLst>
            </a:prstGeom>
            <a:solidFill>
              <a:srgbClr val="FFFDF8"/>
            </a:solidFill>
            <a:ln cap="flat" cmpd="sng" w="12675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285750" y="266700"/>
              <a:ext cx="2095500" cy="362100"/>
            </a:xfrm>
            <a:prstGeom prst="roundRect">
              <a:avLst>
                <a:gd fmla="val 50000" name="adj"/>
              </a:avLst>
            </a:prstGeom>
            <a:solidFill>
              <a:srgbClr val="EBF3EE"/>
            </a:solidFill>
            <a:ln cap="flat" cmpd="sng" w="9525">
              <a:solidFill>
                <a:srgbClr val="C8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4"/>
            <p:cNvSpPr txBox="1"/>
            <p:nvPr/>
          </p:nvSpPr>
          <p:spPr>
            <a:xfrm>
              <a:off x="428700" y="331650"/>
              <a:ext cx="1809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B6B52"/>
                  </a:solidFill>
                  <a:latin typeface="Calibri"/>
                  <a:ea typeface="Calibri"/>
                  <a:cs typeface="Calibri"/>
                  <a:sym typeface="Calibri"/>
                </a:rPr>
                <a:t>O QUE ALCANÇAMOS?</a:t>
              </a:r>
              <a:endParaRPr b="1">
                <a:solidFill>
                  <a:srgbClr val="3B6B5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4"/>
            <p:cNvSpPr txBox="1"/>
            <p:nvPr/>
          </p:nvSpPr>
          <p:spPr>
            <a:xfrm>
              <a:off x="285750" y="995475"/>
              <a:ext cx="48102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1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Demonstramos que o diferencial não está em substituir algoritmos por Planning, mas em integrá-los de forma que se complementem, explorando os aspectos vantajosos dessa abordagem.</a:t>
              </a:r>
              <a:endParaRPr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34"/>
          <p:cNvSpPr txBox="1"/>
          <p:nvPr/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2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10259206" y="2163194"/>
            <a:ext cx="796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7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rPr>
              <a:t>  "</a:t>
            </a:r>
            <a:endParaRPr b="1" i="1" sz="3700">
              <a:solidFill>
                <a:srgbClr val="2C3E3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/>
          <p:nvPr/>
        </p:nvSpPr>
        <p:spPr>
          <a:xfrm>
            <a:off x="2095500" y="1952625"/>
            <a:ext cx="8001000" cy="2571900"/>
          </a:xfrm>
          <a:prstGeom prst="roundRect">
            <a:avLst>
              <a:gd fmla="val 5925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 txBox="1"/>
          <p:nvPr/>
        </p:nvSpPr>
        <p:spPr>
          <a:xfrm>
            <a:off x="2476500" y="2762250"/>
            <a:ext cx="7239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AGRADECEMOS PELA ATENÇÃO</a:t>
            </a:r>
            <a:endParaRPr b="1" i="0" sz="3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0" name="Google Shape;370;p35"/>
          <p:cNvSpPr txBox="1"/>
          <p:nvPr/>
        </p:nvSpPr>
        <p:spPr>
          <a:xfrm>
            <a:off x="2476500" y="357187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sz="1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