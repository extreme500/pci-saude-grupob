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Apresente os tres e diga em uma frase o recorte: um agente, um turno, uma microarea. Nao mencione PDDL ainda, isso vem no slide 3. A frase que prepara tudo: quase todo mundo ataca isso como problema de rota, e a rota e so metade do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do ciclo cita percurso, equipe, urgencia e intervalo. Quase todo grupo le isso como roteirizacao. A dor que nos interessou e outra: chegar na casa NAO autoriza atender. A lei condiciona, e algumas condicoes acabam no meio do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trecho da lei em voz alta: e a unica leitura literal que vale a pena no deck. Tres condicoes conjuntivas e um efeito obrigatorio. Isso e exatamente um esquema de acao STRIPS, formalismo de 1971: pre-condicoes, o que passa a valer e o que deixa de valer. Planejamento Automatizado e a area que, dado um estado inicial, um objetivo e acoes descritas assim, procura a sequencia que leva de um ao outro. Se a norma mudar, edita-se a norma, nao o codigo de busca.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rota esta fixa e cada visita fosse independente, o problema se decomporia e um laco for bastaria. O que impede isso sao os recursos finitos. Observacao honesta, e vale dizer na hora: a lei exige assistencia e nao diz nada sobre forma ou frequencia. Representa-la como recurso finito por turno, e encerra-la ao sair da casa, sao decisoes de modelagem NOSSAS.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 o mais importante da primeira metade. Nao leia os tres cartoes inteiros: gaste o tempo no terceiro. Os dois primeiros dizem que a literatura ja sabe das partes. O terceiro e o que quase ninguem espera: embutir regra legal em algoritmo de roteamento NAO e novidade, tem survey proprio, e a arquitetura rota pronta mais verificacao da norma tem nome, Truck Driver Scheduling Problem, resolvido desde 2009.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esta a honestidade que fortalece. Dissemos aos professores que eramos os primeiros, fomos checar, e nao somos. Mas a lista de artigos do TDSP e o nosso melhor argumento: um artigo e um algoritmo novo por jurisdicao, Uniao Europeia, Estados Unidos, Canada, Australia. Isso e o custo de manutencao do jeito procedural, acontecendo de verdade, por vinte anos. Nos medimos esse custo em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POR QUE sobra decisao para o planejador, senao a plateia conclui que ele e decorativo. A camada 2 entrega a ordem congelada e o custo de desvio. O que sobra para a camada 3: o que fazer em cada casa, quando acionar a supervisao, e em qual parada vale a pena sair da rota para repor. Se perguntarem por que nao OR-Tools: ele resolve a metade geometrica, nao a normativa.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 a parte metodologica que vale sublinhar: a hipotese podia estar errada, e o desenho admitia isso. Nao formulamos uma pergunta que so podia dar certo. Guarde esta frase, porque dois slides adiante vamos cobrar: um dos dois caminhos de erro realmente se materializou.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isso e mais forte do que esconder: mostra que o desenho experimental funcionou. O caminho 1 de erro, previsto no slide anterior, foi o que se materializou. Se perguntarem quantas instancias: 40 no E7, 25 no E9, 8 por tamanho no E8.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resultado central do trabalho. A correcao do E7 foi escrita observando UM modo de falha. Aplicada ao dominio estendido, com tres recursos novos e escassos, ela entrega beneficio ZERO. Uma correcao nova zera, mas alguem precisou escreve-la, e para escreve-la precisou descobrir a interacao antes. Ressalva honesta: os parametros de escassez foram escolhidos para que os recursos restringissem, entao 65% nao e taxa esperada em operacao.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fecha o buraco que todos os outros deixavam. Ate aqui o planejamento so tinha sido comparado contra um programa escrito a mao. Faltava a terceira possibilidade: pegar o MESMO modelo declarativo e varrer com busca cega. Se funcionasse, o merito seria da modelagem e nao do planejador, e falar em Planejamento Automatizado seria inflar o que usamos. Nao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maior ameaca a validade do trabalho estava aqui: todos os numeros saem de um planejador que nos mesmos escrevemos, e um bug exatamente desse tipo ja tinha acontecido, o da hipotese de nomes unicos no grounding, que fez o planejador provar inviabilidade onde havia plano. Os casos inviaveis importam tanto quanto os viaveis: concordar que NAO existe plano exercita o grounding de outro jeito.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Coordenadas reais de Porto Alegre, dados clinicos ficticios. Diga o recorte: um agente, um turno, uma microarea. A unidade de saude e o pino escuro marcado com 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o criterio: prioridade clinica mais atraso relativo a janela de cada grupo, e corte no orcamento. O E5 mediu o ganho: cobertura de atrasados vai de 37% para 73%.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o roteirizador esta deliberadamente CEGO a norma, que e a situacao de quem usa OR-Tools ou um servico externo. O tracado segue as ruas de verdade, nao liga as coordenadas em 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aros tracejados no mapa sao p4 e p7, os pinos 1 e 6. Este e o momento de dizer que a inviabilidade e sensivel a ordem: vale para esta rota, nao para o turno. Por isso vale voltar ao passo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que mais vale na demonstracao. Duas rotas geometricamente identicas, e so uma e executavel. O E13 mediu isso em 45 instancias: o custo da conformidade deu ZERO minuto de caminhada em todos 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garantia de otimalidade, porque a busca usada aqui e A* com h_max. Se perguntarem o tempo: pouco mais de um segundo e meio.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da demonstracao. O tracejado terracota sai da parada 2 ate a unidade e volta: e o desvio de reposicao que o planejamento decidiu, e ele cai ENTRE visitas, nao no meio de uma, que era exatamente o erro do executor procedural.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O trunfo do trabalho nao e ter usado Planning. E termos medido COMO ele ajuda neste problema, inclusive descobrindo que a resposta nao era a que esperavamos. Se a banca perguntar o que sobrou: declaratividade com efeito medido, e prova de inviabilidade. Se perguntar o que caiu: economia de tempo e exclusividade de capacidade. E a frase final: nenhuma das duas metades sozinha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EM CIÊNCIA E INOVAÇÃO  ·  INF99003  ·  CICLO 2  ·  APRESENTAÇÃO FINAL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Planejamento Automatizado para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cumprimento de protocolos legais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520440"/>
            <a:ext cx="11055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 domiciliares de Agentes Comunitários de Saúde na Atenção Primária do SUS.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66928" y="4526280"/>
            <a:ext cx="1920240" cy="45720"/>
          </a:xfrm>
          <a:prstGeom prst="rect">
            <a:avLst/>
          </a:prstGeom>
          <a:solidFill>
            <a:srgbClr val="B35C38"/>
          </a:solidFill>
          <a:ln w="12700">
            <a:solidFill>
              <a:srgbClr val="B35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4983480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Gabriel Pieruccini Knopp  ·  Arthur Andrade da Silva  ·  Izadora Candotti de Oliveira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468112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B  ·  Instituto de Informática, UFRGS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Chegar na casa não autoriza atender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1828800"/>
            <a:ext cx="5344668" cy="3291840"/>
          </a:xfrm>
          <a:prstGeom prst="roundRect">
            <a:avLst>
              <a:gd name="adj" fmla="val 3611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057400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PROBLEMA COSTUMA SER LIDO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95728"/>
            <a:ext cx="48326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problema de percurso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35808"/>
            <a:ext cx="483260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Minimizar deslocamento, cobrir o território no prazo e respeitar a capacidade da equipe. Roteirizadores já resolvem isso bem.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277356" y="1828800"/>
            <a:ext cx="5344668" cy="3291840"/>
          </a:xfrm>
          <a:prstGeom prst="roundRect">
            <a:avLst>
              <a:gd name="adj" fmla="val 3611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3388" y="2057400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ESSA LEITURA DEIXA DE FORA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33388" y="2395728"/>
            <a:ext cx="483260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norma que condiciona cada atendimento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33388" y="3310128"/>
            <a:ext cx="483260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11.350/2006 diz o que o agente pode fazer em cada residência. E nem toda condição é estática: insumo e supervisão se esgotam ao longo do turno.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não é qual o menor percurso, e sim se aquela sequência de atendimentos é executável sem violar a norma.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· POR QUE PLANEJAMENTO AUTOMATIZADO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 já está escrita no formato de uma ação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1755648"/>
            <a:ext cx="5989320" cy="3291840"/>
          </a:xfrm>
          <a:prstGeom prst="roundRect">
            <a:avLst>
              <a:gd name="adj" fmla="val 3889"/>
            </a:avLst>
          </a:prstGeom>
          <a:solidFill>
            <a:srgbClr val="F3DFD3"/>
          </a:solidFill>
          <a:ln w="12700">
            <a:solidFill>
              <a:srgbClr val="F3DF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" y="1956816"/>
            <a:ext cx="54406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“desde que o Agente Comunitário de Saúde tenha concluído </a:t>
            </a:r>
            <a:pPr indent="0" marL="0">
              <a:lnSpc>
                <a:spcPct val="112000"/>
              </a:lnSpc>
              <a:buNone/>
            </a:pPr>
            <a:r>
              <a:rPr lang="en-US" sz="1700" b="1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curso técnico</a:t>
            </a:r>
            <a:pPr indent="0" marL="0">
              <a:lnSpc>
                <a:spcPct val="112000"/>
              </a:lnSpc>
              <a:buNone/>
            </a:pPr>
            <a:r>
              <a:rPr lang="en-US" sz="17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tenha disponíveis os </a:t>
            </a:r>
            <a:pPr indent="0" marL="0">
              <a:lnSpc>
                <a:spcPct val="112000"/>
              </a:lnSpc>
              <a:buNone/>
            </a:pPr>
            <a:r>
              <a:rPr lang="en-US" sz="1700" b="1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equipamentos adequados</a:t>
            </a:r>
            <a:pPr indent="0" marL="0">
              <a:lnSpc>
                <a:spcPct val="112000"/>
              </a:lnSpc>
              <a:buNone/>
            </a:pPr>
            <a:r>
              <a:rPr lang="en-US" sz="17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são atividades do Agente [...] </a:t>
            </a:r>
            <a:pPr indent="0" marL="0">
              <a:lnSpc>
                <a:spcPct val="112000"/>
              </a:lnSpc>
              <a:buNone/>
            </a:pPr>
            <a:r>
              <a:rPr lang="en-US" sz="1700" b="1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assistidas por profissional de saúde de nível superior</a:t>
            </a:r>
            <a:pPr indent="0" marL="0">
              <a:lnSpc>
                <a:spcPct val="112000"/>
              </a:lnSpc>
              <a:buNone/>
            </a:pPr>
            <a:r>
              <a:rPr lang="en-US" sz="17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[...] a aferição da pressão arterial [...], </a:t>
            </a:r>
            <a:pPr indent="0" marL="0">
              <a:lnSpc>
                <a:spcPct val="112000"/>
              </a:lnSpc>
              <a:buNone/>
            </a:pPr>
            <a:r>
              <a:rPr lang="en-US" sz="1700" b="1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encaminhando o paciente</a:t>
            </a:r>
            <a:pPr indent="0" marL="0">
              <a:lnSpc>
                <a:spcPct val="112000"/>
              </a:lnSpc>
              <a:buNone/>
            </a:pPr>
            <a:r>
              <a:rPr lang="en-US" sz="17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para a unidade de saúde de referência”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4590288"/>
            <a:ext cx="5440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nº 11.350/2006, art. 3º § 4º, na redação da Lei nº 13.595/2018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922008" y="1755648"/>
            <a:ext cx="47000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REGRA, NO DOMÍNIO PDDL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22008" y="2121408"/>
            <a:ext cx="4700016" cy="2926080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23176" y="2340864"/>
            <a:ext cx="42976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:precondition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2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(and (curso-tecnico-concluido ?ag)
       (equipamento-disponivel ?ag)
       (supervisao-ativa ?ag))
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:effect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2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(and (pa-ok ?p)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2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(pendencia-encaminhamento ?p))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25780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condições conjuntivas e um efeito obrigatório: é a forma de um esquema de ação STRIPS, o formalismo de 1971 em que o Planejamento Automatizado se apoia.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· POR QUE NÃO BASTA UM LAÇO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coisas acabam no meio do turno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1783080"/>
            <a:ext cx="5344668" cy="2240280"/>
          </a:xfrm>
          <a:prstGeom prst="roundRect">
            <a:avLst>
              <a:gd name="adj" fmla="val 530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93392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48326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Insumo consumível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52928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fita de glicemia só se repõe na unidade. Acabar no meio da rota obriga um desvio não previsto.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344668" cy="2240280"/>
          </a:xfrm>
          <a:prstGeom prst="roundRect">
            <a:avLst>
              <a:gd name="adj" fmla="val 530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3388" y="1993392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33388" y="2331720"/>
            <a:ext cx="48326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Supervisão da equipe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33388" y="2852928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§ 4º exige assistência de profissional de nível superior, e ela se encerra quando o agente deixa a residência.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66928" y="4315968"/>
            <a:ext cx="11055096" cy="1920240"/>
          </a:xfrm>
          <a:prstGeom prst="roundRect">
            <a:avLst>
              <a:gd name="adj" fmla="val 6667"/>
            </a:avLst>
          </a:prstGeom>
          <a:solidFill>
            <a:srgbClr val="F3DFD3"/>
          </a:solidFill>
          <a:ln w="12700">
            <a:solidFill>
              <a:srgbClr val="F3DF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77824" y="4553712"/>
            <a:ext cx="10433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decisão tomada na terceira parada pode inviabilizar a sétima.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" y="5230368"/>
            <a:ext cx="104333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impede decompor o turno visita a visita, e é por isso que um laço for sobre a rota não resolve.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LITERATURA · O QUE JÁ EXISTE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frentes, e nenhuma delas é novidade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1737360"/>
            <a:ext cx="3441192" cy="3520440"/>
          </a:xfrm>
          <a:prstGeom prst="roundRect">
            <a:avLst>
              <a:gd name="adj" fmla="val 3454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938528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86000"/>
            <a:ext cx="29657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Roteamento em saúde domiciliar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401568"/>
            <a:ext cx="29657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qualificação profissional como restrição, mas a trata como etiqueta fixa de compatibilidade.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590288"/>
            <a:ext cx="29657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Fikar &amp; Hirsch (2017)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Cissé et al. (2017)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73880" y="1737360"/>
            <a:ext cx="3441192" cy="3520440"/>
          </a:xfrm>
          <a:prstGeom prst="roundRect">
            <a:avLst>
              <a:gd name="adj" fmla="val 3454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1624" y="1938528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611624" y="2286000"/>
            <a:ext cx="29657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de saúde virando domínio de planejamento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4611624" y="3401568"/>
            <a:ext cx="29657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Diretrizes clínicas já são traduzidas para planejamento automatizado, mas sem componente de roteamento.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611624" y="4590288"/>
            <a:ext cx="29657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González-Ferrer et al. (2013)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Bradbrook et al. (2005)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80832" y="1737360"/>
            <a:ext cx="3441192" cy="3520440"/>
          </a:xfrm>
          <a:prstGeom prst="roundRect">
            <a:avLst>
              <a:gd name="adj" fmla="val 3454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8576" y="1938528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3, A QUE NOS SURPREENDEU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418576" y="2286000"/>
            <a:ext cx="29657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 legal dentro de roteamento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418576" y="3401568"/>
            <a:ext cx="29657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de motoristas na União Europeia é lei embutida em roteirização, e tem revisão sistemática própria.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418576" y="4590288"/>
            <a:ext cx="29657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Archetti &amp; Savelsbergh (2009)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Goel (2010) · Goel &amp; Kok (2011)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que usamos, rota já fixada e depois uma camada que verifica a norma, tem nome na literatura: </a:t>
            </a:r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Truck Driver Scheduling Problem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DE LITERATURA · ONDE NOS ENCAIXAMOS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somos os primeiros a fazer. Somos os primeiros a medir.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66928" y="2084832"/>
            <a:ext cx="11055096" cy="1645920"/>
          </a:xfrm>
          <a:prstGeom prst="roundRect">
            <a:avLst>
              <a:gd name="adj" fmla="val 7778"/>
            </a:avLst>
          </a:prstGeom>
          <a:solidFill>
            <a:srgbClr val="DDE7E0"/>
          </a:solidFill>
          <a:ln w="12700">
            <a:solidFill>
              <a:srgbClr val="DDE7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" y="2267712"/>
            <a:ext cx="1043330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encontramos na literatura é esta combinação: a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ações obrigatórias dentro da visita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derivada de norma jurídica, como domínio declarativo acoplado a roteamento, com a qualificação tratada como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de condições que se gastam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não como etiqueta fixa.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66928" y="3977640"/>
            <a:ext cx="5344668" cy="2331720"/>
          </a:xfrm>
          <a:prstGeom prst="roundRect">
            <a:avLst>
              <a:gd name="adj" fmla="val 5098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169664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LITERATURA DO TDSP MOSTRA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35424"/>
            <a:ext cx="483260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e um algoritmo </a:t>
            </a:r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por jurisdição</a:t>
            </a:r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União Europeia, Estados Unidos, Canadá, Austrália. O mesmo problema resolvido quatro vezes.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77356" y="3977640"/>
            <a:ext cx="5344668" cy="2331720"/>
          </a:xfrm>
          <a:prstGeom prst="roundRect">
            <a:avLst>
              <a:gd name="adj" fmla="val 5098"/>
            </a:avLst>
          </a:prstGeom>
          <a:solidFill>
            <a:srgbClr val="DDE7E0"/>
          </a:solidFill>
          <a:ln w="12700">
            <a:solidFill>
              <a:srgbClr val="CBDC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3388" y="4169664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ABRE PARA NÓS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33388" y="4535424"/>
            <a:ext cx="4832604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custo de manutenção do caminho procedural, acontecendo por vinte anos. Ninguém o quantificou. Nós quantificamos.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camadas, e só a terceira conhece a lei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1783080"/>
            <a:ext cx="11055096" cy="1115568"/>
          </a:xfrm>
          <a:prstGeom prst="roundRect">
            <a:avLst>
              <a:gd name="adj" fmla="val 1065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41248" y="2057400"/>
            <a:ext cx="548640" cy="548640"/>
          </a:xfrm>
          <a:prstGeom prst="ellipse">
            <a:avLst/>
          </a:prstGeom>
          <a:solidFill>
            <a:srgbClr val="B35C38"/>
          </a:solidFill>
          <a:ln w="12700">
            <a:solidFill>
              <a:srgbClr val="B35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72768" y="1938528"/>
            <a:ext cx="968349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B35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Seleção: quem entra no turno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386584"/>
            <a:ext cx="96834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clínica e atraso em relação ao intervalo máximo, sob orçamento de tempo.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66928" y="3081528"/>
            <a:ext cx="11055096" cy="1115568"/>
          </a:xfrm>
          <a:prstGeom prst="roundRect">
            <a:avLst>
              <a:gd name="adj" fmla="val 1065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1248" y="3355848"/>
            <a:ext cx="548640" cy="548640"/>
          </a:xfrm>
          <a:prstGeom prst="ellipse">
            <a:avLst/>
          </a:prstGeom>
          <a:solidFill>
            <a:srgbClr val="B35C38"/>
          </a:solidFill>
          <a:ln w="12700">
            <a:solidFill>
              <a:srgbClr val="B35C3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3355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572768" y="3236976"/>
            <a:ext cx="968349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B35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Roteamento: em que ordem visitar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1572768" y="3685032"/>
            <a:ext cx="96834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genético sobre a matriz de distâncias. Entrega a rota e o custo de desviar até a unidade.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66928" y="4379976"/>
            <a:ext cx="11055096" cy="1115568"/>
          </a:xfrm>
          <a:prstGeom prst="roundRect">
            <a:avLst>
              <a:gd name="adj" fmla="val 1065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" y="4654296"/>
            <a:ext cx="548640" cy="548640"/>
          </a:xfrm>
          <a:prstGeom prst="ellipse">
            <a:avLst/>
          </a:prstGeom>
          <a:solidFill>
            <a:srgbClr val="4A6B5B"/>
          </a:solidFill>
          <a:ln w="12700">
            <a:solidFill>
              <a:srgbClr val="4A6B5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4654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572768" y="4535424"/>
            <a:ext cx="968349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4A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Planejamento: o que fazer em cada parada</a:t>
            </a:r>
            <a:endParaRPr lang="en-US" sz="2300" dirty="0"/>
          </a:p>
        </p:txBody>
      </p:sp>
      <p:sp>
        <p:nvSpPr>
          <p:cNvPr id="19" name="Text 16"/>
          <p:cNvSpPr txBox="1"/>
          <p:nvPr/>
        </p:nvSpPr>
        <p:spPr>
          <a:xfrm>
            <a:off x="1572768" y="4983480"/>
            <a:ext cx="96834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 PDDL com as condições legais e os recursos finitos. Decide as ações e os desvios de reposição.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576072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camada 3 nunca escolhe a rota: ela só anda pelas arestas que a camada 2 autorizou. Por isso trocar o roteirizador não muda uma linha do domínio.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Formulamos a hipótese de modo que ela pudesse cair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66928" y="1783080"/>
            <a:ext cx="11055096" cy="1783080"/>
          </a:xfrm>
          <a:prstGeom prst="roundRect">
            <a:avLst>
              <a:gd name="adj" fmla="val 7179"/>
            </a:avLst>
          </a:prstGeom>
          <a:solidFill>
            <a:srgbClr val="F3DFD3"/>
          </a:solidFill>
          <a:ln w="12700">
            <a:solidFill>
              <a:srgbClr val="F3DF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" y="2011680"/>
            <a:ext cx="104333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representação declarativa das condições legais reduzirá a ocorrência de falsos negativos: turnos classificados como inexequíveis quando existe sequência válida.”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3840480"/>
            <a:ext cx="5344668" cy="2331720"/>
          </a:xfrm>
          <a:prstGeom prst="roundRect">
            <a:avLst>
              <a:gd name="adj" fmla="val 5098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059936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ESTIVERMOS ERRADOS, CAMINHO 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407408"/>
            <a:ext cx="48326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planejador é redundante</a:t>
            </a:r>
            <a:endParaRPr lang="en-US" sz="2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56048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executor procedural simples alcança desempenho equivalente.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77356" y="3840480"/>
            <a:ext cx="5344668" cy="2331720"/>
          </a:xfrm>
          <a:prstGeom prst="roundRect">
            <a:avLst>
              <a:gd name="adj" fmla="val 5098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3388" y="4059936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ESTIVERMOS ERRADOS, CAMINHO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33388" y="4407408"/>
            <a:ext cx="48326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planejador não escala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533388" y="4956048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da busca cresce a ponto de inviabilizar microáreas reais.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O QUE NÓS MESMOS DERRUBAMOS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Construímos três experimentos para nos refutar.</a:t>
            </a:r>
            <a:endParaRPr lang="en-US" sz="3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funcionaram.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566928" y="2139696"/>
            <a:ext cx="3441192" cy="3291840"/>
          </a:xfrm>
          <a:prstGeom prst="roundRect">
            <a:avLst>
              <a:gd name="adj" fmla="val 3611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2331720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CAIU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670048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“Achamos planos que um programa não acharia”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4069080"/>
            <a:ext cx="296570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correção manual de poucas linhas leva o executor procedural de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falsos negativos a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73880" y="2139696"/>
            <a:ext cx="3441192" cy="3291840"/>
          </a:xfrm>
          <a:prstGeom prst="roundRect">
            <a:avLst>
              <a:gd name="adj" fmla="val 3611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1624" y="2331720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CAIU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1624" y="2670048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algoritmo genético é melhor otimizador”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11624" y="4069080"/>
            <a:ext cx="296570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precedência, o ganho dele vira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+1,4%, 0,0% e −0,3%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vantagem vinha da restrição, não do operador.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180832" y="2139696"/>
            <a:ext cx="3441192" cy="3291840"/>
          </a:xfrm>
          <a:prstGeom prst="roundRect">
            <a:avLst>
              <a:gd name="adj" fmla="val 3611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8576" y="2331720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CAIU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18576" y="2670048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 prática o planejamento sai na frente”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418576" y="4069080"/>
            <a:ext cx="296570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busca satisfaciente, que é a que escala, ele entrega planos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3,5% mais caros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piores em 16 de 25.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55778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1 de erro, previsto no slide da hipótese, foi exatamente o que se materializou.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O QUE SOBREVIVEU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Diante de regras novas, a correção antiga valeu nada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66928" y="1783080"/>
            <a:ext cx="3441192" cy="2487168"/>
          </a:xfrm>
          <a:prstGeom prst="roundRect">
            <a:avLst>
              <a:gd name="adj" fmla="val 4779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1975104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PROCEDURAL, SEM CORREÇÃO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487168"/>
            <a:ext cx="29657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B35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675888"/>
            <a:ext cx="29657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8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NEGATIVOS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73880" y="1783080"/>
            <a:ext cx="3441192" cy="2487168"/>
          </a:xfrm>
          <a:prstGeom prst="roundRect">
            <a:avLst>
              <a:gd name="adj" fmla="val 4779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1624" y="1975104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CORREÇÃO ESCRITA ANTES DAS REGRAS NOVAS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611624" y="2487168"/>
            <a:ext cx="29657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B35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6400" dirty="0"/>
          </a:p>
        </p:txBody>
      </p:sp>
      <p:sp>
        <p:nvSpPr>
          <p:cNvPr id="12" name="Text 9"/>
          <p:cNvSpPr txBox="1"/>
          <p:nvPr/>
        </p:nvSpPr>
        <p:spPr>
          <a:xfrm>
            <a:off x="4611624" y="3675888"/>
            <a:ext cx="29657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8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IDÊNTICO, BENEFÍCIO ZERO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80832" y="1783080"/>
            <a:ext cx="3441192" cy="2487168"/>
          </a:xfrm>
          <a:prstGeom prst="roundRect">
            <a:avLst>
              <a:gd name="adj" fmla="val 4779"/>
            </a:avLst>
          </a:prstGeom>
          <a:solidFill>
            <a:srgbClr val="DDE7E0"/>
          </a:solidFill>
          <a:ln w="12700">
            <a:solidFill>
              <a:srgbClr val="CBDCD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8576" y="1975104"/>
            <a:ext cx="2965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PLANEJAMENTO, SEM RECEBER AJUSTE ALGUM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418576" y="2487168"/>
            <a:ext cx="29657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4A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400" dirty="0"/>
          </a:p>
        </p:txBody>
      </p:sp>
      <p:sp>
        <p:nvSpPr>
          <p:cNvPr id="16" name="Text 13"/>
          <p:cNvSpPr txBox="1"/>
          <p:nvPr/>
        </p:nvSpPr>
        <p:spPr>
          <a:xfrm>
            <a:off x="8418576" y="3675888"/>
            <a:ext cx="29657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8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37 INSTÂNCIAS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572000"/>
            <a:ext cx="11055096" cy="1691640"/>
          </a:xfrm>
          <a:prstGeom prst="roundRect">
            <a:avLst>
              <a:gd name="adj" fmla="val 7568"/>
            </a:avLst>
          </a:prstGeom>
          <a:solidFill>
            <a:srgbClr val="DDE7E0"/>
          </a:solidFill>
          <a:ln w="12700">
            <a:solidFill>
              <a:srgbClr val="DDE7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7824" y="4809744"/>
            <a:ext cx="1043330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executor procedural depende de </a:t>
            </a:r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alguém descobrir cada interação entre regras antes de respeitá-la</a:t>
            </a:r>
            <a:pPr indent="0" marL="0">
              <a:lnSpc>
                <a:spcPct val="110000"/>
              </a:lnSpc>
              <a:buNone/>
            </a:pPr>
            <a:r>
              <a:rPr lang="en-US" sz="23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planejamento lê as regras do domínio e deriva a ordem correta sozinho.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E SE A BUSCA FOSSE TRIVIAL?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mérito é da modelagem ou do planejador?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1691640"/>
            <a:ext cx="1105509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Pegamos o </a:t>
            </a:r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</a:t>
            </a:r>
            <a:pPr indent="0" marL="0">
              <a:lnSpc>
                <a:spcPct val="112000"/>
              </a:lnSpc>
              <a:buNone/>
            </a:pPr>
            <a:r>
              <a:rPr lang="en-US" sz="21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modelo declarativo e o varremos com busca cega, sem heurística nenhuma. Se ela resolvesse, chamar o nosso trabalho de Planejamento Automatizado seria inflar o que de fato usamos.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66928" y="2926080"/>
            <a:ext cx="5344668" cy="2450592"/>
          </a:xfrm>
          <a:prstGeom prst="roundRect">
            <a:avLst>
              <a:gd name="adj" fmla="val 4851"/>
            </a:avLst>
          </a:prstGeom>
          <a:solidFill>
            <a:srgbClr val="F3DFD3"/>
          </a:solidFill>
          <a:ln w="12700">
            <a:solidFill>
              <a:srgbClr val="E9CFC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127248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CEGA SOBRE O MESMO MODELO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529584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B35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a 6</a:t>
            </a:r>
            <a:endParaRPr lang="en-US" sz="5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53712"/>
            <a:ext cx="48326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8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PACIENTES, E PARA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01184"/>
            <a:ext cx="48326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 de 112 a 934 vezes mais estados.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77356" y="2926080"/>
            <a:ext cx="5344668" cy="2450592"/>
          </a:xfrm>
          <a:prstGeom prst="roundRect">
            <a:avLst>
              <a:gd name="adj" fmla="val 4851"/>
            </a:avLst>
          </a:prstGeom>
          <a:solidFill>
            <a:srgbClr val="DDE7E0"/>
          </a:solidFill>
          <a:ln w="12700">
            <a:solidFill>
              <a:srgbClr val="CBDCD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3388" y="3127248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HEURÍSTICA, O QUE O PROJETO USA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33388" y="3529584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4A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a 20</a:t>
            </a:r>
            <a:endParaRPr lang="en-US" sz="5800" dirty="0"/>
          </a:p>
        </p:txBody>
      </p:sp>
      <p:sp>
        <p:nvSpPr>
          <p:cNvPr id="14" name="Text 11"/>
          <p:cNvSpPr txBox="1"/>
          <p:nvPr/>
        </p:nvSpPr>
        <p:spPr>
          <a:xfrm>
            <a:off x="6533388" y="4553712"/>
            <a:ext cx="48326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8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PACIENTES, COM GARANTIA DE ÓTIMO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33388" y="4901184"/>
            <a:ext cx="48326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turno real de ACS tem de 10 a 15 visitas.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62356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Declaratividade sozinha não escala. Busca sozinha não absorve regra nova. </a:t>
            </a:r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Planejamento Automatizado é o nome da combinação das duas.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sabemos que isso não é um bug nosso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2103120"/>
            <a:ext cx="4114800" cy="2286000"/>
          </a:xfrm>
          <a:prstGeom prst="roundRect">
            <a:avLst>
              <a:gd name="adj" fmla="val 5200"/>
            </a:avLst>
          </a:prstGeom>
          <a:solidFill>
            <a:srgbClr val="DDE7E0"/>
          </a:solidFill>
          <a:ln w="12700">
            <a:solidFill>
              <a:srgbClr val="CBDCD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2514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4A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de 13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8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EM CONCORDÂNCIA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138928" y="1920240"/>
            <a:ext cx="6483096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Submetemos os mesmos arquivos ao </a:t>
            </a:r>
            <a:pPr indent="0" marL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pyperplan</a:t>
            </a:r>
            <a:pPr indent="0" marL="0">
              <a:lnSpc>
                <a:spcPct val="114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 grupo de Malte Helmert, em Basileia, o mesmo grupo do Fast Downward. Ele tem parser, grounding e busca próprios, e não compartilha uma linha com o nosso código.</a:t>
            </a:r>
            <a:endParaRPr lang="en-US" sz="2000" dirty="0"/>
          </a:p>
          <a:p>
            <a:pPr indent="0" marL="0">
              <a:lnSpc>
                <a:spcPct val="114000"/>
              </a:lnSpc>
              <a:buNone/>
            </a:pPr>
            <a:endParaRPr lang="en-US" sz="2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Concordância total sobre viabilidade e sobre o comprimento mínimo do plano, incluindo os dois casos </a:t>
            </a:r>
            <a:endParaRPr lang="en-US" sz="2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inviáveis</a:t>
            </a:r>
            <a:pPr indent="0" marL="0">
              <a:lnSpc>
                <a:spcPct val="114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o domínio estendido.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5778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ameaça à validade do trabalho deixou de estar em aberto.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PONTO DE PARTIDA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microárea inteira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79208" y="1691640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</a:t>
            </a:r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famílias</a:t>
            </a:r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cadastradas na microárea, com a unidade de saúde como ponto de partida e de retorno. Uma delas está em urgência alta. Nenhum turno cabe todas elas.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379208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500616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9500616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URGÊNCIA ALTA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 do pino é a urgência: terracota é alta, dourado é média, verde é baixa.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PASSO 1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Seleção: quem entra no turno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79208" y="1691640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ordena por prioridade clínica e por atraso em relação ao intervalo máximo, e corta no orçamento de 240 minutos. Entram 6 famílias, e 6 ficam para o próximo turno, apagadas no mapa.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379208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TURNO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500616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9500616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ADIADOS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 camada ainda não sabe nada sobre a lei. Ela só escolhe.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PASSO 2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Roteamento: em que ordem visitar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79208" y="1691640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geométrica devolve uma sequência de paradas com 94 minutos de caminhada. Ela otimiza distância, e só: não sabe o que a lei exige dentro de cada casa, nem que urgência alta tem de ser atendida antes de urgência baixa.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379208" y="4315968"/>
            <a:ext cx="424281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4974336"/>
            <a:ext cx="42428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DE CAMINHADA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 entra congelada no passo seguinte.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PASSO 3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protocolo NÃO cabe nesta rota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79208" y="1691640"/>
            <a:ext cx="3200400" cy="384048"/>
          </a:xfrm>
          <a:prstGeom prst="roundRect">
            <a:avLst>
              <a:gd name="adj" fmla="val 119048"/>
            </a:avLst>
          </a:prstGeom>
          <a:solidFill>
            <a:srgbClr val="F3DFD3"/>
          </a:solidFill>
          <a:ln w="12700">
            <a:solidFill>
              <a:srgbClr val="F3DFD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79208" y="1691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reprovada pelo protocolo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2258568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1ª parada é </a:t>
            </a:r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 urgência baixa, e </a:t>
            </a:r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</a:t>
            </a:r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 urgência alta, só viria na 6ª. Com a rota congelada, iniciar uma visita adiável exige que nenhuma urgência alta esteja pendente, e esse contador só baixa quando p7 é atendido.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379208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7379208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EXAURIDOS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500616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0,03s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9500616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PROVAR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planejamento não disse que não encontrou: ele exauriu o espaço 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demonstrou que não existe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PASSO 2, DE NOVO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Outra rota, exatamente a mesma distância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79208" y="1691640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geométrica é chamada outra vez e devolve outra ordem. É a </a:t>
            </a:r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volta percorrida ao contrário</a:t>
            </a:r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 por isso custa exatamente os mesmos 94 minutos de caminhada.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379208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DE CAMINHADA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500616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9500616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A MAIS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separa uma rota válida de uma inválida aqui não é o comprimento, é a ordem.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PASSO 3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protocolo cabe nesta rota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79208" y="1691640"/>
            <a:ext cx="3200400" cy="384048"/>
          </a:xfrm>
          <a:prstGeom prst="roundRect">
            <a:avLst>
              <a:gd name="adj" fmla="val 119048"/>
            </a:avLst>
          </a:prstGeom>
          <a:solidFill>
            <a:srgbClr val="DDE7E0"/>
          </a:solidFill>
          <a:ln w="12700">
            <a:solidFill>
              <a:srgbClr val="DDE7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79208" y="1691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válida sob o protocolo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2258568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encontrou uma sequência de 51 ações, de custo 266 minutos, que cumpre as condições do art. 3º § 4º em todas as paradas: curso técnico, equipamento, supervisão ativa, insumo disponível e encaminhamento quando o procedimento o exige.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379208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7379208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500616" y="4315968"/>
            <a:ext cx="212140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266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9500616" y="4974336"/>
            <a:ext cx="21214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DE TURNO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ordem a urgência alta vem antes da baixa, que era exatamente o que faltava na rota anterior.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· RESULTADO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58368"/>
            <a:ext cx="110550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protocolo formalizado sobre a rota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12064" y="1517904"/>
            <a:ext cx="6510528" cy="4773168"/>
          </a:xfrm>
          <a:prstGeom prst="roundRect">
            <a:avLst>
              <a:gd name="adj" fmla="val 1916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pic>
        <p:nvPicPr>
          <p:cNvPr id="6" name="Image 0" descr="apresentacao\3\passos\passo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6400800" cy="4663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79208" y="1691640"/>
            <a:ext cx="3200400" cy="384048"/>
          </a:xfrm>
          <a:prstGeom prst="roundRect">
            <a:avLst>
              <a:gd name="adj" fmla="val 119048"/>
            </a:avLst>
          </a:prstGeom>
          <a:solidFill>
            <a:srgbClr val="DDE7E0"/>
          </a:solidFill>
          <a:ln w="12700">
            <a:solidFill>
              <a:srgbClr val="DDE7E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79208" y="1691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válida sob o protocolo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7379208" y="2258568"/>
            <a:ext cx="4242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saída não é uma linha no mapa, é um </a:t>
            </a:r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em cada parada, o que fazer, em que ordem, e quando sair da rota para repor material na unidade. Neste turno o plano decidiu um desvio de reposição, em tracejado.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379208" y="4315968"/>
            <a:ext cx="14142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7379208" y="4974336"/>
            <a:ext cx="1414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793480" y="4315968"/>
            <a:ext cx="14142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266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8793480" y="4974336"/>
            <a:ext cx="1414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DE TURNO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0207752" y="4315968"/>
            <a:ext cx="14142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10207752" y="4974336"/>
            <a:ext cx="1414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70" kern="0" dirty="0">
                <a:solidFill>
                  <a:srgbClr val="8A7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379208" y="5394960"/>
            <a:ext cx="4242816" cy="0"/>
          </a:xfrm>
          <a:prstGeom prst="line">
            <a:avLst/>
          </a:prstGeom>
          <a:noFill/>
          <a:ln w="12700">
            <a:solidFill>
              <a:srgbClr val="E6DCC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79208" y="5522976"/>
            <a:ext cx="42428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roteirizador não muda uma linha do domínio. Mudar a lei não muda uma linha do código de busca.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66928" y="347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676656"/>
            <a:ext cx="11055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hipótese que sobreviveu aos experimentos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66928" y="1783080"/>
            <a:ext cx="11055096" cy="1828800"/>
          </a:xfrm>
          <a:prstGeom prst="roundRect">
            <a:avLst>
              <a:gd name="adj" fmla="val 7000"/>
            </a:avLst>
          </a:prstGeom>
          <a:solidFill>
            <a:srgbClr val="DDE7E0"/>
          </a:solidFill>
          <a:ln w="12700">
            <a:solidFill>
              <a:srgbClr val="DDE7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" y="2011680"/>
            <a:ext cx="1043330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“Manter a norma como especificação declarativa preserva a corretude do sistema diante de regras novas, a um custo de busca que ainda cabe num turno real.”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66928" y="3886200"/>
            <a:ext cx="5344668" cy="1691640"/>
          </a:xfrm>
          <a:prstGeom prst="roundRect">
            <a:avLst>
              <a:gd name="adj" fmla="val 7027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078224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 A CAMADA DECLARATIVA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443984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procedural volta a falhar assim que entra uma regra que ninguém previu ao escrevê-lo.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77356" y="3886200"/>
            <a:ext cx="5344668" cy="1691640"/>
          </a:xfrm>
          <a:prstGeom prst="roundRect">
            <a:avLst>
              <a:gd name="adj" fmla="val 7027"/>
            </a:avLst>
          </a:prstGeom>
          <a:solidFill>
            <a:srgbClr val="FFFDF8"/>
          </a:solidFill>
          <a:ln w="12700">
            <a:solidFill>
              <a:srgbClr val="E6DCC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3388" y="4078224"/>
            <a:ext cx="48326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35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 A BUSCA HEURÍSTICA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33388" y="4443984"/>
            <a:ext cx="483260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5C4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Varrer o mesmo modelo sem heurística para em 5 ou 6 pacientes, e um turno real tem de 10 a 15.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58064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trunfo do trabalho não é ter usado Planning. É termos medido </a:t>
            </a:r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ele ajuda, inclusive descobrindo que a resposta não era a que esperávamos.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Automatizado para o cumprimento de protocolos legais</dc:title>
  <dc:subject>PptxGenJS Presentation</dc:subject>
  <dc:creator>Grupo B</dc:creator>
  <cp:lastModifiedBy>Grupo B</cp:lastModifiedBy>
  <cp:revision>1</cp:revision>
  <dcterms:created xsi:type="dcterms:W3CDTF">2026-10-08T02:59:09Z</dcterms:created>
  <dcterms:modified xsi:type="dcterms:W3CDTF">2026-10-08T02:59:09Z</dcterms:modified>
</cp:coreProperties>
</file>