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3"/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y="6858000" cx="12192000"/>
  <p:notesSz cx="6858000" cy="12192000"/>
  <p:embeddedFontLst>
    <p:embeddedFont>
      <p:font typeface="Lemonada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font" Target="fonts/Lemonada-bold.fntdata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h407e2276a88a7050_0_13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h407e2276a88a7050_0_13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Abertura. Apresente os tres e diga em uma frase o recorte: um agente, um turno, uma microarea. Nao mencione PDDL ainda, isso vem no slide 3. A frase que prepara tudo: quase todo mundo ataca isso como problema de rota, e a rota e so metade do problema.</a:t>
            </a:r>
            <a:endParaRPr/>
          </a:p>
        </p:txBody>
      </p:sp>
      <p:sp>
        <p:nvSpPr>
          <p:cNvPr id="45" name="Google Shape;45;h407e2276a88a7050_0_135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h407e2276a88a7050_0_13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" name="Google Shape;56;h407e2276a88a7050_0_136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ACS visita as familias da microarea. O enunciado cita percurso, equipe, urgencia e intervalo. Nosso recorte: um agente, um turno, rota ja definida. A dor que nos interessou e que chegar na casa nao autoriza atender: a lei condiciona, e algumas condicoes acabam no meio do turno.</a:t>
            </a:r>
            <a:endParaRPr/>
          </a:p>
        </p:txBody>
      </p:sp>
      <p:sp>
        <p:nvSpPr>
          <p:cNvPr id="57" name="Google Shape;57;h407e2276a88a7050_0_136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407e2276a88a7050_0_13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h407e2276a88a7050_0_138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Leia o trecho em voz alta: e a unica leitura literal que vale a pena no deck. Tres condicoes conjuntivas e um efeito obrigatorio: isso e exatamente um esquema de acao STRIPS, formalismo de 1971. STRIPS = pre-condicoes, o que passa a valer e o que deixa de valer. Se a norma mudar, edita-se a norma no dominio, nao o codigo de busca.</a:t>
            </a:r>
            <a:endParaRPr/>
          </a:p>
        </p:txBody>
      </p:sp>
      <p:sp>
        <p:nvSpPr>
          <p:cNvPr id="70" name="Google Shape;70;h407e2276a88a7050_0_138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h407e2276a88a7050_0_13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h407e2276a88a7050_0_13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 a rota esta fixa e cada visita fosse independente, o problema se decomporia e um laco for bastaria. O que impede isso sao os recursos finitos. Observacao honesta: a lei exige assistencia e nao diz nada sobre forma ou frequencia. Representa-la como recurso finito por turno, e encerra-la ao sair da casa, sao decisoes de modelagem NOSSAS.</a:t>
            </a:r>
            <a:endParaRPr/>
          </a:p>
        </p:txBody>
      </p:sp>
      <p:sp>
        <p:nvSpPr>
          <p:cNvPr id="83" name="Google Shape;83;h407e2276a88a7050_0_13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407e2276a88a7050_0_14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h407e2276a88a7050_0_14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Nao leia os tres cartoes. Gaste o tempo no primeiro e no segundo. O ponto: a literatura JA sabe que qualificacao importa, mas trata como rotulo estatico, agente i atende paciente j. Gonzalez-Ferrer e o precedente que blinda a escolha: traduzir norma em dominio de planejamento nao e invencao nossa. Nas buscas realizadas nao achamos trabalho que junte as duas coisas.</a:t>
            </a:r>
            <a:endParaRPr/>
          </a:p>
        </p:txBody>
      </p:sp>
      <p:sp>
        <p:nvSpPr>
          <p:cNvPr id="106" name="Google Shape;106;h407e2276a88a7050_0_14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h407e2276a88a7050_0_14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h407e2276a88a7050_0_14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Aqui esta a honestidade que fortalece. Dissemos aos professores que eramos os primeiros, fomos checar, e nao somos. Mas a lista de artigos do TDSP e o nosso melhor argumento: um artigo e um algoritmo novo por jurisdicao, Uniao Europeia, Estados Unidos, Canada, Australia. Isso e o custo de manutencao do jeito procedural, acontecendo de verdade, por vinte anos. Nos medimos esse custo em laboratorio.</a:t>
            </a:r>
            <a:endParaRPr/>
          </a:p>
        </p:txBody>
      </p:sp>
      <p:sp>
        <p:nvSpPr>
          <p:cNvPr id="130" name="Google Shape;130;h407e2276a88a7050_0_143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407e2276a88a7050_0_14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h407e2276a88a7050_0_145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Explique POR QUE sobra decisao para o planejador, senao a plateia conclui que ele e decorativo. A camada geometrica entrega a ordem congelada e o custo de desvio. O que sobra para o planejador: o que fazer em cada casa, quando acionar a supervisao, e em qual parada vale a pena sair da rota para repor. Se perguntarem por que nao OR-Tools: ele resolve a metade geometrica e nao a normativa.</a:t>
            </a:r>
            <a:endParaRPr/>
          </a:p>
        </p:txBody>
      </p:sp>
      <p:sp>
        <p:nvSpPr>
          <p:cNvPr id="150" name="Google Shape;150;h407e2276a88a7050_0_145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h407e2276a88a7050_0_14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h407e2276a88a7050_0_148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Esta e a parte metodologica que vale sublinhar: a hipotese pode estar errada, e o desenho admite isso. Nao formulamos uma pergunta que so podia dar certo. Guarde esta frase, porque o slide 10 vai cobrar: um dos dois caminhos de erro realmente se materializou.</a:t>
            </a:r>
            <a:endParaRPr/>
          </a:p>
        </p:txBody>
      </p:sp>
      <p:sp>
        <p:nvSpPr>
          <p:cNvPr id="178" name="Google Shape;178;h407e2276a88a7050_0_148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h407e2276a88a7050_0_14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h407e2276a88a7050_0_14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Abrir isso e mais forte do que esconder: mostra que o desenho experimental funcionou. O caminho 1 de erro, previsto no slide anterior, foi o que se materializou. Se perguntarem quantas instancias: 40 no E7, 25 no E9, 8 por tamanho no E8.</a:t>
            </a:r>
            <a:endParaRPr/>
          </a:p>
        </p:txBody>
      </p:sp>
      <p:sp>
        <p:nvSpPr>
          <p:cNvPr id="195" name="Google Shape;195;h407e2276a88a7050_0_14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h407e2276a88a7050_0_15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h407e2276a88a7050_0_15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Coordenadas reais de Porto Alegre, dados clinicos ficticios. Diga o recorte: um agente, um turno, uma microarea. A unidade de saude e o pino escuro marcado com U.</a:t>
            </a:r>
            <a:endParaRPr/>
          </a:p>
        </p:txBody>
      </p:sp>
      <p:sp>
        <p:nvSpPr>
          <p:cNvPr id="215" name="Google Shape;215;h407e2276a88a7050_0_15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h407e2276a88a7050_0_15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" name="Google Shape;231;h407e2276a88a7050_0_153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 perguntarem o criterio: prioridade clinica mais atraso relativo a janela de cada grupo, e corte no orcamento. O E5 mediu o ganho: cobertura de atrasados vai de 37% para 73%.</a:t>
            </a:r>
            <a:endParaRPr/>
          </a:p>
        </p:txBody>
      </p:sp>
      <p:sp>
        <p:nvSpPr>
          <p:cNvPr id="232" name="Google Shape;232;h407e2276a88a7050_0_153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h407e2276a88a7050_0_15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h407e2276a88a7050_0_155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Aqui o roteirizador esta deliberadamente CEGO a norma, que e a situacao de quem usa OR-Tools ou um servico externo. O tracado segue as ruas de verdade, nao liga as coordenadas em reta.</a:t>
            </a:r>
            <a:endParaRPr/>
          </a:p>
        </p:txBody>
      </p:sp>
      <p:sp>
        <p:nvSpPr>
          <p:cNvPr id="249" name="Google Shape;249;h407e2276a88a7050_0_155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h407e2276a88a7050_0_15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h407e2276a88a7050_0_156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Os dois aros tracejados no mapa sao p4 e p7, os pinos 1 e 6. Este e o momento de dizer que a inviabilidade e sensivel a ordem: vale para esta rota, nao para o turno. Por isso vale voltar ao passo 2.</a:t>
            </a:r>
            <a:endParaRPr/>
          </a:p>
        </p:txBody>
      </p:sp>
      <p:sp>
        <p:nvSpPr>
          <p:cNvPr id="266" name="Google Shape;266;h407e2276a88a7050_0_156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h407e2276a88a7050_0_15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h407e2276a88a7050_0_15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Este e o slide que mais vale na demonstracao. Duas rotas geometricamente identicas, e so uma e executavel. O E13 mediu isso em 45 instancias: o custo da conformidade deu ZERO minuto de caminhada em todos os casos.</a:t>
            </a:r>
            <a:endParaRPr/>
          </a:p>
        </p:txBody>
      </p:sp>
      <p:sp>
        <p:nvSpPr>
          <p:cNvPr id="285" name="Google Shape;285;h407e2276a88a7050_0_158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h407e2276a88a7050_0_16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h407e2276a88a7050_0_16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Com garantia de otimalidade, porque a busca usada aqui e A* com h_max. Se perguntarem o tempo: pouco mais de um segundo e meio.</a:t>
            </a:r>
            <a:endParaRPr/>
          </a:p>
        </p:txBody>
      </p:sp>
      <p:sp>
        <p:nvSpPr>
          <p:cNvPr id="302" name="Google Shape;302;h407e2276a88a7050_0_160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h407e2276a88a7050_0_16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0" name="Google Shape;320;h407e2276a88a7050_0_16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Fecho da demonstracao. O tracejado terracota sai da parada 2 ate a unidade e volta: e o desvio de reposicao que o planejamento decidiu, e ele cai ENTRE visitas, nao no meio de uma, que era exatamente o erro do executor procedural.</a:t>
            </a:r>
            <a:endParaRPr/>
          </a:p>
        </p:txBody>
      </p:sp>
      <p:sp>
        <p:nvSpPr>
          <p:cNvPr id="321" name="Google Shape;321;h407e2276a88a7050_0_16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h407e2276a88a7050_0_16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1" name="Google Shape;341;h407e2276a88a7050_0_16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Fecho. O trunfo do trabalho nao e ter usado Planning. E termos medido COMO ele ajuda neste problema, inclusive descobrindo que a resposta nao era a que esperavamos. Se a banca perguntar o que sobrou: declaratividade com efeito medido, e prova de inviabilidade. Se perguntar o que caiu: economia de tempo e exclusividade de capacidade. E a frase final: nenhuma das duas metades sozinha resolve.</a:t>
            </a:r>
            <a:endParaRPr/>
          </a:p>
        </p:txBody>
      </p:sp>
      <p:sp>
        <p:nvSpPr>
          <p:cNvPr id="342" name="Google Shape;342;h407e2276a88a7050_0_16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h407e2276a88a7050_0_16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h407e2276a88a7050_0_16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Fecho. O trunfo do trabalho nao e ter usado Planning. E termos medido COMO ele ajuda neste problema, inclusive descobrindo que a resposta nao era a que esperavamos. Se a banca perguntar o que sobrou: declaratividade com efeito medido, e prova de inviabilidade. Se perguntar o que caiu: economia de tempo e exclusividade de capacidade.</a:t>
            </a:r>
            <a:endParaRPr/>
          </a:p>
        </p:txBody>
      </p:sp>
      <p:sp>
        <p:nvSpPr>
          <p:cNvPr id="364" name="Google Shape;364;h407e2276a88a7050_0_16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">
  <p:cSld name="BAS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/>
        </p:nvSpPr>
        <p:spPr>
          <a:xfrm>
            <a:off x="685800" y="6327648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INF99003 · Ciclo 2 · Grupo 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 txBox="1"/>
          <p:nvPr/>
        </p:nvSpPr>
        <p:spPr>
          <a:xfrm>
            <a:off x="11064240" y="6327648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 1">
  <p:cSld name="BASE (h4ae0447d94099342_146_0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 1 1">
  <p:cSld name="BASE (h2bbf99b40feeb504_78_0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 2">
  <p:cSld name="BASE (h2728b28727897d59_38_0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6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 2 1">
  <p:cSld name="BASE (h4ae0447d94099342_96_0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A">
  <p:cSld name="CAPA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">
  <p:cSld name="BAS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/>
          <p:nvPr/>
        </p:nvSpPr>
        <p:spPr>
          <a:xfrm>
            <a:off x="685800" y="6327648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INF99003 · Ciclo 2 · Grupo 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0"/>
          <p:cNvSpPr txBox="1"/>
          <p:nvPr/>
        </p:nvSpPr>
        <p:spPr>
          <a:xfrm>
            <a:off x="11064240" y="6327648"/>
            <a:ext cx="457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0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">
  <p:cSld name="BASE (h4ae0447d94099342_146_0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2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 1">
  <p:cSld name="BASE (h2bbf99b40feeb504_78_0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3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h2bbf99b40feeb504_27_0)">
  <p:cSld name="Generated (h2bbf99b40feeb504_27_0)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 2">
  <p:cSld name="BASE (h4ae0447d94099342_96_0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 3">
  <p:cSld name="BASE (h4ae0447d94099342_115_0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6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SE 4">
  <p:cSld name="BASE (h4ae0447d94099342_123_0)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7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10" Type="http://schemas.openxmlformats.org/officeDocument/2006/relationships/theme" Target="../theme/theme3.xml"/><Relationship Id="rId9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8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1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Relationship Id="rId4" Type="http://schemas.openxmlformats.org/officeDocument/2006/relationships/image" Target="../media/image10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17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2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Relationship Id="rId4" Type="http://schemas.openxmlformats.org/officeDocument/2006/relationships/image" Target="../media/image1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20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8"/>
          <p:cNvSpPr txBox="1"/>
          <p:nvPr/>
        </p:nvSpPr>
        <p:spPr>
          <a:xfrm>
            <a:off x="197978" y="373198"/>
            <a:ext cx="11055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300"/>
              <a:buFont typeface="Calibri"/>
              <a:buNone/>
            </a:pPr>
            <a:r>
              <a:rPr b="1" i="0" lang="en-US" spc="160" sz="180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PROJETO EM CIÊNCIA E INOVAÇÃO  ·  INF99003  ·  CICLO 2  ·  APRESENTAÇÃO FINAL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18"/>
          <p:cNvSpPr txBox="1"/>
          <p:nvPr/>
        </p:nvSpPr>
        <p:spPr>
          <a:xfrm>
            <a:off x="209996" y="1228225"/>
            <a:ext cx="11772000" cy="210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4400"/>
              <a:buFont typeface="Cambria"/>
              <a:buNone/>
            </a:pPr>
            <a:r>
              <a:rPr b="1" i="0" lang="en-US" sz="55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Planejamento Automatizado para</a:t>
            </a:r>
            <a:endParaRPr b="1" i="0" sz="5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4400"/>
              <a:buFont typeface="Cambria"/>
              <a:buNone/>
            </a:pPr>
            <a:r>
              <a:rPr b="1" i="0" lang="en-US" sz="55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 cumprimento de protocolos legais</a:t>
            </a:r>
            <a:endParaRPr b="1" i="0" sz="5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18"/>
          <p:cNvSpPr txBox="1"/>
          <p:nvPr/>
        </p:nvSpPr>
        <p:spPr>
          <a:xfrm>
            <a:off x="314140" y="3331214"/>
            <a:ext cx="11887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2200"/>
              <a:buFont typeface="Calibri"/>
              <a:buNone/>
            </a:pPr>
            <a:r>
              <a:rPr b="0" i="0" lang="en-US" sz="26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Visitas domiciliares de Agentes Comunitários de Saúde na Atenção Primária do SUS.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8"/>
          <p:cNvSpPr/>
          <p:nvPr/>
        </p:nvSpPr>
        <p:spPr>
          <a:xfrm>
            <a:off x="412877" y="4592302"/>
            <a:ext cx="1920300" cy="45600"/>
          </a:xfrm>
          <a:prstGeom prst="rect">
            <a:avLst/>
          </a:prstGeom>
          <a:solidFill>
            <a:srgbClr val="B35C38"/>
          </a:solidFill>
          <a:ln cap="flat" cmpd="sng" w="12700">
            <a:solidFill>
              <a:srgbClr val="B35C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18"/>
          <p:cNvSpPr txBox="1"/>
          <p:nvPr/>
        </p:nvSpPr>
        <p:spPr>
          <a:xfrm>
            <a:off x="210000" y="4972625"/>
            <a:ext cx="117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2000"/>
              <a:buFont typeface="Cambria"/>
              <a:buNone/>
            </a:pPr>
            <a:r>
              <a:rPr b="1" i="0" lang="en-US" sz="24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Gabriel Pieruccini Knopp  ·  Arthur Andrade da Silva  ·  Izadora Candotti de Oliveira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8"/>
          <p:cNvSpPr txBox="1"/>
          <p:nvPr/>
        </p:nvSpPr>
        <p:spPr>
          <a:xfrm>
            <a:off x="210000" y="5457253"/>
            <a:ext cx="117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600"/>
              <a:buFont typeface="Calibri"/>
              <a:buNone/>
            </a:pPr>
            <a:r>
              <a:rPr b="0" i="0" lang="en-US" sz="2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Grupo B  ·  Instituto de Informática, UFRGS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9"/>
          <p:cNvSpPr txBox="1"/>
          <p:nvPr/>
        </p:nvSpPr>
        <p:spPr>
          <a:xfrm>
            <a:off x="685800" y="400050"/>
            <a:ext cx="10820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2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CONTEXTUALIZAÇÃO</a:t>
            </a:r>
            <a:endParaRPr b="1" sz="372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0" name="Google Shape;60;p19"/>
          <p:cNvSpPr/>
          <p:nvPr/>
        </p:nvSpPr>
        <p:spPr>
          <a:xfrm>
            <a:off x="685800" y="1190625"/>
            <a:ext cx="5219700" cy="3296100"/>
          </a:xfrm>
          <a:prstGeom prst="roundRect">
            <a:avLst>
              <a:gd fmla="val 5079" name="adj"/>
            </a:avLst>
          </a:prstGeom>
          <a:solidFill>
            <a:srgbClr val="FFFDF8"/>
          </a:solidFill>
          <a:ln cap="flat" cmpd="sng" w="143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9"/>
          <p:cNvSpPr txBox="1"/>
          <p:nvPr/>
        </p:nvSpPr>
        <p:spPr>
          <a:xfrm>
            <a:off x="952500" y="1381125"/>
            <a:ext cx="4686300" cy="261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ABORDAGEM TRADICIONAL</a:t>
            </a:r>
            <a:endParaRPr b="1" sz="1600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Problema de percurso</a:t>
            </a:r>
            <a:endParaRPr b="1" sz="29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Minimizar deslocamento, cobrir o território no prazo e respeitar a capacidade da equipe.</a:t>
            </a:r>
            <a:endParaRPr b="0" sz="21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33291F"/>
                </a:solidFill>
                <a:latin typeface="Calibri"/>
                <a:ea typeface="Calibri"/>
                <a:cs typeface="Calibri"/>
                <a:sym typeface="Calibri"/>
              </a:rPr>
              <a:t>São aspectos que os roteirizadores convencionais já resolvem bem.</a:t>
            </a:r>
            <a:endParaRPr b="1" sz="2100">
              <a:solidFill>
                <a:srgbClr val="3329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9"/>
          <p:cNvSpPr/>
          <p:nvPr/>
        </p:nvSpPr>
        <p:spPr>
          <a:xfrm>
            <a:off x="6286500" y="1190625"/>
            <a:ext cx="5219700" cy="3296100"/>
          </a:xfrm>
          <a:prstGeom prst="roundRect">
            <a:avLst>
              <a:gd fmla="val 5079" name="adj"/>
            </a:avLst>
          </a:prstGeom>
          <a:solidFill>
            <a:srgbClr val="FFFDF8"/>
          </a:solidFill>
          <a:ln cap="flat" cmpd="sng" w="19050">
            <a:solidFill>
              <a:srgbClr val="B35C3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9"/>
          <p:cNvSpPr txBox="1"/>
          <p:nvPr/>
        </p:nvSpPr>
        <p:spPr>
          <a:xfrm>
            <a:off x="6553200" y="1381125"/>
            <a:ext cx="4686300" cy="2619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RESTRIÇÃO LEGAL &amp; DINÂMICA</a:t>
            </a:r>
            <a:endParaRPr b="1" sz="1600">
              <a:solidFill>
                <a:srgbClr val="B35C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9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Deixa de fora algo importante</a:t>
            </a:r>
            <a:endParaRPr b="1" sz="29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b="1" lang="en-US" sz="2100">
                <a:solidFill>
                  <a:srgbClr val="33291F"/>
                </a:solidFill>
                <a:latin typeface="Calibri"/>
                <a:ea typeface="Calibri"/>
                <a:cs typeface="Calibri"/>
                <a:sym typeface="Calibri"/>
              </a:rPr>
              <a:t>Lei 11.350/2006</a:t>
            </a:r>
            <a:r>
              <a:rPr b="0" lang="en-US" sz="21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condiciona o que o agente pode fazer em cada residência.</a:t>
            </a:r>
            <a:endParaRPr b="0" sz="21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Nem toda condição é estática: </a:t>
            </a:r>
            <a:r>
              <a:rPr b="1" lang="en-US" sz="21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insumo e supervisão se esgotam</a:t>
            </a:r>
            <a:r>
              <a:rPr b="0" lang="en-US" sz="21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ao longo do turno.</a:t>
            </a:r>
            <a:endParaRPr b="0" sz="21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9"/>
          <p:cNvSpPr/>
          <p:nvPr/>
        </p:nvSpPr>
        <p:spPr>
          <a:xfrm>
            <a:off x="685800" y="4784650"/>
            <a:ext cx="10820400" cy="1121100"/>
          </a:xfrm>
          <a:prstGeom prst="roundRect">
            <a:avLst>
              <a:gd fmla="val 10666" name="adj"/>
            </a:avLst>
          </a:prstGeom>
          <a:solidFill>
            <a:srgbClr val="F3DFD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9"/>
          <p:cNvSpPr txBox="1"/>
          <p:nvPr/>
        </p:nvSpPr>
        <p:spPr>
          <a:xfrm>
            <a:off x="990600" y="4784650"/>
            <a:ext cx="10210800" cy="112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190500" spcFirstLastPara="1" rIns="19050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“A pergunta não é qual o menor percurso, e sim se aquela sequência de atendimentos é </a:t>
            </a:r>
            <a:r>
              <a:rPr b="1" i="0" lang="en-US" sz="2400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executável sem violar a norma</a:t>
            </a:r>
            <a:r>
              <a:rPr i="1" lang="en-US" sz="24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.”</a:t>
            </a:r>
            <a:endParaRPr i="1" sz="24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66" name="Google Shape;66;p19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0"/>
          <p:cNvSpPr txBox="1"/>
          <p:nvPr/>
        </p:nvSpPr>
        <p:spPr>
          <a:xfrm>
            <a:off x="685800" y="811928"/>
            <a:ext cx="108201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11764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t/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20"/>
          <p:cNvSpPr/>
          <p:nvPr/>
        </p:nvSpPr>
        <p:spPr>
          <a:xfrm>
            <a:off x="381000" y="1138600"/>
            <a:ext cx="11369100" cy="2346900"/>
          </a:xfrm>
          <a:prstGeom prst="roundRect">
            <a:avLst>
              <a:gd fmla="val 5556" name="adj"/>
            </a:avLst>
          </a:prstGeom>
          <a:solidFill>
            <a:srgbClr val="F3DF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20"/>
          <p:cNvSpPr txBox="1"/>
          <p:nvPr/>
        </p:nvSpPr>
        <p:spPr>
          <a:xfrm>
            <a:off x="814850" y="1345076"/>
            <a:ext cx="10569300" cy="16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500"/>
              <a:buFont typeface="Cambria"/>
              <a:buNone/>
            </a:pPr>
            <a:r>
              <a:rPr b="0" i="1" lang="en-US" sz="26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“</a:t>
            </a:r>
            <a:r>
              <a:rPr b="0" i="1" lang="en-US" sz="25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desde que </a:t>
            </a:r>
            <a:r>
              <a:rPr b="1" i="1" lang="en-US" sz="25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tenha concluído </a:t>
            </a:r>
            <a:r>
              <a:rPr b="1" i="1" lang="en-US" sz="2500" u="none" cap="none" strike="noStrike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curso técnico</a:t>
            </a:r>
            <a:r>
              <a:rPr b="0" i="1" lang="en-US" sz="25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e </a:t>
            </a:r>
            <a:r>
              <a:rPr b="1" i="1" lang="en-US" sz="25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tenha disponíveis os </a:t>
            </a:r>
            <a:r>
              <a:rPr b="1" i="1" lang="en-US" sz="2500" u="none" cap="none" strike="noStrike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equipamentos</a:t>
            </a:r>
            <a:r>
              <a:rPr b="1" i="1" lang="en-US" sz="25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adequados</a:t>
            </a:r>
            <a:r>
              <a:rPr b="0" i="1" lang="en-US" sz="25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, são atividades do Agente […] </a:t>
            </a:r>
            <a:r>
              <a:rPr b="1" i="1" lang="en-US" sz="25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assistidas por profissional de saúde de nível superior</a:t>
            </a:r>
            <a:r>
              <a:rPr b="0" i="1" lang="en-US" sz="25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[…] a aferição da pressão arterial […], </a:t>
            </a:r>
            <a:r>
              <a:rPr b="1" i="1" lang="en-US" sz="25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encaminhando o paciente</a:t>
            </a:r>
            <a:r>
              <a:rPr b="0" i="1" lang="en-US" sz="25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para a unidade de referência”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0"/>
          <p:cNvSpPr txBox="1"/>
          <p:nvPr/>
        </p:nvSpPr>
        <p:spPr>
          <a:xfrm>
            <a:off x="826233" y="3132858"/>
            <a:ext cx="102348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1" i="0" lang="en-US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Lei nº 11.350/2006, art. 3º § 4º, na redação da Lei nº 13.595/2018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0"/>
          <p:cNvSpPr/>
          <p:nvPr/>
        </p:nvSpPr>
        <p:spPr>
          <a:xfrm>
            <a:off x="381000" y="3626575"/>
            <a:ext cx="11369100" cy="2700900"/>
          </a:xfrm>
          <a:prstGeom prst="roundRect">
            <a:avLst>
              <a:gd fmla="val 4945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0"/>
          <p:cNvSpPr txBox="1"/>
          <p:nvPr/>
        </p:nvSpPr>
        <p:spPr>
          <a:xfrm>
            <a:off x="992452" y="3980751"/>
            <a:ext cx="10234800" cy="234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4A6B5B"/>
              </a:buClr>
              <a:buSzPts val="1300"/>
              <a:buFont typeface="Courier New"/>
              <a:buNone/>
            </a:pPr>
            <a:r>
              <a:rPr b="1" i="0" lang="en-US" sz="2200" u="none" cap="none" strike="noStrike">
                <a:solidFill>
                  <a:srgbClr val="4A6B5B"/>
                </a:solidFill>
                <a:latin typeface="Courier New"/>
                <a:ea typeface="Courier New"/>
                <a:cs typeface="Courier New"/>
                <a:sym typeface="Courier New"/>
              </a:rPr>
              <a:t>:precondition</a:t>
            </a:r>
            <a:r>
              <a:rPr b="0" i="0" lang="en-US" sz="22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0" i="0" lang="en-US" sz="2200" u="none" cap="none" strike="noStrike">
                <a:solidFill>
                  <a:srgbClr val="33291F"/>
                </a:solidFill>
                <a:highlight>
                  <a:srgbClr val="EFFFE3"/>
                </a:highlight>
                <a:latin typeface="Courier New"/>
                <a:ea typeface="Courier New"/>
                <a:cs typeface="Courier New"/>
                <a:sym typeface="Courier New"/>
              </a:rPr>
              <a:t>(and (curso-tecnico-concluido ?ag)</a:t>
            </a:r>
            <a:br>
              <a:rPr b="0" i="0" lang="en-US" sz="2200" u="none" cap="none" strike="noStrike">
                <a:solidFill>
                  <a:srgbClr val="33291F"/>
                </a:solidFill>
                <a:highlight>
                  <a:srgbClr val="EFFFE3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2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r>
              <a:rPr b="0" i="0" lang="en-US" sz="2200" u="none" cap="none" strike="noStrike">
                <a:solidFill>
                  <a:srgbClr val="33291F"/>
                </a:solidFill>
                <a:highlight>
                  <a:srgbClr val="EFFFE3"/>
                </a:highlight>
                <a:latin typeface="Courier New"/>
                <a:ea typeface="Courier New"/>
                <a:cs typeface="Courier New"/>
                <a:sym typeface="Courier New"/>
              </a:rPr>
              <a:t>     (equipamento-disponivel ?ag)</a:t>
            </a:r>
            <a:br>
              <a:rPr b="0" i="0" lang="en-US" sz="2200" u="none" cap="none" strike="noStrike">
                <a:solidFill>
                  <a:srgbClr val="33291F"/>
                </a:solidFill>
                <a:highlight>
                  <a:srgbClr val="EFFFE3"/>
                </a:highlight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22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r>
              <a:rPr b="0" i="0" lang="en-US" sz="2200" u="none" cap="none" strike="noStrike">
                <a:solidFill>
                  <a:srgbClr val="33291F"/>
                </a:solidFill>
                <a:highlight>
                  <a:srgbClr val="EFFFE3"/>
                </a:highlight>
                <a:latin typeface="Courier New"/>
                <a:ea typeface="Courier New"/>
                <a:cs typeface="Courier New"/>
                <a:sym typeface="Courier New"/>
              </a:rPr>
              <a:t>     (supervisao-ativa ?ag))</a:t>
            </a:r>
            <a:br>
              <a:rPr b="0" i="0" lang="en-US" sz="22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2200" u="none" cap="none" strike="noStrike">
                <a:solidFill>
                  <a:srgbClr val="B35C38"/>
                </a:solidFill>
                <a:latin typeface="Courier New"/>
                <a:ea typeface="Courier New"/>
                <a:cs typeface="Courier New"/>
                <a:sym typeface="Courier New"/>
              </a:rPr>
              <a:t>:effect</a:t>
            </a:r>
            <a:r>
              <a:rPr b="0" i="0" lang="en-US" sz="2200" u="none" cap="none" strike="noStrike">
                <a:solidFill>
                  <a:srgbClr val="B35C38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0" i="0" lang="en-US" sz="2200" u="none" cap="none" strike="noStrike">
                <a:solidFill>
                  <a:srgbClr val="33291F"/>
                </a:solidFill>
                <a:highlight>
                  <a:srgbClr val="FDF5F0"/>
                </a:highlight>
                <a:latin typeface="Courier New"/>
                <a:ea typeface="Courier New"/>
                <a:cs typeface="Courier New"/>
                <a:sym typeface="Courier New"/>
              </a:rPr>
              <a:t>(and (pa-ok ?p)</a:t>
            </a:r>
            <a:endParaRPr b="0" i="0" sz="2200" u="none" cap="none" strike="noStrike">
              <a:solidFill>
                <a:schemeClr val="dk1"/>
              </a:solidFill>
              <a:highlight>
                <a:srgbClr val="FDF5F0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300"/>
              <a:buFont typeface="Courier New"/>
              <a:buNone/>
            </a:pPr>
            <a:r>
              <a:rPr b="0" i="0" lang="en-US" sz="2200" u="none" cap="none" strike="noStrike">
                <a:solidFill>
                  <a:srgbClr val="33291F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</a:t>
            </a:r>
            <a:r>
              <a:rPr b="0" i="0" lang="en-US" sz="2200" u="none" cap="none" strike="noStrike">
                <a:solidFill>
                  <a:srgbClr val="33291F"/>
                </a:solidFill>
                <a:highlight>
                  <a:srgbClr val="FDF5F0"/>
                </a:highlight>
                <a:latin typeface="Courier New"/>
                <a:ea typeface="Courier New"/>
                <a:cs typeface="Courier New"/>
                <a:sym typeface="Courier New"/>
              </a:rPr>
              <a:t>     (pendencia-encaminhamento ?p))</a:t>
            </a:r>
            <a:endParaRPr b="0" i="0" sz="2200" u="none" cap="none" strike="noStrike">
              <a:solidFill>
                <a:schemeClr val="dk1"/>
              </a:solidFill>
              <a:highlight>
                <a:srgbClr val="FDF5F0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20"/>
          <p:cNvSpPr txBox="1"/>
          <p:nvPr/>
        </p:nvSpPr>
        <p:spPr>
          <a:xfrm>
            <a:off x="381000" y="296300"/>
            <a:ext cx="10820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JUSTIFICATIVA - PLANNING</a:t>
            </a:r>
            <a:endParaRPr b="1" sz="37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"/>
          <p:cNvSpPr txBox="1"/>
          <p:nvPr/>
        </p:nvSpPr>
        <p:spPr>
          <a:xfrm>
            <a:off x="685800" y="6327648"/>
            <a:ext cx="4572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INF99003 · Ciclo 2 · Grupo 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1"/>
          <p:cNvSpPr/>
          <p:nvPr/>
        </p:nvSpPr>
        <p:spPr>
          <a:xfrm>
            <a:off x="392513" y="1033725"/>
            <a:ext cx="5524500" cy="2143200"/>
          </a:xfrm>
          <a:prstGeom prst="roundRect">
            <a:avLst>
              <a:gd fmla="val 7111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grpSp>
        <p:nvGrpSpPr>
          <p:cNvPr id="87" name="Google Shape;87;p21"/>
          <p:cNvGrpSpPr/>
          <p:nvPr/>
        </p:nvGrpSpPr>
        <p:grpSpPr>
          <a:xfrm>
            <a:off x="582992" y="1153850"/>
            <a:ext cx="5219601" cy="1762275"/>
            <a:chOff x="952500" y="1484658"/>
            <a:chExt cx="4686300" cy="1762275"/>
          </a:xfrm>
        </p:grpSpPr>
        <p:sp>
          <p:nvSpPr>
            <p:cNvPr id="88" name="Google Shape;88;p21"/>
            <p:cNvSpPr txBox="1"/>
            <p:nvPr/>
          </p:nvSpPr>
          <p:spPr>
            <a:xfrm>
              <a:off x="952500" y="1484658"/>
              <a:ext cx="46863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B35C38"/>
                  </a:solidFill>
                  <a:latin typeface="Calibri"/>
                  <a:ea typeface="Calibri"/>
                  <a:cs typeface="Calibri"/>
                  <a:sym typeface="Calibri"/>
                </a:rPr>
                <a:t>RECURSO 1</a:t>
              </a:r>
              <a:endParaRPr b="1" sz="20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21"/>
            <p:cNvSpPr txBox="1"/>
            <p:nvPr/>
          </p:nvSpPr>
          <p:spPr>
            <a:xfrm>
              <a:off x="952500" y="1770408"/>
              <a:ext cx="46863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00">
                  <a:solidFill>
                    <a:srgbClr val="33291F"/>
                  </a:solidFill>
                  <a:latin typeface="Cambria"/>
                  <a:ea typeface="Cambria"/>
                  <a:cs typeface="Cambria"/>
                  <a:sym typeface="Cambria"/>
                </a:rPr>
                <a:t>Insumo consumível</a:t>
              </a:r>
              <a:endParaRPr b="1" sz="29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90" name="Google Shape;90;p21"/>
            <p:cNvSpPr txBox="1"/>
            <p:nvPr/>
          </p:nvSpPr>
          <p:spPr>
            <a:xfrm>
              <a:off x="952500" y="2199033"/>
              <a:ext cx="46863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30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A fita de glicemia só se repõe na unidade de saúde. Acabar no meio da rota obriga um desvio não previsto.</a:t>
              </a:r>
              <a:endParaRPr b="0" sz="23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21"/>
          <p:cNvSpPr/>
          <p:nvPr/>
        </p:nvSpPr>
        <p:spPr>
          <a:xfrm>
            <a:off x="6100088" y="1033725"/>
            <a:ext cx="5661300" cy="2143200"/>
          </a:xfrm>
          <a:prstGeom prst="roundRect">
            <a:avLst>
              <a:gd fmla="val 7111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grpSp>
        <p:nvGrpSpPr>
          <p:cNvPr id="92" name="Google Shape;92;p21"/>
          <p:cNvGrpSpPr/>
          <p:nvPr/>
        </p:nvGrpSpPr>
        <p:grpSpPr>
          <a:xfrm>
            <a:off x="6206725" y="1132154"/>
            <a:ext cx="5310984" cy="1762275"/>
            <a:chOff x="6553200" y="1484658"/>
            <a:chExt cx="4686300" cy="1762275"/>
          </a:xfrm>
        </p:grpSpPr>
        <p:sp>
          <p:nvSpPr>
            <p:cNvPr id="93" name="Google Shape;93;p21"/>
            <p:cNvSpPr txBox="1"/>
            <p:nvPr/>
          </p:nvSpPr>
          <p:spPr>
            <a:xfrm>
              <a:off x="6553200" y="1484658"/>
              <a:ext cx="4686300" cy="285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000">
                  <a:solidFill>
                    <a:srgbClr val="B35C38"/>
                  </a:solidFill>
                  <a:latin typeface="Calibri"/>
                  <a:ea typeface="Calibri"/>
                  <a:cs typeface="Calibri"/>
                  <a:sym typeface="Calibri"/>
                </a:rPr>
                <a:t>RECURSO 2</a:t>
              </a:r>
              <a:endParaRPr b="1" sz="20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p21"/>
            <p:cNvSpPr txBox="1"/>
            <p:nvPr/>
          </p:nvSpPr>
          <p:spPr>
            <a:xfrm>
              <a:off x="6553200" y="1770408"/>
              <a:ext cx="46863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00">
                  <a:solidFill>
                    <a:srgbClr val="33291F"/>
                  </a:solidFill>
                  <a:latin typeface="Cambria"/>
                  <a:ea typeface="Cambria"/>
                  <a:cs typeface="Cambria"/>
                  <a:sym typeface="Cambria"/>
                </a:rPr>
                <a:t>Supervisão da equipe</a:t>
              </a:r>
              <a:endParaRPr b="1" sz="29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  <p:sp>
          <p:nvSpPr>
            <p:cNvPr id="95" name="Google Shape;95;p21"/>
            <p:cNvSpPr txBox="1"/>
            <p:nvPr/>
          </p:nvSpPr>
          <p:spPr>
            <a:xfrm>
              <a:off x="6553200" y="2199033"/>
              <a:ext cx="4686300" cy="10479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30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O § 4º exige assistência de profissional de nível superior, e ela se encerra quando o agente deixa a residência.</a:t>
              </a:r>
              <a:endParaRPr b="0" sz="23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6" name="Google Shape;96;p21"/>
          <p:cNvSpPr/>
          <p:nvPr/>
        </p:nvSpPr>
        <p:spPr>
          <a:xfrm>
            <a:off x="239750" y="3531725"/>
            <a:ext cx="5967000" cy="2688300"/>
          </a:xfrm>
          <a:prstGeom prst="roundRect">
            <a:avLst>
              <a:gd fmla="val 6400" name="adj"/>
            </a:avLst>
          </a:prstGeom>
          <a:solidFill>
            <a:srgbClr val="F3DFD3"/>
          </a:solidFill>
          <a:ln>
            <a:noFill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97" name="Google Shape;97;p21"/>
          <p:cNvSpPr txBox="1"/>
          <p:nvPr/>
        </p:nvSpPr>
        <p:spPr>
          <a:xfrm>
            <a:off x="461150" y="3728300"/>
            <a:ext cx="56166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Uma decisão tomada na terceira parada pode inviabilizar a sétima.</a:t>
            </a:r>
            <a:endParaRPr b="1" sz="26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98" name="Google Shape;98;p21"/>
          <p:cNvSpPr txBox="1"/>
          <p:nvPr/>
        </p:nvSpPr>
        <p:spPr>
          <a:xfrm>
            <a:off x="438800" y="4439963"/>
            <a:ext cx="5661300" cy="871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 número de sequências candidatas cresce exponencialmente, e a interação entre decisões distantes na rota se torna algo difícil de tratar por inspeção manual ou por planilhas.</a:t>
            </a:r>
            <a:endParaRPr b="0" sz="23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1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1"/>
          <p:cNvSpPr txBox="1"/>
          <p:nvPr/>
        </p:nvSpPr>
        <p:spPr>
          <a:xfrm>
            <a:off x="381000" y="296300"/>
            <a:ext cx="10820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JUSTIFICATIVA - PLANNING</a:t>
            </a:r>
            <a:endParaRPr b="1" sz="37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01" name="Google Shape;101;p21"/>
          <p:cNvSpPr/>
          <p:nvPr/>
        </p:nvSpPr>
        <p:spPr>
          <a:xfrm>
            <a:off x="6457524" y="3531651"/>
            <a:ext cx="5444700" cy="2776200"/>
          </a:xfrm>
          <a:prstGeom prst="roundRect">
            <a:avLst>
              <a:gd fmla="val 7568" name="adj"/>
            </a:avLst>
          </a:prstGeom>
          <a:solidFill>
            <a:srgbClr val="DDE7E0"/>
          </a:solidFill>
          <a:ln cap="flat" cmpd="sng" w="12700">
            <a:solidFill>
              <a:srgbClr val="DDE7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1"/>
          <p:cNvSpPr txBox="1"/>
          <p:nvPr/>
        </p:nvSpPr>
        <p:spPr>
          <a:xfrm>
            <a:off x="6610578" y="3619811"/>
            <a:ext cx="5138400" cy="210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2300"/>
              <a:buFont typeface="Cambria"/>
              <a:buNone/>
            </a:pPr>
            <a:r>
              <a:rPr b="0" i="0" lang="en-US" sz="26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 executor </a:t>
            </a:r>
            <a:r>
              <a:rPr lang="en-US" sz="2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guloso </a:t>
            </a:r>
            <a:r>
              <a:rPr b="0" i="0" lang="en-US" sz="26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depende de </a:t>
            </a:r>
            <a:r>
              <a:rPr b="1" i="0" lang="en-US" sz="26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alguém descobrir cada interação entre regras antes de respeitá-la</a:t>
            </a:r>
            <a:r>
              <a:rPr b="0" i="0" lang="en-US" sz="26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. O planejamento lê as regras do domínio e deriva a ordem correta sozinho.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/>
        </p:nvSpPr>
        <p:spPr>
          <a:xfrm>
            <a:off x="563875" y="767849"/>
            <a:ext cx="10820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22"/>
          <p:cNvSpPr/>
          <p:nvPr/>
        </p:nvSpPr>
        <p:spPr>
          <a:xfrm>
            <a:off x="685800" y="1088985"/>
            <a:ext cx="3390900" cy="4667400"/>
          </a:xfrm>
          <a:prstGeom prst="roundRect">
            <a:avLst>
              <a:gd fmla="val 4494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2"/>
          <p:cNvSpPr/>
          <p:nvPr/>
        </p:nvSpPr>
        <p:spPr>
          <a:xfrm>
            <a:off x="4400550" y="1088985"/>
            <a:ext cx="3390900" cy="4667400"/>
          </a:xfrm>
          <a:prstGeom prst="roundRect">
            <a:avLst>
              <a:gd fmla="val 4494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2"/>
          <p:cNvSpPr/>
          <p:nvPr/>
        </p:nvSpPr>
        <p:spPr>
          <a:xfrm>
            <a:off x="8115300" y="1088985"/>
            <a:ext cx="3390900" cy="4667400"/>
          </a:xfrm>
          <a:prstGeom prst="roundRect">
            <a:avLst>
              <a:gd fmla="val 4494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2"/>
          <p:cNvSpPr txBox="1"/>
          <p:nvPr/>
        </p:nvSpPr>
        <p:spPr>
          <a:xfrm>
            <a:off x="563875" y="747275"/>
            <a:ext cx="108204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15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3" name="Google Shape;113;p22"/>
          <p:cNvSpPr txBox="1"/>
          <p:nvPr/>
        </p:nvSpPr>
        <p:spPr>
          <a:xfrm>
            <a:off x="914400" y="1317585"/>
            <a:ext cx="29337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Roteamento em saúde domiciliar</a:t>
            </a:r>
            <a:endParaRPr b="1" sz="26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4" name="Google Shape;114;p22"/>
          <p:cNvSpPr txBox="1"/>
          <p:nvPr/>
        </p:nvSpPr>
        <p:spPr>
          <a:xfrm>
            <a:off x="914400" y="2353335"/>
            <a:ext cx="3003900" cy="3107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Reconhece qualificação profissional como restrição, mas a modela como </a:t>
            </a:r>
            <a:r>
              <a:rPr b="1" lang="en-US" sz="2400">
                <a:solidFill>
                  <a:srgbClr val="33291F"/>
                </a:solidFill>
                <a:latin typeface="Calibri"/>
                <a:ea typeface="Calibri"/>
                <a:cs typeface="Calibri"/>
                <a:sym typeface="Calibri"/>
              </a:rPr>
              <a:t>etiqueta fixa de compatibilidade</a:t>
            </a:r>
            <a:r>
              <a:rPr b="0" lang="en-US" sz="24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sz="24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endParaRPr b="1" sz="2000">
              <a:solidFill>
                <a:srgbClr val="B35C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33291F"/>
                </a:solidFill>
                <a:highlight>
                  <a:srgbClr val="F7F4EE"/>
                </a:highlight>
                <a:latin typeface="Calibri"/>
                <a:ea typeface="Calibri"/>
                <a:cs typeface="Calibri"/>
                <a:sym typeface="Calibri"/>
              </a:rPr>
              <a:t>• Fikar &amp; Hirsch (2017)</a:t>
            </a:r>
            <a:endParaRPr b="0" sz="2200">
              <a:solidFill>
                <a:srgbClr val="33291F"/>
              </a:solidFill>
              <a:highlight>
                <a:srgbClr val="F7F4EE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33291F"/>
                </a:solidFill>
                <a:highlight>
                  <a:srgbClr val="F7F4EE"/>
                </a:highlight>
                <a:latin typeface="Calibri"/>
                <a:ea typeface="Calibri"/>
                <a:cs typeface="Calibri"/>
                <a:sym typeface="Calibri"/>
              </a:rPr>
              <a:t>• Cissé et al. (2017)</a:t>
            </a:r>
            <a:endParaRPr b="0" sz="2200">
              <a:solidFill>
                <a:srgbClr val="33291F"/>
              </a:solidFill>
              <a:highlight>
                <a:srgbClr val="F7F4EE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22"/>
          <p:cNvSpPr txBox="1"/>
          <p:nvPr/>
        </p:nvSpPr>
        <p:spPr>
          <a:xfrm>
            <a:off x="4629150" y="1317585"/>
            <a:ext cx="29337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Planejamento em protocolos clínicos</a:t>
            </a:r>
            <a:endParaRPr b="1" sz="26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6" name="Google Shape;116;p22"/>
          <p:cNvSpPr txBox="1"/>
          <p:nvPr/>
        </p:nvSpPr>
        <p:spPr>
          <a:xfrm>
            <a:off x="4629150" y="2327385"/>
            <a:ext cx="2933700" cy="3429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3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Traduz diretrizes clínicas para domínios de planejamento, mas </a:t>
            </a:r>
            <a:r>
              <a:rPr b="1" lang="en-US" sz="2300">
                <a:solidFill>
                  <a:srgbClr val="33291F"/>
                </a:solidFill>
                <a:latin typeface="Calibri"/>
                <a:ea typeface="Calibri"/>
                <a:cs typeface="Calibri"/>
                <a:sym typeface="Calibri"/>
              </a:rPr>
              <a:t>sem componente de roteamento</a:t>
            </a:r>
            <a:r>
              <a:rPr b="0" lang="en-US" sz="23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sz="23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endParaRPr b="1" sz="2100">
              <a:solidFill>
                <a:srgbClr val="B35C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33291F"/>
                </a:solidFill>
                <a:highlight>
                  <a:srgbClr val="F7F4EE"/>
                </a:highlight>
                <a:latin typeface="Calibri"/>
                <a:ea typeface="Calibri"/>
                <a:cs typeface="Calibri"/>
                <a:sym typeface="Calibri"/>
              </a:rPr>
              <a:t>• González-Ferrer et al. (2013)</a:t>
            </a:r>
            <a:endParaRPr b="0" sz="2100">
              <a:solidFill>
                <a:srgbClr val="33291F"/>
              </a:solidFill>
              <a:highlight>
                <a:srgbClr val="F7F4EE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33291F"/>
                </a:solidFill>
                <a:highlight>
                  <a:srgbClr val="F7F4EE"/>
                </a:highlight>
                <a:latin typeface="Calibri"/>
                <a:ea typeface="Calibri"/>
                <a:cs typeface="Calibri"/>
                <a:sym typeface="Calibri"/>
              </a:rPr>
              <a:t>• Bradbrook et al. (2005)</a:t>
            </a:r>
            <a:endParaRPr b="0" sz="2100">
              <a:solidFill>
                <a:srgbClr val="33291F"/>
              </a:solidFill>
              <a:highlight>
                <a:srgbClr val="F7F4EE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22"/>
          <p:cNvSpPr txBox="1"/>
          <p:nvPr>
            <p:ph idx="4294967295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22"/>
          <p:cNvSpPr txBox="1"/>
          <p:nvPr/>
        </p:nvSpPr>
        <p:spPr>
          <a:xfrm>
            <a:off x="381000" y="296300"/>
            <a:ext cx="11664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REVISÃO DE LITERATURA E MERCADO</a:t>
            </a:r>
            <a:endParaRPr b="1" sz="37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19" name="Google Shape;119;p22"/>
          <p:cNvSpPr/>
          <p:nvPr/>
        </p:nvSpPr>
        <p:spPr>
          <a:xfrm>
            <a:off x="5329000" y="6057650"/>
            <a:ext cx="3390900" cy="544200"/>
          </a:xfrm>
          <a:prstGeom prst="roundRect">
            <a:avLst>
              <a:gd fmla="val 4494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2"/>
          <p:cNvSpPr txBox="1"/>
          <p:nvPr/>
        </p:nvSpPr>
        <p:spPr>
          <a:xfrm>
            <a:off x="5329000" y="6153150"/>
            <a:ext cx="3390900" cy="350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Ferramentas de mercado</a:t>
            </a:r>
            <a:endParaRPr b="1" sz="20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1" name="Google Shape;121;p22"/>
          <p:cNvSpPr/>
          <p:nvPr/>
        </p:nvSpPr>
        <p:spPr>
          <a:xfrm>
            <a:off x="2979725" y="6057650"/>
            <a:ext cx="1960500" cy="544200"/>
          </a:xfrm>
          <a:prstGeom prst="roundRect">
            <a:avLst>
              <a:gd fmla="val 4494" name="adj"/>
            </a:avLst>
          </a:prstGeom>
          <a:solidFill>
            <a:srgbClr val="FFE8E8"/>
          </a:solidFill>
          <a:ln cap="flat" cmpd="sng" w="9525">
            <a:solidFill>
              <a:srgbClr val="E6CB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OR-Tools</a:t>
            </a:r>
            <a:endParaRPr/>
          </a:p>
        </p:txBody>
      </p:sp>
      <p:sp>
        <p:nvSpPr>
          <p:cNvPr id="122" name="Google Shape;122;p22"/>
          <p:cNvSpPr/>
          <p:nvPr/>
        </p:nvSpPr>
        <p:spPr>
          <a:xfrm>
            <a:off x="9108675" y="6056100"/>
            <a:ext cx="1546500" cy="544200"/>
          </a:xfrm>
          <a:prstGeom prst="roundRect">
            <a:avLst>
              <a:gd fmla="val 4494" name="adj"/>
            </a:avLst>
          </a:prstGeom>
          <a:solidFill>
            <a:srgbClr val="EFFFE3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OSRM</a:t>
            </a:r>
            <a:r>
              <a:rPr lang="en-US" sz="2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cxnSp>
        <p:nvCxnSpPr>
          <p:cNvPr id="123" name="Google Shape;123;p22"/>
          <p:cNvCxnSpPr>
            <a:stCxn id="120" idx="1"/>
            <a:endCxn id="121" idx="3"/>
          </p:cNvCxnSpPr>
          <p:nvPr/>
        </p:nvCxnSpPr>
        <p:spPr>
          <a:xfrm flipH="1">
            <a:off x="4940200" y="6328200"/>
            <a:ext cx="388800" cy="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22"/>
          <p:cNvCxnSpPr>
            <a:stCxn id="120" idx="3"/>
            <a:endCxn id="122" idx="1"/>
          </p:cNvCxnSpPr>
          <p:nvPr/>
        </p:nvCxnSpPr>
        <p:spPr>
          <a:xfrm>
            <a:off x="8719900" y="6328200"/>
            <a:ext cx="3888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5" name="Google Shape;125;p22"/>
          <p:cNvSpPr txBox="1"/>
          <p:nvPr/>
        </p:nvSpPr>
        <p:spPr>
          <a:xfrm>
            <a:off x="8308800" y="1283763"/>
            <a:ext cx="3003900" cy="666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Regra legal dentro de roteamento</a:t>
            </a:r>
            <a:endParaRPr b="1" sz="26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26" name="Google Shape;126;p22"/>
          <p:cNvSpPr txBox="1"/>
          <p:nvPr/>
        </p:nvSpPr>
        <p:spPr>
          <a:xfrm>
            <a:off x="8229600" y="2288888"/>
            <a:ext cx="3162300" cy="3429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A jornada de motoristas na União Europeia é lei embutida em roteirização, e tem revisão sistemática própria. O problema tratado é o TDSP.</a:t>
            </a:r>
            <a:endParaRPr sz="21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Referências</a:t>
            </a:r>
            <a:endParaRPr b="1" sz="1900">
              <a:solidFill>
                <a:srgbClr val="B35C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45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highlight>
                  <a:srgbClr val="F7F4EE"/>
                </a:highlight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900">
                <a:solidFill>
                  <a:srgbClr val="33291F"/>
                </a:solidFill>
                <a:highlight>
                  <a:srgbClr val="F7F4EE"/>
                </a:highlight>
                <a:latin typeface="Calibri"/>
                <a:ea typeface="Calibri"/>
                <a:cs typeface="Calibri"/>
                <a:sym typeface="Calibri"/>
              </a:rPr>
              <a:t>Archetti &amp; Savelsbergh (2009)</a:t>
            </a:r>
            <a:endParaRPr sz="1900">
              <a:solidFill>
                <a:srgbClr val="33291F"/>
              </a:solidFill>
              <a:highlight>
                <a:srgbClr val="F7F4EE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chemeClr val="dk1"/>
                </a:solidFill>
                <a:highlight>
                  <a:srgbClr val="F7F4EE"/>
                </a:highlight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1900">
                <a:solidFill>
                  <a:srgbClr val="33291F"/>
                </a:solidFill>
                <a:highlight>
                  <a:srgbClr val="F7F4EE"/>
                </a:highlight>
                <a:latin typeface="Calibri"/>
                <a:ea typeface="Calibri"/>
                <a:cs typeface="Calibri"/>
                <a:sym typeface="Calibri"/>
              </a:rPr>
              <a:t>Goel (2010) · Goel &amp; Kok (2011)</a:t>
            </a:r>
            <a:endParaRPr sz="1900">
              <a:solidFill>
                <a:srgbClr val="33291F"/>
              </a:solidFill>
              <a:highlight>
                <a:srgbClr val="F7F4EE"/>
              </a:highlight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33291F"/>
              </a:solidFill>
              <a:highlight>
                <a:srgbClr val="F7F4EE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3"/>
          <p:cNvSpPr/>
          <p:nvPr/>
        </p:nvSpPr>
        <p:spPr>
          <a:xfrm>
            <a:off x="685800" y="1047750"/>
            <a:ext cx="10820400" cy="1762200"/>
          </a:xfrm>
          <a:prstGeom prst="roundRect">
            <a:avLst>
              <a:gd fmla="val 8648" name="adj"/>
            </a:avLst>
          </a:prstGeom>
          <a:solidFill>
            <a:srgbClr val="DDE7E0"/>
          </a:solidFill>
          <a:ln cap="flat" cmpd="sng" w="9525">
            <a:solidFill>
              <a:srgbClr val="CBDC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3"/>
          <p:cNvSpPr txBox="1"/>
          <p:nvPr/>
        </p:nvSpPr>
        <p:spPr>
          <a:xfrm>
            <a:off x="952500" y="1485900"/>
            <a:ext cx="10287000" cy="118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2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“A </a:t>
            </a:r>
            <a:r>
              <a:rPr b="1" i="0" lang="en-US" sz="2200">
                <a:solidFill>
                  <a:srgbClr val="22332B"/>
                </a:solidFill>
                <a:latin typeface="Cambria"/>
                <a:ea typeface="Cambria"/>
                <a:cs typeface="Cambria"/>
                <a:sym typeface="Cambria"/>
              </a:rPr>
              <a:t>sequência de ações obrigatórias dentro da visita</a:t>
            </a:r>
            <a:r>
              <a:rPr b="0" i="1" lang="en-US" sz="22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, derivada de norma jurídica, como domínio declarativo acoplado a roteamento, com a qualificação tratada como </a:t>
            </a:r>
            <a:r>
              <a:rPr b="1" i="0" lang="en-US" sz="2200">
                <a:solidFill>
                  <a:srgbClr val="22332B"/>
                </a:solidFill>
                <a:latin typeface="Cambria"/>
                <a:ea typeface="Cambria"/>
                <a:cs typeface="Cambria"/>
                <a:sym typeface="Cambria"/>
              </a:rPr>
              <a:t>soma de condições que se gastam</a:t>
            </a:r>
            <a:r>
              <a:rPr b="0" i="1" lang="en-US" sz="22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e não como etiqueta fixa.”</a:t>
            </a:r>
            <a:endParaRPr b="0" i="1" sz="22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34" name="Google Shape;134;p23"/>
          <p:cNvSpPr/>
          <p:nvPr/>
        </p:nvSpPr>
        <p:spPr>
          <a:xfrm>
            <a:off x="685800" y="3000375"/>
            <a:ext cx="5257800" cy="3048000"/>
          </a:xfrm>
          <a:prstGeom prst="roundRect">
            <a:avLst>
              <a:gd fmla="val 5000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3"/>
          <p:cNvSpPr txBox="1"/>
          <p:nvPr/>
        </p:nvSpPr>
        <p:spPr>
          <a:xfrm>
            <a:off x="952500" y="3190875"/>
            <a:ext cx="4724400" cy="24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O QUE A LITERATURA DO TDSP MOSTRA</a:t>
            </a:r>
            <a:endParaRPr b="1" sz="1300">
              <a:solidFill>
                <a:srgbClr val="B35C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3"/>
          <p:cNvSpPr txBox="1"/>
          <p:nvPr/>
        </p:nvSpPr>
        <p:spPr>
          <a:xfrm>
            <a:off x="952500" y="3571875"/>
            <a:ext cx="4724400" cy="228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33291F"/>
                </a:solidFill>
                <a:latin typeface="Calibri"/>
                <a:ea typeface="Calibri"/>
                <a:cs typeface="Calibri"/>
                <a:sym typeface="Calibri"/>
              </a:rPr>
              <a:t>Um artigo e um algoritmo </a:t>
            </a:r>
            <a:r>
              <a:rPr b="1" lang="en-US" sz="22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novo por jurisdição</a:t>
            </a:r>
            <a:r>
              <a:rPr b="0" lang="en-US" sz="2200">
                <a:solidFill>
                  <a:srgbClr val="33291F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sz="2200">
              <a:solidFill>
                <a:srgbClr val="33291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lang="en-US" sz="21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• União Europeia, Estados Unidos, Canadá, Austrália.</a:t>
            </a:r>
            <a:endParaRPr b="0" sz="21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33291F"/>
                </a:solidFill>
                <a:latin typeface="Calibri"/>
                <a:ea typeface="Calibri"/>
                <a:cs typeface="Calibri"/>
                <a:sym typeface="Calibri"/>
              </a:rPr>
              <a:t>O mesmo problema resolvido quatro vezes.</a:t>
            </a:r>
            <a:endParaRPr b="1" sz="2200">
              <a:solidFill>
                <a:srgbClr val="33291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3"/>
          <p:cNvSpPr/>
          <p:nvPr/>
        </p:nvSpPr>
        <p:spPr>
          <a:xfrm>
            <a:off x="6248400" y="3000375"/>
            <a:ext cx="5257800" cy="3048000"/>
          </a:xfrm>
          <a:prstGeom prst="roundRect">
            <a:avLst>
              <a:gd fmla="val 5000" name="adj"/>
            </a:avLst>
          </a:prstGeom>
          <a:solidFill>
            <a:srgbClr val="DDE7E0"/>
          </a:solidFill>
          <a:ln cap="flat" cmpd="sng" w="9525">
            <a:solidFill>
              <a:srgbClr val="CBDCD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3"/>
          <p:cNvSpPr txBox="1"/>
          <p:nvPr/>
        </p:nvSpPr>
        <p:spPr>
          <a:xfrm>
            <a:off x="6515100" y="3190875"/>
            <a:ext cx="4724400" cy="24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A6B5B"/>
                </a:solidFill>
                <a:latin typeface="Calibri"/>
                <a:ea typeface="Calibri"/>
                <a:cs typeface="Calibri"/>
                <a:sym typeface="Calibri"/>
              </a:rPr>
              <a:t>OU SEJA</a:t>
            </a:r>
            <a:endParaRPr b="1" sz="1300">
              <a:solidFill>
                <a:srgbClr val="4A6B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6515100" y="3481959"/>
            <a:ext cx="4724400" cy="2286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200">
                <a:solidFill>
                  <a:srgbClr val="22332B"/>
                </a:solidFill>
                <a:latin typeface="Calibri"/>
                <a:ea typeface="Calibri"/>
                <a:cs typeface="Calibri"/>
                <a:sym typeface="Calibri"/>
              </a:rPr>
              <a:t>Aplicamos, ao problema do Planejamento de Rotas de Agentes de Saúde, a ideia do </a:t>
            </a:r>
            <a:r>
              <a:rPr b="1" lang="en-US" sz="2200">
                <a:solidFill>
                  <a:srgbClr val="33291F"/>
                </a:solidFill>
                <a:latin typeface="Calibri"/>
                <a:ea typeface="Calibri"/>
                <a:cs typeface="Calibri"/>
                <a:sym typeface="Calibri"/>
              </a:rPr>
              <a:t>pipeline que considera a lei como base de condições</a:t>
            </a:r>
            <a:r>
              <a:rPr b="0" lang="en-US" sz="2200">
                <a:solidFill>
                  <a:srgbClr val="22332B"/>
                </a:solidFill>
                <a:latin typeface="Calibri"/>
                <a:ea typeface="Calibri"/>
                <a:cs typeface="Calibri"/>
                <a:sym typeface="Calibri"/>
              </a:rPr>
              <a:t> usada para resolver o TDSP na literatura, </a:t>
            </a:r>
            <a:r>
              <a:rPr b="1" lang="en-US" sz="2200">
                <a:solidFill>
                  <a:srgbClr val="33291F"/>
                </a:solidFill>
                <a:latin typeface="Calibri"/>
                <a:ea typeface="Calibri"/>
                <a:cs typeface="Calibri"/>
                <a:sym typeface="Calibri"/>
              </a:rPr>
              <a:t>unida do Planning</a:t>
            </a:r>
            <a:r>
              <a:rPr b="0" lang="en-US" sz="2200">
                <a:solidFill>
                  <a:srgbClr val="22332B"/>
                </a:solidFill>
                <a:latin typeface="Calibri"/>
                <a:ea typeface="Calibri"/>
                <a:cs typeface="Calibri"/>
                <a:sym typeface="Calibri"/>
              </a:rPr>
              <a:t>, facilitando a manutenção da solução para variações das regras.</a:t>
            </a:r>
            <a:endParaRPr b="0" sz="2200">
              <a:solidFill>
                <a:srgbClr val="22332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952500" y="1200150"/>
            <a:ext cx="10287000" cy="247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4A6B5B"/>
                </a:solidFill>
                <a:latin typeface="Calibri"/>
                <a:ea typeface="Calibri"/>
                <a:cs typeface="Calibri"/>
                <a:sym typeface="Calibri"/>
              </a:rPr>
              <a:t>DE FORMA TÉCNICA</a:t>
            </a:r>
            <a:endParaRPr b="1" sz="1300">
              <a:solidFill>
                <a:srgbClr val="4A6B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3"/>
          <p:cNvSpPr/>
          <p:nvPr/>
        </p:nvSpPr>
        <p:spPr>
          <a:xfrm>
            <a:off x="3429000" y="6210300"/>
            <a:ext cx="5334000" cy="381000"/>
          </a:xfrm>
          <a:prstGeom prst="roundRect">
            <a:avLst>
              <a:gd fmla="val 20000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9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TDSP: “Truck Driver Scheduling Problem”</a:t>
            </a:r>
            <a:endParaRPr b="1" sz="1900">
              <a:solidFill>
                <a:srgbClr val="B35C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3"/>
          <p:cNvSpPr txBox="1"/>
          <p:nvPr>
            <p:ph idx="12" type="sldNum"/>
          </p:nvPr>
        </p:nvSpPr>
        <p:spPr>
          <a:xfrm>
            <a:off x="11384280" y="6338499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3" name="Google Shape;143;p23"/>
          <p:cNvGrpSpPr/>
          <p:nvPr/>
        </p:nvGrpSpPr>
        <p:grpSpPr>
          <a:xfrm>
            <a:off x="685800" y="6286500"/>
            <a:ext cx="2381400" cy="266700"/>
            <a:chOff x="0" y="0"/>
            <a:chExt cx="2381400" cy="266700"/>
          </a:xfrm>
        </p:grpSpPr>
        <p:sp>
          <p:nvSpPr>
            <p:cNvPr id="144" name="Google Shape;144;p23"/>
            <p:cNvSpPr/>
            <p:nvPr/>
          </p:nvSpPr>
          <p:spPr>
            <a:xfrm>
              <a:off x="0" y="0"/>
              <a:ext cx="23814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23"/>
            <p:cNvSpPr txBox="1"/>
            <p:nvPr/>
          </p:nvSpPr>
          <p:spPr>
            <a:xfrm>
              <a:off x="0" y="0"/>
              <a:ext cx="23814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000">
                  <a:solidFill>
                    <a:srgbClr val="8A7A67"/>
                  </a:solidFill>
                  <a:latin typeface="Calibri"/>
                  <a:ea typeface="Calibri"/>
                  <a:cs typeface="Calibri"/>
                  <a:sym typeface="Calibri"/>
                </a:rPr>
                <a:t>INF99003 · Ciclo 2 · Grupo B</a:t>
              </a:r>
              <a:endParaRPr sz="1000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p23"/>
          <p:cNvSpPr txBox="1"/>
          <p:nvPr/>
        </p:nvSpPr>
        <p:spPr>
          <a:xfrm>
            <a:off x="685800" y="400050"/>
            <a:ext cx="10820400" cy="476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96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REVISÃO DE LITERATURA - INOVAÇÃO</a:t>
            </a:r>
            <a:endParaRPr b="1" sz="296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4"/>
          <p:cNvSpPr txBox="1"/>
          <p:nvPr/>
        </p:nvSpPr>
        <p:spPr>
          <a:xfrm>
            <a:off x="685800" y="6327648"/>
            <a:ext cx="45720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45700" lIns="91400" spcFirstLastPara="1" rIns="9140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INF99003 · Ciclo 2 · Grupo B</a:t>
            </a:r>
            <a:endParaRPr b="0" i="0" sz="1100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4"/>
          <p:cNvSpPr/>
          <p:nvPr/>
        </p:nvSpPr>
        <p:spPr>
          <a:xfrm>
            <a:off x="685800" y="1143057"/>
            <a:ext cx="3333900" cy="3314700"/>
          </a:xfrm>
          <a:prstGeom prst="roundRect">
            <a:avLst>
              <a:gd fmla="val 4307" name="adj"/>
            </a:avLst>
          </a:prstGeom>
          <a:solidFill>
            <a:srgbClr val="FFFDF8"/>
          </a:solidFill>
          <a:ln cap="flat" cmpd="sng" w="143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4"/>
          <p:cNvSpPr/>
          <p:nvPr/>
        </p:nvSpPr>
        <p:spPr>
          <a:xfrm>
            <a:off x="2143125" y="1408216"/>
            <a:ext cx="419100" cy="448800"/>
          </a:xfrm>
          <a:prstGeom prst="ellipse">
            <a:avLst/>
          </a:prstGeom>
          <a:solidFill>
            <a:srgbClr val="B35C38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4"/>
          <p:cNvSpPr txBox="1"/>
          <p:nvPr/>
        </p:nvSpPr>
        <p:spPr>
          <a:xfrm>
            <a:off x="685800" y="1408214"/>
            <a:ext cx="3333900" cy="44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1" i="0" sz="1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4"/>
          <p:cNvSpPr txBox="1"/>
          <p:nvPr/>
        </p:nvSpPr>
        <p:spPr>
          <a:xfrm>
            <a:off x="914400" y="2040522"/>
            <a:ext cx="2876700" cy="219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rPr>
              <a:t>Seleção</a:t>
            </a:r>
            <a:endParaRPr b="1" i="0" sz="2300">
              <a:solidFill>
                <a:srgbClr val="B35C38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i="1" lang="en-US" sz="1900">
                <a:solidFill>
                  <a:srgbClr val="5C4F41"/>
                </a:solidFill>
                <a:latin typeface="Cambria"/>
                <a:ea typeface="Cambria"/>
                <a:cs typeface="Cambria"/>
                <a:sym typeface="Cambria"/>
              </a:rPr>
              <a:t>Quem entra no turno</a:t>
            </a:r>
            <a:endParaRPr b="1" i="0" sz="1900">
              <a:solidFill>
                <a:srgbClr val="B35C38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i="0" lang="en-US" sz="19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Prioridade clínica e atraso em relação ao intervalo máximo, sob orçamento de tempo.</a:t>
            </a:r>
            <a:endParaRPr b="1" i="0" sz="1900">
              <a:solidFill>
                <a:srgbClr val="B35C38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57" name="Google Shape;157;p24"/>
          <p:cNvSpPr/>
          <p:nvPr/>
        </p:nvSpPr>
        <p:spPr>
          <a:xfrm>
            <a:off x="4076700" y="2734010"/>
            <a:ext cx="285900" cy="122400"/>
          </a:xfrm>
          <a:custGeom>
            <a:rect b="b" l="l" r="r" t="t"/>
            <a:pathLst>
              <a:path extrusionOk="0" h="120000" w="120000">
                <a:moveTo>
                  <a:pt x="0" y="60000"/>
                </a:moveTo>
                <a:lnTo>
                  <a:pt x="120000" y="60000"/>
                </a:lnTo>
                <a:moveTo>
                  <a:pt x="92000" y="0"/>
                </a:moveTo>
                <a:lnTo>
                  <a:pt x="120000" y="60000"/>
                </a:lnTo>
                <a:lnTo>
                  <a:pt x="9200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28575">
            <a:solidFill>
              <a:srgbClr val="B35C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8" name="Google Shape;158;p24"/>
          <p:cNvGrpSpPr/>
          <p:nvPr/>
        </p:nvGrpSpPr>
        <p:grpSpPr>
          <a:xfrm>
            <a:off x="4429125" y="1143057"/>
            <a:ext cx="3333900" cy="3314566"/>
            <a:chOff x="0" y="0"/>
            <a:chExt cx="3333900" cy="3095700"/>
          </a:xfrm>
        </p:grpSpPr>
        <p:sp>
          <p:nvSpPr>
            <p:cNvPr id="159" name="Google Shape;159;p24"/>
            <p:cNvSpPr/>
            <p:nvPr/>
          </p:nvSpPr>
          <p:spPr>
            <a:xfrm>
              <a:off x="0" y="0"/>
              <a:ext cx="3333900" cy="3095700"/>
            </a:xfrm>
            <a:prstGeom prst="roundRect">
              <a:avLst>
                <a:gd fmla="val 4307" name="adj"/>
              </a:avLst>
            </a:prstGeom>
            <a:solidFill>
              <a:srgbClr val="FFFDF8"/>
            </a:solidFill>
            <a:ln cap="flat" cmpd="sng" w="14300">
              <a:solidFill>
                <a:srgbClr val="E6DCC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24"/>
            <p:cNvSpPr/>
            <p:nvPr/>
          </p:nvSpPr>
          <p:spPr>
            <a:xfrm>
              <a:off x="1457325" y="247650"/>
              <a:ext cx="419100" cy="419100"/>
            </a:xfrm>
            <a:prstGeom prst="ellipse">
              <a:avLst/>
            </a:prstGeom>
            <a:solidFill>
              <a:srgbClr val="B35C38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24"/>
            <p:cNvSpPr txBox="1"/>
            <p:nvPr/>
          </p:nvSpPr>
          <p:spPr>
            <a:xfrm>
              <a:off x="0" y="247650"/>
              <a:ext cx="3333900" cy="4191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7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b="1" i="0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24"/>
            <p:cNvSpPr txBox="1"/>
            <p:nvPr/>
          </p:nvSpPr>
          <p:spPr>
            <a:xfrm>
              <a:off x="228600" y="838200"/>
              <a:ext cx="2876700" cy="20478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2300">
                  <a:solidFill>
                    <a:srgbClr val="B35C38"/>
                  </a:solidFill>
                  <a:latin typeface="Cambria"/>
                  <a:ea typeface="Cambria"/>
                  <a:cs typeface="Cambria"/>
                  <a:sym typeface="Cambria"/>
                </a:rPr>
                <a:t>Roteamento</a:t>
              </a:r>
              <a:endParaRPr b="1" i="0" sz="2300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ctr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i="1" lang="en-US" sz="1900">
                  <a:solidFill>
                    <a:srgbClr val="5C4F41"/>
                  </a:solidFill>
                  <a:latin typeface="Cambria"/>
                  <a:ea typeface="Cambria"/>
                  <a:cs typeface="Cambria"/>
                  <a:sym typeface="Cambria"/>
                </a:rPr>
                <a:t>Em que ordem visitar</a:t>
              </a:r>
              <a:endParaRPr b="1" i="0" sz="1900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0" i="0" lang="en-US" sz="190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Heurística de grafos sobre a matriz de distâncias. Entrega a rota e o custo de desviar até a unidade. Usamos AG.</a:t>
              </a:r>
              <a:endParaRPr b="1" i="0" sz="1900">
                <a:solidFill>
                  <a:srgbClr val="B35C38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sp>
        <p:nvSpPr>
          <p:cNvPr id="163" name="Google Shape;163;p24"/>
          <p:cNvSpPr/>
          <p:nvPr/>
        </p:nvSpPr>
        <p:spPr>
          <a:xfrm>
            <a:off x="7820025" y="2734010"/>
            <a:ext cx="285900" cy="122400"/>
          </a:xfrm>
          <a:custGeom>
            <a:rect b="b" l="l" r="r" t="t"/>
            <a:pathLst>
              <a:path extrusionOk="0" h="120000" w="120000">
                <a:moveTo>
                  <a:pt x="0" y="60000"/>
                </a:moveTo>
                <a:lnTo>
                  <a:pt x="120000" y="60000"/>
                </a:lnTo>
                <a:moveTo>
                  <a:pt x="92000" y="0"/>
                </a:moveTo>
                <a:lnTo>
                  <a:pt x="120000" y="60000"/>
                </a:lnTo>
                <a:lnTo>
                  <a:pt x="92000" y="120000"/>
                </a:lnTo>
              </a:path>
            </a:pathLst>
          </a:custGeom>
          <a:solidFill>
            <a:srgbClr val="000000">
              <a:alpha val="0"/>
            </a:srgbClr>
          </a:solidFill>
          <a:ln cap="rnd" cmpd="sng" w="28575">
            <a:solidFill>
              <a:srgbClr val="4A6B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4"/>
          <p:cNvSpPr/>
          <p:nvPr/>
        </p:nvSpPr>
        <p:spPr>
          <a:xfrm>
            <a:off x="8172450" y="1143057"/>
            <a:ext cx="3333900" cy="3314700"/>
          </a:xfrm>
          <a:prstGeom prst="roundRect">
            <a:avLst>
              <a:gd fmla="val 4307" name="adj"/>
            </a:avLst>
          </a:prstGeom>
          <a:solidFill>
            <a:srgbClr val="FFFDF8"/>
          </a:solidFill>
          <a:ln cap="flat" cmpd="sng" w="143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4"/>
          <p:cNvSpPr/>
          <p:nvPr/>
        </p:nvSpPr>
        <p:spPr>
          <a:xfrm>
            <a:off x="9629775" y="1408216"/>
            <a:ext cx="419100" cy="448800"/>
          </a:xfrm>
          <a:prstGeom prst="ellipse">
            <a:avLst/>
          </a:prstGeom>
          <a:solidFill>
            <a:srgbClr val="4A6B5B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24"/>
          <p:cNvSpPr txBox="1"/>
          <p:nvPr/>
        </p:nvSpPr>
        <p:spPr>
          <a:xfrm>
            <a:off x="8172450" y="1408216"/>
            <a:ext cx="3333900" cy="448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1" i="0" sz="17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4"/>
          <p:cNvSpPr txBox="1"/>
          <p:nvPr/>
        </p:nvSpPr>
        <p:spPr>
          <a:xfrm>
            <a:off x="8401050" y="2040525"/>
            <a:ext cx="2983200" cy="2192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00">
                <a:solidFill>
                  <a:srgbClr val="4A6B5B"/>
                </a:solidFill>
                <a:latin typeface="Cambria"/>
                <a:ea typeface="Cambria"/>
                <a:cs typeface="Cambria"/>
                <a:sym typeface="Cambria"/>
              </a:rPr>
              <a:t>Planejamento</a:t>
            </a:r>
            <a:endParaRPr b="1" i="0" sz="2300">
              <a:solidFill>
                <a:srgbClr val="4A6B5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b="0" i="1" lang="en-US" sz="1900">
                <a:solidFill>
                  <a:srgbClr val="5C4F41"/>
                </a:solidFill>
                <a:latin typeface="Cambria"/>
                <a:ea typeface="Cambria"/>
                <a:cs typeface="Cambria"/>
                <a:sym typeface="Cambria"/>
              </a:rPr>
              <a:t>O que fazer em cada parada</a:t>
            </a:r>
            <a:endParaRPr b="1" i="0" sz="1900">
              <a:solidFill>
                <a:srgbClr val="4A6B5B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i="0" lang="en-US" sz="19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Domínio PDDL com as condições legais e os recursos finitos. Decide as ações e os desvios de reposição.</a:t>
            </a:r>
            <a:endParaRPr b="1" i="0" sz="1900">
              <a:solidFill>
                <a:srgbClr val="4A6B5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68" name="Google Shape;168;p24"/>
          <p:cNvSpPr/>
          <p:nvPr/>
        </p:nvSpPr>
        <p:spPr>
          <a:xfrm>
            <a:off x="685800" y="4699992"/>
            <a:ext cx="10820400" cy="1086900"/>
          </a:xfrm>
          <a:prstGeom prst="roundRect">
            <a:avLst>
              <a:gd fmla="val 8750" name="adj"/>
            </a:avLst>
          </a:prstGeom>
          <a:solidFill>
            <a:srgbClr val="DDE7E0"/>
          </a:solidFill>
          <a:ln cap="flat" cmpd="sng" w="9525">
            <a:solidFill>
              <a:srgbClr val="C4D7C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9" name="Google Shape;169;p24"/>
          <p:cNvGrpSpPr/>
          <p:nvPr/>
        </p:nvGrpSpPr>
        <p:grpSpPr>
          <a:xfrm>
            <a:off x="948819" y="5018033"/>
            <a:ext cx="365700" cy="437100"/>
            <a:chOff x="948819" y="4733519"/>
            <a:chExt cx="365700" cy="437100"/>
          </a:xfrm>
        </p:grpSpPr>
        <p:sp>
          <p:nvSpPr>
            <p:cNvPr id="170" name="Google Shape;170;p24"/>
            <p:cNvSpPr/>
            <p:nvPr/>
          </p:nvSpPr>
          <p:spPr>
            <a:xfrm>
              <a:off x="988568" y="4733519"/>
              <a:ext cx="286200" cy="437100"/>
            </a:xfrm>
            <a:prstGeom prst="roundRect">
              <a:avLst>
                <a:gd fmla="val 21428" name="adj"/>
              </a:avLst>
            </a:prstGeom>
            <a:solidFill>
              <a:srgbClr val="4A6B5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24"/>
            <p:cNvSpPr txBox="1"/>
            <p:nvPr/>
          </p:nvSpPr>
          <p:spPr>
            <a:xfrm>
              <a:off x="948819" y="4831251"/>
              <a:ext cx="365700" cy="266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80">
                  <a:solidFill>
                    <a:srgbClr val="FFFFFF"/>
                  </a:solidFill>
                  <a:latin typeface="Lemonada"/>
                  <a:ea typeface="Lemonada"/>
                  <a:cs typeface="Lemonada"/>
                  <a:sym typeface="Lemonada"/>
                </a:rPr>
                <a:t>!</a:t>
              </a:r>
              <a:endParaRPr b="1" i="0" sz="1680">
                <a:solidFill>
                  <a:srgbClr val="FFFFFF"/>
                </a:solidFill>
                <a:latin typeface="Lemonada"/>
                <a:ea typeface="Lemonada"/>
                <a:cs typeface="Lemonada"/>
                <a:sym typeface="Lemonada"/>
              </a:endParaRPr>
            </a:p>
          </p:txBody>
        </p:sp>
      </p:grpSp>
      <p:sp>
        <p:nvSpPr>
          <p:cNvPr id="172" name="Google Shape;172;p24"/>
          <p:cNvSpPr txBox="1"/>
          <p:nvPr/>
        </p:nvSpPr>
        <p:spPr>
          <a:xfrm>
            <a:off x="1540726" y="4845996"/>
            <a:ext cx="9765000" cy="781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>
                <a:solidFill>
                  <a:srgbClr val="22332B"/>
                </a:solidFill>
                <a:latin typeface="Cambria"/>
                <a:ea typeface="Cambria"/>
                <a:cs typeface="Cambria"/>
                <a:sym typeface="Cambria"/>
              </a:rPr>
              <a:t>A camada 3 nunca escolhe a rota, ela só anda pelas arestas que a camada 2 autorizou. </a:t>
            </a:r>
            <a:r>
              <a:rPr b="1" i="0" lang="en-US" sz="2200">
                <a:solidFill>
                  <a:srgbClr val="22332B"/>
                </a:solidFill>
                <a:latin typeface="Cambria"/>
                <a:ea typeface="Cambria"/>
                <a:cs typeface="Cambria"/>
                <a:sym typeface="Cambria"/>
              </a:rPr>
              <a:t>Por isso trocar o roteirizador não muda uma linha do domínio</a:t>
            </a:r>
            <a:r>
              <a:rPr b="0" i="0" lang="en-US" sz="2200">
                <a:solidFill>
                  <a:srgbClr val="22332B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b="0" i="0" sz="2200">
              <a:solidFill>
                <a:srgbClr val="22332B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73" name="Google Shape;173;p24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4"/>
          <p:cNvSpPr txBox="1"/>
          <p:nvPr/>
        </p:nvSpPr>
        <p:spPr>
          <a:xfrm>
            <a:off x="381000" y="296300"/>
            <a:ext cx="11664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METODOLOGIA - PIPELINE</a:t>
            </a:r>
            <a:endParaRPr b="1" sz="36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/>
          <p:nvPr/>
        </p:nvSpPr>
        <p:spPr>
          <a:xfrm>
            <a:off x="685800" y="1143000"/>
            <a:ext cx="10820400" cy="1809600"/>
          </a:xfrm>
          <a:prstGeom prst="roundRect">
            <a:avLst>
              <a:gd fmla="val 8421" name="adj"/>
            </a:avLst>
          </a:prstGeom>
          <a:solidFill>
            <a:srgbClr val="F3DFD3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5"/>
          <p:cNvSpPr txBox="1"/>
          <p:nvPr/>
        </p:nvSpPr>
        <p:spPr>
          <a:xfrm>
            <a:off x="1114350" y="1333350"/>
            <a:ext cx="9963300" cy="1428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“A representação declarativa das condições legais reduzirá a ocorrência de falsos negativos, ou seja, turnos classificados como inexequíveis quando existe sequência válida.”</a:t>
            </a:r>
            <a:endParaRPr i="1" sz="24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2" name="Google Shape;182;p25"/>
          <p:cNvSpPr/>
          <p:nvPr/>
        </p:nvSpPr>
        <p:spPr>
          <a:xfrm>
            <a:off x="685800" y="3238500"/>
            <a:ext cx="5219700" cy="2762400"/>
          </a:xfrm>
          <a:prstGeom prst="roundRect">
            <a:avLst>
              <a:gd fmla="val 5517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5"/>
          <p:cNvSpPr txBox="1"/>
          <p:nvPr/>
        </p:nvSpPr>
        <p:spPr>
          <a:xfrm>
            <a:off x="990600" y="3569460"/>
            <a:ext cx="461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SE ESTIVERMOS ERRADOS, CAMINHO 1</a:t>
            </a:r>
            <a:endParaRPr b="1" i="0" sz="1700">
              <a:solidFill>
                <a:srgbClr val="B35C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5"/>
          <p:cNvSpPr txBox="1"/>
          <p:nvPr/>
        </p:nvSpPr>
        <p:spPr>
          <a:xfrm>
            <a:off x="990600" y="4048626"/>
            <a:ext cx="4610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 planejador é redundante</a:t>
            </a:r>
            <a:endParaRPr b="1" i="0" sz="26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5" name="Google Shape;185;p25"/>
          <p:cNvSpPr txBox="1"/>
          <p:nvPr/>
        </p:nvSpPr>
        <p:spPr>
          <a:xfrm>
            <a:off x="990600" y="4620126"/>
            <a:ext cx="46101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Um executor procedural simples alcança desempenho equivalente.</a:t>
            </a:r>
            <a:endParaRPr b="0" i="0" sz="22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5"/>
          <p:cNvSpPr/>
          <p:nvPr/>
        </p:nvSpPr>
        <p:spPr>
          <a:xfrm>
            <a:off x="6286500" y="3238500"/>
            <a:ext cx="5219700" cy="2762400"/>
          </a:xfrm>
          <a:prstGeom prst="roundRect">
            <a:avLst>
              <a:gd fmla="val 5517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25"/>
          <p:cNvSpPr txBox="1"/>
          <p:nvPr/>
        </p:nvSpPr>
        <p:spPr>
          <a:xfrm>
            <a:off x="6591300" y="3588753"/>
            <a:ext cx="4610100" cy="266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SE ESTIVERMOS ERRADOS, CAMINHO 2</a:t>
            </a:r>
            <a:endParaRPr b="1" i="0" sz="1700">
              <a:solidFill>
                <a:srgbClr val="B35C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5"/>
          <p:cNvSpPr txBox="1"/>
          <p:nvPr/>
        </p:nvSpPr>
        <p:spPr>
          <a:xfrm>
            <a:off x="6591300" y="4065337"/>
            <a:ext cx="4610100" cy="457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 planejador não escala</a:t>
            </a:r>
            <a:endParaRPr b="1" i="0" sz="26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189" name="Google Shape;189;p25"/>
          <p:cNvSpPr txBox="1"/>
          <p:nvPr/>
        </p:nvSpPr>
        <p:spPr>
          <a:xfrm>
            <a:off x="6591300" y="4653547"/>
            <a:ext cx="46101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 custo da busca cresce a ponto de inviabilizar microáreas reais.</a:t>
            </a:r>
            <a:endParaRPr b="0" i="0" sz="22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5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5"/>
          <p:cNvSpPr txBox="1"/>
          <p:nvPr/>
        </p:nvSpPr>
        <p:spPr>
          <a:xfrm>
            <a:off x="381000" y="296300"/>
            <a:ext cx="11664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HIPÓTESE</a:t>
            </a:r>
            <a:endParaRPr b="1" sz="3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6"/>
          <p:cNvSpPr/>
          <p:nvPr/>
        </p:nvSpPr>
        <p:spPr>
          <a:xfrm>
            <a:off x="294000" y="1045321"/>
            <a:ext cx="3714000" cy="4386300"/>
          </a:xfrm>
          <a:prstGeom prst="roundRect">
            <a:avLst>
              <a:gd fmla="val 3611" name="adj"/>
            </a:avLst>
          </a:prstGeom>
          <a:solidFill>
            <a:srgbClr val="F3DFD3"/>
          </a:solidFill>
          <a:ln cap="flat" cmpd="sng" w="12700">
            <a:solidFill>
              <a:srgbClr val="E9CF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26"/>
          <p:cNvSpPr txBox="1"/>
          <p:nvPr/>
        </p:nvSpPr>
        <p:spPr>
          <a:xfrm>
            <a:off x="380997" y="1116370"/>
            <a:ext cx="296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200"/>
              <a:buFont typeface="Calibri"/>
              <a:buNone/>
            </a:pPr>
            <a:r>
              <a:rPr b="1" lang="en-US" spc="120" sz="16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FALSO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6"/>
          <p:cNvSpPr txBox="1"/>
          <p:nvPr/>
        </p:nvSpPr>
        <p:spPr>
          <a:xfrm>
            <a:off x="365401" y="1417850"/>
            <a:ext cx="3571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2000"/>
              <a:buFont typeface="Cambria"/>
              <a:buNone/>
            </a:pPr>
            <a:r>
              <a:rPr b="1" i="0" lang="en-US" sz="27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“Achamos planos que um programa não acharia”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6"/>
          <p:cNvSpPr txBox="1"/>
          <p:nvPr/>
        </p:nvSpPr>
        <p:spPr>
          <a:xfrm>
            <a:off x="612300" y="2995050"/>
            <a:ext cx="3077400" cy="23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700"/>
              <a:buFont typeface="Calibri"/>
              <a:buNone/>
            </a:pPr>
            <a:r>
              <a:rPr b="0" i="0" lang="en-US" sz="21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Uma correção manual de poucas linhas leva o executor procedural de </a:t>
            </a:r>
            <a:r>
              <a:rPr b="1" i="0" lang="en-US" sz="210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22%</a:t>
            </a:r>
            <a:r>
              <a:rPr b="0" i="0" lang="en-US" sz="21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de falsos negativos a </a:t>
            </a:r>
            <a:r>
              <a:rPr b="1" i="0" lang="en-US" sz="2100" u="none" cap="none" strike="noStrike">
                <a:solidFill>
                  <a:srgbClr val="4A6B5B"/>
                </a:solidFill>
                <a:latin typeface="Calibri"/>
                <a:ea typeface="Calibri"/>
                <a:cs typeface="Calibri"/>
                <a:sym typeface="Calibri"/>
              </a:rPr>
              <a:t>0%</a:t>
            </a:r>
            <a:r>
              <a:rPr b="0" i="0" lang="en-US" sz="21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6"/>
          <p:cNvSpPr/>
          <p:nvPr/>
        </p:nvSpPr>
        <p:spPr>
          <a:xfrm>
            <a:off x="4243850" y="1045221"/>
            <a:ext cx="3571200" cy="4386300"/>
          </a:xfrm>
          <a:prstGeom prst="roundRect">
            <a:avLst>
              <a:gd fmla="val 3611" name="adj"/>
            </a:avLst>
          </a:prstGeom>
          <a:solidFill>
            <a:srgbClr val="DDE7E0"/>
          </a:solidFill>
          <a:ln cap="flat" cmpd="sng" w="12700">
            <a:solidFill>
              <a:srgbClr val="E9CF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6"/>
          <p:cNvSpPr txBox="1"/>
          <p:nvPr/>
        </p:nvSpPr>
        <p:spPr>
          <a:xfrm>
            <a:off x="4408213" y="1540688"/>
            <a:ext cx="3242400" cy="9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“O planejador está correto e é válido”</a:t>
            </a:r>
            <a:endParaRPr b="1" sz="27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marR="0" rtl="0" algn="ctr">
              <a:lnSpc>
                <a:spcPct val="105000"/>
              </a:lnSpc>
              <a:spcBef>
                <a:spcPts val="1050"/>
              </a:spcBef>
              <a:spcAft>
                <a:spcPts val="0"/>
              </a:spcAft>
              <a:buClr>
                <a:srgbClr val="33291F"/>
              </a:buClr>
              <a:buSzPts val="2000"/>
              <a:buFont typeface="Cambria"/>
              <a:buNone/>
            </a:pPr>
            <a:r>
              <a:t/>
            </a:r>
            <a:endParaRPr b="1" sz="30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3" name="Google Shape;203;p26"/>
          <p:cNvSpPr txBox="1"/>
          <p:nvPr/>
        </p:nvSpPr>
        <p:spPr>
          <a:xfrm>
            <a:off x="4393550" y="2739888"/>
            <a:ext cx="3370200" cy="27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2000"/>
              <a:buFont typeface="Calibri"/>
              <a:buNone/>
            </a:pPr>
            <a:r>
              <a:rPr lang="en-US" sz="21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Obtivemos</a:t>
            </a:r>
            <a:r>
              <a:rPr lang="en-US" sz="2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lang="en-US" sz="2100">
                <a:solidFill>
                  <a:srgbClr val="4A6B5B"/>
                </a:solidFill>
                <a:latin typeface="Calibri"/>
                <a:ea typeface="Calibri"/>
                <a:cs typeface="Calibri"/>
                <a:sym typeface="Calibri"/>
              </a:rPr>
              <a:t>concordância total sobre viabilidade </a:t>
            </a:r>
            <a:r>
              <a:rPr lang="en-US" sz="2100">
                <a:solidFill>
                  <a:srgbClr val="22332B"/>
                </a:solidFill>
                <a:latin typeface="Calibri"/>
                <a:ea typeface="Calibri"/>
                <a:cs typeface="Calibri"/>
                <a:sym typeface="Calibri"/>
              </a:rPr>
              <a:t>com </a:t>
            </a:r>
            <a:r>
              <a:rPr lang="en-US" sz="21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os mesmos arquivos no </a:t>
            </a:r>
            <a:r>
              <a:rPr b="1" lang="en-US" sz="21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pyperplan</a:t>
            </a:r>
            <a:r>
              <a:rPr lang="en-US" sz="21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. Incluindo os 2 casos inviáveis e o domínio estendido.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6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2000"/>
              </a:lnSpc>
              <a:spcBef>
                <a:spcPts val="1050"/>
              </a:spcBef>
              <a:spcAft>
                <a:spcPts val="0"/>
              </a:spcAft>
              <a:buClr>
                <a:srgbClr val="5C4F41"/>
              </a:buClr>
              <a:buSzPts val="1700"/>
              <a:buFont typeface="Calibri"/>
              <a:buNone/>
            </a:pPr>
            <a:r>
              <a:t/>
            </a:r>
            <a:endParaRPr sz="26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6"/>
          <p:cNvSpPr/>
          <p:nvPr/>
        </p:nvSpPr>
        <p:spPr>
          <a:xfrm>
            <a:off x="8050825" y="1045221"/>
            <a:ext cx="3571200" cy="4386300"/>
          </a:xfrm>
          <a:prstGeom prst="roundRect">
            <a:avLst>
              <a:gd fmla="val 3611" name="adj"/>
            </a:avLst>
          </a:prstGeom>
          <a:solidFill>
            <a:srgbClr val="F3DFD3"/>
          </a:solidFill>
          <a:ln cap="flat" cmpd="sng" w="12700">
            <a:solidFill>
              <a:srgbClr val="E9CF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26"/>
          <p:cNvSpPr txBox="1"/>
          <p:nvPr/>
        </p:nvSpPr>
        <p:spPr>
          <a:xfrm>
            <a:off x="8122300" y="1341891"/>
            <a:ext cx="3370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2000"/>
              <a:buFont typeface="Cambria"/>
              <a:buNone/>
            </a:pPr>
            <a:r>
              <a:rPr b="1" i="0" lang="en-US" sz="27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“</a:t>
            </a:r>
            <a:r>
              <a:rPr b="1" lang="en-US" sz="2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</a:t>
            </a:r>
            <a:r>
              <a:rPr b="1" i="0" lang="en-US" sz="27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planejamento </a:t>
            </a:r>
            <a:r>
              <a:rPr b="1" lang="en-US" sz="2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escala tão bem quanto o guloso”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6"/>
          <p:cNvSpPr txBox="1"/>
          <p:nvPr/>
        </p:nvSpPr>
        <p:spPr>
          <a:xfrm>
            <a:off x="8021134" y="2797511"/>
            <a:ext cx="3571200" cy="21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700"/>
              <a:buFont typeface="Calibri"/>
              <a:buNone/>
            </a:pP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A configuração com </a:t>
            </a:r>
            <a:r>
              <a:rPr b="1" lang="en-US" sz="20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planejamento não cabe num domínio extenso</a:t>
            </a: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(+20 pacientes). Trocar para o </a:t>
            </a:r>
            <a:r>
              <a:rPr b="1" lang="en-US" sz="2000">
                <a:solidFill>
                  <a:srgbClr val="4A6B5B"/>
                </a:solidFill>
                <a:latin typeface="Calibri"/>
                <a:ea typeface="Calibri"/>
                <a:cs typeface="Calibri"/>
                <a:sym typeface="Calibri"/>
              </a:rPr>
              <a:t>guloso permite resolver</a:t>
            </a: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, mesmo que retorne caminhos, em média, 3,5% mais caros.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6"/>
          <p:cNvSpPr/>
          <p:nvPr/>
        </p:nvSpPr>
        <p:spPr>
          <a:xfrm>
            <a:off x="1818400" y="5775975"/>
            <a:ext cx="8421000" cy="724800"/>
          </a:xfrm>
          <a:prstGeom prst="roundRect">
            <a:avLst>
              <a:gd fmla="val 5517" name="adj"/>
            </a:avLst>
          </a:prstGeom>
          <a:solidFill>
            <a:srgbClr val="FFFDF8"/>
          </a:solidFill>
          <a:ln cap="flat" cmpd="sng" w="9525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5400000" dist="25400">
              <a:srgbClr val="33291F">
                <a:alpha val="10200"/>
              </a:srgbClr>
            </a:outerShdw>
          </a:effectLst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B35C3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CONCLUSÃO: </a:t>
            </a:r>
            <a:r>
              <a:rPr b="1" lang="en-US" sz="20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 caminho 1 de erro foi exatamente o que se materializou.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8" name="Google Shape;208;p26"/>
          <p:cNvSpPr txBox="1"/>
          <p:nvPr/>
        </p:nvSpPr>
        <p:spPr>
          <a:xfrm>
            <a:off x="381000" y="296300"/>
            <a:ext cx="11664900" cy="571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RESULTADOS - EXPERIMENTAÇÃO</a:t>
            </a:r>
            <a:endParaRPr b="1" sz="37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209" name="Google Shape;209;p26"/>
          <p:cNvSpPr txBox="1"/>
          <p:nvPr/>
        </p:nvSpPr>
        <p:spPr>
          <a:xfrm>
            <a:off x="4243850" y="1091925"/>
            <a:ext cx="1432500" cy="304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600">
                <a:solidFill>
                  <a:srgbClr val="4A6B5B"/>
                </a:solidFill>
                <a:latin typeface="Calibri"/>
                <a:ea typeface="Calibri"/>
                <a:cs typeface="Calibri"/>
                <a:sym typeface="Calibri"/>
              </a:rPr>
              <a:t>VERDADEIRO</a:t>
            </a:r>
            <a:endParaRPr b="1" i="0" sz="1600">
              <a:solidFill>
                <a:srgbClr val="4A6B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6"/>
          <p:cNvSpPr txBox="1"/>
          <p:nvPr/>
        </p:nvSpPr>
        <p:spPr>
          <a:xfrm>
            <a:off x="8096722" y="1116370"/>
            <a:ext cx="29658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200"/>
              <a:buFont typeface="Calibri"/>
              <a:buNone/>
            </a:pPr>
            <a:r>
              <a:rPr b="1" lang="en-US" spc="120" sz="16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FALSO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6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/>
          <p:nvPr/>
        </p:nvSpPr>
        <p:spPr>
          <a:xfrm>
            <a:off x="566928" y="347472"/>
            <a:ext cx="11055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300"/>
              <a:buFont typeface="Calibri"/>
              <a:buNone/>
            </a:pPr>
            <a:r>
              <a:rPr b="1" i="0" lang="en-US" spc="160" sz="130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PONTO DE PARTIDA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7"/>
          <p:cNvSpPr txBox="1"/>
          <p:nvPr/>
        </p:nvSpPr>
        <p:spPr>
          <a:xfrm>
            <a:off x="566928" y="658368"/>
            <a:ext cx="11055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3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DEMONSTRAÇÃO - </a:t>
            </a:r>
            <a:r>
              <a:rPr b="1" i="0" lang="en-US" sz="37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 microárea inteira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7"/>
          <p:cNvSpPr/>
          <p:nvPr/>
        </p:nvSpPr>
        <p:spPr>
          <a:xfrm>
            <a:off x="512064" y="1517904"/>
            <a:ext cx="6510600" cy="4773300"/>
          </a:xfrm>
          <a:prstGeom prst="roundRect">
            <a:avLst>
              <a:gd fmla="val 1916" name="adj"/>
            </a:avLst>
          </a:prstGeom>
          <a:solidFill>
            <a:srgbClr val="FFFDF8"/>
          </a:solidFill>
          <a:ln cap="flat" cmpd="sng" w="127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presentacao\3\passos\passo0.jpg" id="220" name="Google Shape;22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" y="1572768"/>
            <a:ext cx="6400799" cy="46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7"/>
          <p:cNvSpPr txBox="1"/>
          <p:nvPr/>
        </p:nvSpPr>
        <p:spPr>
          <a:xfrm>
            <a:off x="7379175" y="1572775"/>
            <a:ext cx="4656900" cy="25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937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2600"/>
              <a:buFont typeface="Calibri"/>
              <a:buChar char="●"/>
            </a:pPr>
            <a:r>
              <a:rPr b="1" i="0" lang="en-US" sz="26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12 famílias</a:t>
            </a:r>
            <a:r>
              <a:rPr b="0" i="0" lang="en-US" sz="26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cadastradas na microárea</a:t>
            </a:r>
            <a:endParaRPr sz="26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2600"/>
              <a:buFont typeface="Calibri"/>
              <a:buChar char="●"/>
            </a:pPr>
            <a:r>
              <a:rPr lang="en-US" sz="26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U</a:t>
            </a:r>
            <a:r>
              <a:rPr b="0" i="0" lang="en-US" sz="26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nidade de saúde </a:t>
            </a:r>
            <a:r>
              <a:rPr lang="en-US" sz="26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é</a:t>
            </a:r>
            <a:r>
              <a:rPr b="0" i="0" lang="en-US" sz="26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ponto de partida e de retorno. </a:t>
            </a:r>
            <a:endParaRPr b="0" i="0" sz="2600" u="none" cap="none" strike="noStrike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93700" lvl="0" marL="457200" marR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2600"/>
              <a:buFont typeface="Calibri"/>
              <a:buChar char="●"/>
            </a:pPr>
            <a:r>
              <a:rPr b="0" i="0" lang="en-US" sz="26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Nenhum turno cabe </a:t>
            </a:r>
            <a:r>
              <a:rPr lang="en-US" sz="26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todas as famílias</a:t>
            </a:r>
            <a:r>
              <a:rPr b="0" i="0" lang="en-US" sz="26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7"/>
          <p:cNvSpPr txBox="1"/>
          <p:nvPr/>
        </p:nvSpPr>
        <p:spPr>
          <a:xfrm>
            <a:off x="7379271" y="4506716"/>
            <a:ext cx="212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12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7"/>
          <p:cNvSpPr txBox="1"/>
          <p:nvPr/>
        </p:nvSpPr>
        <p:spPr>
          <a:xfrm>
            <a:off x="7379208" y="4899922"/>
            <a:ext cx="2121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0" i="0" lang="en-US" spc="70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FAMÍLIAS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7"/>
          <p:cNvSpPr txBox="1"/>
          <p:nvPr/>
        </p:nvSpPr>
        <p:spPr>
          <a:xfrm>
            <a:off x="9500616" y="4506704"/>
            <a:ext cx="212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7"/>
          <p:cNvSpPr txBox="1"/>
          <p:nvPr/>
        </p:nvSpPr>
        <p:spPr>
          <a:xfrm>
            <a:off x="9500616" y="4899922"/>
            <a:ext cx="2121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1" i="0" lang="en-US" spc="70" sz="1200" u="none" cap="none" strike="noStrike">
                <a:solidFill>
                  <a:srgbClr val="980000"/>
                </a:solidFill>
                <a:highlight>
                  <a:srgbClr val="F4CCCC"/>
                </a:highlight>
                <a:latin typeface="Calibri"/>
                <a:ea typeface="Calibri"/>
                <a:cs typeface="Calibri"/>
                <a:sym typeface="Calibri"/>
              </a:rPr>
              <a:t>URGÊNCIA ALTA</a:t>
            </a:r>
            <a:endParaRPr b="1" i="0" sz="1200" u="none" cap="none" strike="noStrike">
              <a:solidFill>
                <a:srgbClr val="980000"/>
              </a:solidFill>
              <a:highlight>
                <a:srgbClr val="F4CCC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6" name="Google Shape;226;p27"/>
          <p:cNvCxnSpPr/>
          <p:nvPr/>
        </p:nvCxnSpPr>
        <p:spPr>
          <a:xfrm>
            <a:off x="7379208" y="5320546"/>
            <a:ext cx="4242900" cy="0"/>
          </a:xfrm>
          <a:prstGeom prst="straightConnector1">
            <a:avLst/>
          </a:prstGeom>
          <a:noFill/>
          <a:ln cap="flat" cmpd="sng" w="127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7" name="Google Shape;227;p27"/>
          <p:cNvSpPr txBox="1"/>
          <p:nvPr/>
        </p:nvSpPr>
        <p:spPr>
          <a:xfrm>
            <a:off x="7379208" y="5522976"/>
            <a:ext cx="4242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b="0" i="0" lang="en-US" sz="16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 cor do pino é a urgência: </a:t>
            </a:r>
            <a:r>
              <a:rPr lang="en-US" sz="1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vermelho </a:t>
            </a:r>
            <a:r>
              <a:rPr b="0" i="0" lang="en-US" sz="16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é alta, </a:t>
            </a:r>
            <a:r>
              <a:rPr lang="en-US" sz="16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amarelo </a:t>
            </a:r>
            <a:r>
              <a:rPr b="0" i="0" lang="en-US" sz="16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é média, verde é baixa.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7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8"/>
          <p:cNvSpPr txBox="1"/>
          <p:nvPr/>
        </p:nvSpPr>
        <p:spPr>
          <a:xfrm>
            <a:off x="566928" y="347472"/>
            <a:ext cx="11055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300"/>
              <a:buFont typeface="Calibri"/>
              <a:buNone/>
            </a:pPr>
            <a:r>
              <a:rPr b="1" i="0" lang="en-US" spc="160" sz="130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DEMONSTRAÇÃO · PASSO 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8"/>
          <p:cNvSpPr txBox="1"/>
          <p:nvPr/>
        </p:nvSpPr>
        <p:spPr>
          <a:xfrm>
            <a:off x="566928" y="658368"/>
            <a:ext cx="11055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3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DEMONSTRAÇÃO - </a:t>
            </a:r>
            <a:r>
              <a:rPr b="1" i="0" lang="en-US" sz="37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Seleção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8"/>
          <p:cNvSpPr/>
          <p:nvPr/>
        </p:nvSpPr>
        <p:spPr>
          <a:xfrm>
            <a:off x="512064" y="1517904"/>
            <a:ext cx="6510600" cy="4773300"/>
          </a:xfrm>
          <a:prstGeom prst="roundRect">
            <a:avLst>
              <a:gd fmla="val 1916" name="adj"/>
            </a:avLst>
          </a:prstGeom>
          <a:solidFill>
            <a:srgbClr val="FFFDF8"/>
          </a:solidFill>
          <a:ln cap="flat" cmpd="sng" w="127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presentacao\3\passos\passo1.jpg" id="237" name="Google Shape;23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" y="1572768"/>
            <a:ext cx="6400799" cy="46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8"/>
          <p:cNvSpPr txBox="1"/>
          <p:nvPr/>
        </p:nvSpPr>
        <p:spPr>
          <a:xfrm>
            <a:off x="7379158" y="1389890"/>
            <a:ext cx="42429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700"/>
              <a:buFont typeface="Calibri"/>
              <a:buNone/>
            </a:pPr>
            <a:r>
              <a:rPr b="0" i="0" lang="en-US" sz="24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A </a:t>
            </a:r>
            <a:r>
              <a:rPr lang="en-US" sz="24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ordenação dos atendimentos prioriza </a:t>
            </a:r>
            <a:r>
              <a:rPr b="1" lang="en-US" sz="24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urgência </a:t>
            </a:r>
            <a:r>
              <a:rPr b="1" i="0" lang="en-US" sz="24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clínica </a:t>
            </a:r>
            <a:r>
              <a:rPr b="0" i="0" lang="en-US" sz="24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e </a:t>
            </a:r>
            <a:r>
              <a:rPr lang="en-US" sz="24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 </a:t>
            </a:r>
            <a:r>
              <a:rPr b="0" i="0" lang="en-US" sz="24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atraso em relação ao </a:t>
            </a:r>
            <a:r>
              <a:rPr b="1" i="0" lang="en-US" sz="24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intervalo máximo</a:t>
            </a:r>
            <a:r>
              <a:rPr lang="en-US" sz="24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, respeitando o limite de</a:t>
            </a:r>
            <a:r>
              <a:rPr b="0" i="0" lang="en-US" sz="24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240 minutos. </a:t>
            </a:r>
            <a:endParaRPr b="0" i="0" sz="2400" u="none" cap="none" strike="noStrike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700"/>
              <a:buFont typeface="Calibri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8"/>
          <p:cNvSpPr txBox="1"/>
          <p:nvPr/>
        </p:nvSpPr>
        <p:spPr>
          <a:xfrm>
            <a:off x="7379196" y="3795079"/>
            <a:ext cx="212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8"/>
          <p:cNvSpPr txBox="1"/>
          <p:nvPr/>
        </p:nvSpPr>
        <p:spPr>
          <a:xfrm>
            <a:off x="7379196" y="4289736"/>
            <a:ext cx="2121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0" i="0" lang="en-US" spc="70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NO TURNO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8"/>
          <p:cNvSpPr txBox="1"/>
          <p:nvPr/>
        </p:nvSpPr>
        <p:spPr>
          <a:xfrm>
            <a:off x="9500604" y="3795079"/>
            <a:ext cx="212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8"/>
          <p:cNvSpPr txBox="1"/>
          <p:nvPr/>
        </p:nvSpPr>
        <p:spPr>
          <a:xfrm>
            <a:off x="9500604" y="4289736"/>
            <a:ext cx="2121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0" i="0" lang="en-US" spc="70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ADIADOS (saem do mapa)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3" name="Google Shape;243;p28"/>
          <p:cNvCxnSpPr/>
          <p:nvPr/>
        </p:nvCxnSpPr>
        <p:spPr>
          <a:xfrm>
            <a:off x="7379196" y="4710360"/>
            <a:ext cx="4242900" cy="0"/>
          </a:xfrm>
          <a:prstGeom prst="straightConnector1">
            <a:avLst/>
          </a:prstGeom>
          <a:noFill/>
          <a:ln cap="flat" cmpd="sng" w="127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4" name="Google Shape;244;p28"/>
          <p:cNvSpPr txBox="1"/>
          <p:nvPr/>
        </p:nvSpPr>
        <p:spPr>
          <a:xfrm>
            <a:off x="7379146" y="5080089"/>
            <a:ext cx="4242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lang="en-US" sz="1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* </a:t>
            </a:r>
            <a:r>
              <a:rPr b="0" i="0" lang="en-US" sz="17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Esta camada ainda não sabe nada sobre a lei. Ela só escolhe com base em regras arbitrárias.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8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9"/>
          <p:cNvSpPr txBox="1"/>
          <p:nvPr/>
        </p:nvSpPr>
        <p:spPr>
          <a:xfrm>
            <a:off x="566928" y="347472"/>
            <a:ext cx="11055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300"/>
              <a:buFont typeface="Calibri"/>
              <a:buNone/>
            </a:pPr>
            <a:r>
              <a:rPr b="1" i="0" lang="en-US" spc="160" sz="130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DEMONSTRAÇÃO · PASSO 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9"/>
          <p:cNvSpPr txBox="1"/>
          <p:nvPr/>
        </p:nvSpPr>
        <p:spPr>
          <a:xfrm>
            <a:off x="566928" y="658368"/>
            <a:ext cx="11055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3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DEMONSTRAÇÃO - </a:t>
            </a:r>
            <a:r>
              <a:rPr b="1" i="0" lang="en-US" sz="34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Roteamento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9"/>
          <p:cNvSpPr/>
          <p:nvPr/>
        </p:nvSpPr>
        <p:spPr>
          <a:xfrm>
            <a:off x="512064" y="1517904"/>
            <a:ext cx="6510600" cy="4773300"/>
          </a:xfrm>
          <a:prstGeom prst="roundRect">
            <a:avLst>
              <a:gd fmla="val 1916" name="adj"/>
            </a:avLst>
          </a:prstGeom>
          <a:solidFill>
            <a:srgbClr val="FFFDF8"/>
          </a:solidFill>
          <a:ln cap="flat" cmpd="sng" w="127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presentacao\3\passos\passo2.jpg" id="254" name="Google Shape;25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" y="1572768"/>
            <a:ext cx="6400799" cy="46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9"/>
          <p:cNvSpPr txBox="1"/>
          <p:nvPr/>
        </p:nvSpPr>
        <p:spPr>
          <a:xfrm>
            <a:off x="7379200" y="1486002"/>
            <a:ext cx="4242900" cy="280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700"/>
              <a:buFont typeface="Calibri"/>
              <a:buNone/>
            </a:pPr>
            <a:r>
              <a:rPr b="0" i="0" lang="en-US" sz="22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A camada geométrica devolve uma sequência de paradas com 94 minutos de caminhada. </a:t>
            </a:r>
            <a:endParaRPr b="0" i="0" sz="2200" u="none" cap="none" strike="noStrike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700"/>
              <a:buFont typeface="Calibri"/>
              <a:buNone/>
            </a:pPr>
            <a:r>
              <a:rPr b="0" i="0" lang="en-US" sz="22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Ela </a:t>
            </a:r>
            <a:r>
              <a:rPr b="1" i="0" lang="en-US" sz="22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otimiza somente distância</a:t>
            </a:r>
            <a:r>
              <a:rPr lang="en-US" sz="22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22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2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0" i="0" lang="en-US" sz="22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ão sabe </a:t>
            </a:r>
            <a:r>
              <a:rPr lang="en-US" sz="22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exigencias da lei, </a:t>
            </a:r>
            <a:r>
              <a:rPr b="0" i="0" lang="en-US" sz="22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nem </a:t>
            </a:r>
            <a:r>
              <a:rPr lang="en-US" sz="22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os níveis de urgência das casas.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9"/>
          <p:cNvSpPr txBox="1"/>
          <p:nvPr/>
        </p:nvSpPr>
        <p:spPr>
          <a:xfrm>
            <a:off x="7379208" y="4167140"/>
            <a:ext cx="4242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94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9"/>
          <p:cNvSpPr txBox="1"/>
          <p:nvPr/>
        </p:nvSpPr>
        <p:spPr>
          <a:xfrm>
            <a:off x="7379208" y="4565078"/>
            <a:ext cx="4242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0" i="0" lang="en-US" spc="70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MIN DE CAMINHADA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8" name="Google Shape;258;p29"/>
          <p:cNvCxnSpPr/>
          <p:nvPr/>
        </p:nvCxnSpPr>
        <p:spPr>
          <a:xfrm>
            <a:off x="7379208" y="4985702"/>
            <a:ext cx="4242900" cy="0"/>
          </a:xfrm>
          <a:prstGeom prst="straightConnector1">
            <a:avLst/>
          </a:prstGeom>
          <a:noFill/>
          <a:ln cap="flat" cmpd="sng" w="127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29"/>
          <p:cNvSpPr txBox="1"/>
          <p:nvPr/>
        </p:nvSpPr>
        <p:spPr>
          <a:xfrm>
            <a:off x="7379199" y="5186595"/>
            <a:ext cx="45255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7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Para demonstrar o pipeline, definimos arbitrariamente que cada visita deve ter urgência menor ou igual a última visita realizada.</a:t>
            </a:r>
            <a:endParaRPr sz="17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4000"/>
              </a:lnSpc>
              <a:spcBef>
                <a:spcPts val="1200"/>
              </a:spcBef>
              <a:spcAft>
                <a:spcPts val="0"/>
              </a:spcAft>
              <a:buClr>
                <a:srgbClr val="5C4F41"/>
              </a:buClr>
              <a:buSzPts val="1700"/>
              <a:buFont typeface="Calibri"/>
              <a:buNone/>
            </a:pPr>
            <a:r>
              <a:t/>
            </a:r>
            <a:endParaRPr sz="17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9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9"/>
          <p:cNvSpPr txBox="1"/>
          <p:nvPr/>
        </p:nvSpPr>
        <p:spPr>
          <a:xfrm>
            <a:off x="9723598" y="4134593"/>
            <a:ext cx="197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18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9"/>
          <p:cNvSpPr txBox="1"/>
          <p:nvPr/>
        </p:nvSpPr>
        <p:spPr>
          <a:xfrm>
            <a:off x="9723598" y="4532539"/>
            <a:ext cx="197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0" i="0" lang="en-US" spc="70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MIN DE CA</a:t>
            </a:r>
            <a:r>
              <a:rPr lang="en-US" spc="70" sz="1200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RRO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0"/>
          <p:cNvSpPr txBox="1"/>
          <p:nvPr/>
        </p:nvSpPr>
        <p:spPr>
          <a:xfrm>
            <a:off x="566928" y="347472"/>
            <a:ext cx="11055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300"/>
              <a:buFont typeface="Calibri"/>
              <a:buNone/>
            </a:pPr>
            <a:r>
              <a:rPr b="1" i="0" lang="en-US" spc="160" sz="130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DEMONSTRAÇÃO · PASSO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0"/>
          <p:cNvSpPr txBox="1"/>
          <p:nvPr/>
        </p:nvSpPr>
        <p:spPr>
          <a:xfrm>
            <a:off x="566928" y="658368"/>
            <a:ext cx="11055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3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DEMONSTRAÇÃO - </a:t>
            </a:r>
            <a:r>
              <a:rPr b="1" lang="en-US" sz="34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Falha na rota:</a:t>
            </a:r>
            <a:r>
              <a:rPr b="1" i="0" lang="en-US" sz="34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protocolo NÃO cabe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0"/>
          <p:cNvSpPr/>
          <p:nvPr/>
        </p:nvSpPr>
        <p:spPr>
          <a:xfrm>
            <a:off x="512064" y="1517904"/>
            <a:ext cx="6510600" cy="4773300"/>
          </a:xfrm>
          <a:prstGeom prst="roundRect">
            <a:avLst>
              <a:gd fmla="val 1916" name="adj"/>
            </a:avLst>
          </a:prstGeom>
          <a:solidFill>
            <a:srgbClr val="FFFDF8"/>
          </a:solidFill>
          <a:ln cap="flat" cmpd="sng" w="127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presentacao\3\passos\passo3.jpg" id="271" name="Google Shape;271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" y="1572768"/>
            <a:ext cx="6400799" cy="46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0"/>
          <p:cNvSpPr/>
          <p:nvPr/>
        </p:nvSpPr>
        <p:spPr>
          <a:xfrm>
            <a:off x="7379208" y="1618371"/>
            <a:ext cx="3200400" cy="384000"/>
          </a:xfrm>
          <a:prstGeom prst="roundRect">
            <a:avLst>
              <a:gd fmla="val 119048" name="adj"/>
            </a:avLst>
          </a:prstGeom>
          <a:solidFill>
            <a:srgbClr val="F3DFD3"/>
          </a:solidFill>
          <a:ln cap="flat" cmpd="sng" w="12700">
            <a:solidFill>
              <a:srgbClr val="F3DFD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0"/>
          <p:cNvSpPr txBox="1"/>
          <p:nvPr/>
        </p:nvSpPr>
        <p:spPr>
          <a:xfrm>
            <a:off x="7379208" y="1618371"/>
            <a:ext cx="3200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ROTA REPROVADA PELO PROTOCOLO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0"/>
          <p:cNvSpPr txBox="1"/>
          <p:nvPr/>
        </p:nvSpPr>
        <p:spPr>
          <a:xfrm>
            <a:off x="7379200" y="2185306"/>
            <a:ext cx="4370700" cy="17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700"/>
              <a:buFont typeface="Calibri"/>
              <a:buNone/>
            </a:pPr>
            <a:r>
              <a:rPr b="0" i="0" lang="en-US" sz="20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A 1ª parada é </a:t>
            </a:r>
            <a:r>
              <a:rPr b="1" i="0" lang="en-US" sz="20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p4</a:t>
            </a: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0" lang="en-US" sz="20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urgência baixa</a:t>
            </a: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) e </a:t>
            </a:r>
            <a:r>
              <a:rPr b="1" i="0" lang="en-US" sz="20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p7</a:t>
            </a: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b="0" i="0" lang="en-US" sz="20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urgência alta</a:t>
            </a: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b="0" i="0" lang="en-US" sz="20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só </a:t>
            </a: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seria atendido </a:t>
            </a:r>
            <a:r>
              <a:rPr b="0" i="0" lang="en-US" sz="20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na 6ª. </a:t>
            </a: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Nessa rota</a:t>
            </a:r>
            <a:r>
              <a:rPr b="0" i="0" lang="en-US" sz="20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, iniciar uma visita </a:t>
            </a: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de baixa urgência</a:t>
            </a:r>
            <a:r>
              <a:rPr b="0" i="0" lang="en-US" sz="20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exig</a:t>
            </a: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iria</a:t>
            </a:r>
            <a:r>
              <a:rPr b="0" i="0" lang="en-US" sz="20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que nenhuma urgência alta estiv</a:t>
            </a: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esse</a:t>
            </a:r>
            <a:r>
              <a:rPr b="0" i="0" lang="en-US" sz="20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pendente</a:t>
            </a:r>
            <a:r>
              <a:rPr lang="en-US" sz="20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0"/>
          <p:cNvSpPr txBox="1"/>
          <p:nvPr/>
        </p:nvSpPr>
        <p:spPr>
          <a:xfrm>
            <a:off x="7379208" y="4170626"/>
            <a:ext cx="212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50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0"/>
          <p:cNvSpPr txBox="1"/>
          <p:nvPr/>
        </p:nvSpPr>
        <p:spPr>
          <a:xfrm>
            <a:off x="7379208" y="4531338"/>
            <a:ext cx="2121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0" i="0" lang="en-US" spc="70" sz="11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ESTADOS EXAURIDOS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0"/>
          <p:cNvSpPr txBox="1"/>
          <p:nvPr/>
        </p:nvSpPr>
        <p:spPr>
          <a:xfrm>
            <a:off x="9500616" y="4170626"/>
            <a:ext cx="212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0,03s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0"/>
          <p:cNvSpPr txBox="1"/>
          <p:nvPr/>
        </p:nvSpPr>
        <p:spPr>
          <a:xfrm>
            <a:off x="9500616" y="4531338"/>
            <a:ext cx="2121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0" i="0" lang="en-US" spc="70" sz="11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PARA PROVAR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9" name="Google Shape;279;p30"/>
          <p:cNvCxnSpPr/>
          <p:nvPr/>
        </p:nvCxnSpPr>
        <p:spPr>
          <a:xfrm>
            <a:off x="7379208" y="5057351"/>
            <a:ext cx="4242900" cy="0"/>
          </a:xfrm>
          <a:prstGeom prst="straightConnector1">
            <a:avLst/>
          </a:prstGeom>
          <a:noFill/>
          <a:ln cap="flat" cmpd="sng" w="127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0" name="Google Shape;280;p30"/>
          <p:cNvSpPr txBox="1"/>
          <p:nvPr/>
        </p:nvSpPr>
        <p:spPr>
          <a:xfrm>
            <a:off x="7320400" y="5200895"/>
            <a:ext cx="44883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b="0" i="0" lang="en-US" sz="17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 planejamento não disse que não encontrou: ele exauriu o espaço e </a:t>
            </a:r>
            <a:r>
              <a:rPr b="1" i="0" lang="en-US" sz="17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demonstrou que não existe</a:t>
            </a:r>
            <a:r>
              <a:rPr b="0" i="0" lang="en-US" sz="17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0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1"/>
          <p:cNvSpPr txBox="1"/>
          <p:nvPr/>
        </p:nvSpPr>
        <p:spPr>
          <a:xfrm>
            <a:off x="566928" y="347472"/>
            <a:ext cx="11055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300"/>
              <a:buFont typeface="Calibri"/>
              <a:buNone/>
            </a:pPr>
            <a:r>
              <a:rPr b="1" i="0" lang="en-US" spc="160" sz="130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DEMONSTRAÇÃO · PASSO 2, DE NOVO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1"/>
          <p:cNvSpPr txBox="1"/>
          <p:nvPr/>
        </p:nvSpPr>
        <p:spPr>
          <a:xfrm>
            <a:off x="566928" y="658368"/>
            <a:ext cx="11055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3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DEMONSTRAÇÃO - </a:t>
            </a:r>
            <a:r>
              <a:rPr b="1" i="0" lang="en-US" sz="34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Outra rota, mesma distância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1"/>
          <p:cNvSpPr/>
          <p:nvPr/>
        </p:nvSpPr>
        <p:spPr>
          <a:xfrm>
            <a:off x="512064" y="1517904"/>
            <a:ext cx="6510600" cy="4773300"/>
          </a:xfrm>
          <a:prstGeom prst="roundRect">
            <a:avLst>
              <a:gd fmla="val 1916" name="adj"/>
            </a:avLst>
          </a:prstGeom>
          <a:solidFill>
            <a:srgbClr val="FFFDF8"/>
          </a:solidFill>
          <a:ln cap="flat" cmpd="sng" w="127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presentacao\3\passos\passo4.jpg" id="290" name="Google Shape;29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" y="1572768"/>
            <a:ext cx="6400799" cy="46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1"/>
          <p:cNvSpPr txBox="1"/>
          <p:nvPr/>
        </p:nvSpPr>
        <p:spPr>
          <a:xfrm>
            <a:off x="7379200" y="1691649"/>
            <a:ext cx="4242900" cy="20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700"/>
              <a:buFont typeface="Calibri"/>
              <a:buNone/>
            </a:pPr>
            <a:r>
              <a:rPr b="0" i="0" lang="en-US" sz="22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A camada geométrica é chamada outra vez e devolve outra ordem. É a </a:t>
            </a:r>
            <a:r>
              <a:rPr b="1" i="0" lang="en-US" sz="22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mesma volta percorrida ao contrário</a:t>
            </a:r>
            <a:r>
              <a:rPr lang="en-US" sz="22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, logo, </a:t>
            </a:r>
            <a:r>
              <a:rPr b="0" i="0" lang="en-US" sz="22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custa os mesmos 94 minutos de caminhada.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31"/>
          <p:cNvSpPr txBox="1"/>
          <p:nvPr/>
        </p:nvSpPr>
        <p:spPr>
          <a:xfrm>
            <a:off x="7379208" y="5158683"/>
            <a:ext cx="4242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b="0" i="0" lang="en-US" sz="19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 que separa uma rota válida de uma inválida aqui não é o comprimento, é a ordem.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1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1"/>
          <p:cNvSpPr txBox="1"/>
          <p:nvPr/>
        </p:nvSpPr>
        <p:spPr>
          <a:xfrm>
            <a:off x="7379208" y="4081506"/>
            <a:ext cx="4242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94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1"/>
          <p:cNvSpPr txBox="1"/>
          <p:nvPr/>
        </p:nvSpPr>
        <p:spPr>
          <a:xfrm>
            <a:off x="7379208" y="4479444"/>
            <a:ext cx="42429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0" i="0" lang="en-US" spc="70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MIN DE CAMINHADA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" name="Google Shape;296;p31"/>
          <p:cNvCxnSpPr/>
          <p:nvPr/>
        </p:nvCxnSpPr>
        <p:spPr>
          <a:xfrm>
            <a:off x="7379208" y="4900068"/>
            <a:ext cx="4242900" cy="0"/>
          </a:xfrm>
          <a:prstGeom prst="straightConnector1">
            <a:avLst/>
          </a:prstGeom>
          <a:noFill/>
          <a:ln cap="flat" cmpd="sng" w="127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" name="Google Shape;297;p31"/>
          <p:cNvSpPr txBox="1"/>
          <p:nvPr/>
        </p:nvSpPr>
        <p:spPr>
          <a:xfrm>
            <a:off x="9723598" y="4048960"/>
            <a:ext cx="197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lang="en-US" sz="32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18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1"/>
          <p:cNvSpPr txBox="1"/>
          <p:nvPr/>
        </p:nvSpPr>
        <p:spPr>
          <a:xfrm>
            <a:off x="9723598" y="4446906"/>
            <a:ext cx="1975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0" i="0" lang="en-US" spc="70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MIN DE CA</a:t>
            </a:r>
            <a:r>
              <a:rPr lang="en-US" spc="70" sz="1200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RRO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2"/>
          <p:cNvSpPr txBox="1"/>
          <p:nvPr/>
        </p:nvSpPr>
        <p:spPr>
          <a:xfrm>
            <a:off x="566928" y="347472"/>
            <a:ext cx="11055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300"/>
              <a:buFont typeface="Calibri"/>
              <a:buNone/>
            </a:pPr>
            <a:r>
              <a:rPr b="1" i="0" lang="en-US" spc="160" sz="130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DEMONSTRAÇÃO · PASSO 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2"/>
          <p:cNvSpPr txBox="1"/>
          <p:nvPr/>
        </p:nvSpPr>
        <p:spPr>
          <a:xfrm>
            <a:off x="566928" y="658368"/>
            <a:ext cx="11055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3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DEMONSTRAÇÃO - Sucesso na rota: </a:t>
            </a:r>
            <a:r>
              <a:rPr b="1" i="0" lang="en-US" sz="34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protocolo cabe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2"/>
          <p:cNvSpPr/>
          <p:nvPr/>
        </p:nvSpPr>
        <p:spPr>
          <a:xfrm>
            <a:off x="512064" y="1517904"/>
            <a:ext cx="6510600" cy="4773300"/>
          </a:xfrm>
          <a:prstGeom prst="roundRect">
            <a:avLst>
              <a:gd fmla="val 1916" name="adj"/>
            </a:avLst>
          </a:prstGeom>
          <a:solidFill>
            <a:srgbClr val="FFFDF8"/>
          </a:solidFill>
          <a:ln cap="flat" cmpd="sng" w="127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presentacao\3\passos\passo5.jpg" id="307" name="Google Shape;307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" y="1572768"/>
            <a:ext cx="6400799" cy="46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2"/>
          <p:cNvSpPr/>
          <p:nvPr/>
        </p:nvSpPr>
        <p:spPr>
          <a:xfrm>
            <a:off x="7379208" y="1647678"/>
            <a:ext cx="3200400" cy="384000"/>
          </a:xfrm>
          <a:prstGeom prst="roundRect">
            <a:avLst>
              <a:gd fmla="val 119048" name="adj"/>
            </a:avLst>
          </a:prstGeom>
          <a:solidFill>
            <a:srgbClr val="DDE7E0"/>
          </a:solidFill>
          <a:ln cap="flat" cmpd="sng" w="12700">
            <a:solidFill>
              <a:srgbClr val="DDE7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2"/>
          <p:cNvSpPr txBox="1"/>
          <p:nvPr/>
        </p:nvSpPr>
        <p:spPr>
          <a:xfrm>
            <a:off x="7379208" y="1647678"/>
            <a:ext cx="3200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6B5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4A6B5B"/>
                </a:solidFill>
                <a:latin typeface="Calibri"/>
                <a:ea typeface="Calibri"/>
                <a:cs typeface="Calibri"/>
                <a:sym typeface="Calibri"/>
              </a:rPr>
              <a:t>ROTA VÁLIDA SOB PROTOCOLO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2"/>
          <p:cNvSpPr txBox="1"/>
          <p:nvPr/>
        </p:nvSpPr>
        <p:spPr>
          <a:xfrm>
            <a:off x="7379200" y="2176250"/>
            <a:ext cx="4370700" cy="215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O planejamento gerou 51 ações, com custo de 266 minutos, cumprindo em todas as paradas os requisitos legais, técnicos e operacionais, incluindo encaminhamentos quando o procedimento o exige.</a:t>
            </a:r>
            <a:endParaRPr sz="17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2"/>
          <p:cNvSpPr txBox="1"/>
          <p:nvPr/>
        </p:nvSpPr>
        <p:spPr>
          <a:xfrm>
            <a:off x="7408516" y="4359930"/>
            <a:ext cx="212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51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2"/>
          <p:cNvSpPr txBox="1"/>
          <p:nvPr/>
        </p:nvSpPr>
        <p:spPr>
          <a:xfrm>
            <a:off x="7408516" y="4725221"/>
            <a:ext cx="2121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0" i="0" lang="en-US" spc="70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AÇÕES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2"/>
          <p:cNvSpPr txBox="1"/>
          <p:nvPr/>
        </p:nvSpPr>
        <p:spPr>
          <a:xfrm>
            <a:off x="9529924" y="4359930"/>
            <a:ext cx="21213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266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2"/>
          <p:cNvSpPr txBox="1"/>
          <p:nvPr/>
        </p:nvSpPr>
        <p:spPr>
          <a:xfrm>
            <a:off x="9529924" y="4725221"/>
            <a:ext cx="2121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0" i="0" lang="en-US" spc="70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MIN DE TURNO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5" name="Google Shape;315;p32"/>
          <p:cNvCxnSpPr/>
          <p:nvPr/>
        </p:nvCxnSpPr>
        <p:spPr>
          <a:xfrm>
            <a:off x="7408516" y="5248422"/>
            <a:ext cx="4242900" cy="0"/>
          </a:xfrm>
          <a:prstGeom prst="straightConnector1">
            <a:avLst/>
          </a:prstGeom>
          <a:noFill/>
          <a:ln cap="flat" cmpd="sng" w="127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6" name="Google Shape;316;p32"/>
          <p:cNvSpPr txBox="1"/>
          <p:nvPr/>
        </p:nvSpPr>
        <p:spPr>
          <a:xfrm>
            <a:off x="7408553" y="5333878"/>
            <a:ext cx="4242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lang="en-US" sz="1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 </a:t>
            </a:r>
            <a:r>
              <a:rPr b="0" i="0" lang="en-US" sz="17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urgência alta agora vem antes da baixa, que era exatamente o que faltava</a:t>
            </a:r>
            <a:r>
              <a:rPr lang="en-US" sz="1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 antes!</a:t>
            </a:r>
            <a:r>
              <a:rPr b="0" i="0" lang="en-US" sz="17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2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3"/>
          <p:cNvSpPr txBox="1"/>
          <p:nvPr/>
        </p:nvSpPr>
        <p:spPr>
          <a:xfrm>
            <a:off x="566928" y="347472"/>
            <a:ext cx="110550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35C38"/>
              </a:buClr>
              <a:buSzPts val="1300"/>
              <a:buFont typeface="Calibri"/>
              <a:buNone/>
            </a:pPr>
            <a:r>
              <a:rPr b="1" i="0" lang="en-US" spc="160" sz="1300" u="none" cap="none" strike="noStrike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DEMONSTRAÇÃO · RESULTADO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3"/>
          <p:cNvSpPr txBox="1"/>
          <p:nvPr/>
        </p:nvSpPr>
        <p:spPr>
          <a:xfrm>
            <a:off x="566928" y="658368"/>
            <a:ext cx="110550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400"/>
              <a:buFont typeface="Cambria"/>
              <a:buNone/>
            </a:pPr>
            <a:r>
              <a:rPr b="1" lang="en-US" sz="37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DEMONSTRAÇÃO - </a:t>
            </a:r>
            <a:r>
              <a:rPr b="1" i="0" lang="en-US" sz="34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O protocolo formalizado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3"/>
          <p:cNvSpPr/>
          <p:nvPr/>
        </p:nvSpPr>
        <p:spPr>
          <a:xfrm>
            <a:off x="512064" y="1517904"/>
            <a:ext cx="6510600" cy="4773300"/>
          </a:xfrm>
          <a:prstGeom prst="roundRect">
            <a:avLst>
              <a:gd fmla="val 1916" name="adj"/>
            </a:avLst>
          </a:prstGeom>
          <a:solidFill>
            <a:srgbClr val="FFFDF8"/>
          </a:solidFill>
          <a:ln cap="flat" cmpd="sng" w="127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presentacao\3\passos\passo6.jpg" id="326" name="Google Shape;326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" y="1572768"/>
            <a:ext cx="6400799" cy="46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3"/>
          <p:cNvSpPr/>
          <p:nvPr/>
        </p:nvSpPr>
        <p:spPr>
          <a:xfrm>
            <a:off x="7379208" y="1691640"/>
            <a:ext cx="3200400" cy="384000"/>
          </a:xfrm>
          <a:prstGeom prst="roundRect">
            <a:avLst>
              <a:gd fmla="val 119048" name="adj"/>
            </a:avLst>
          </a:prstGeom>
          <a:solidFill>
            <a:srgbClr val="DDE7E0"/>
          </a:solidFill>
          <a:ln cap="flat" cmpd="sng" w="12700">
            <a:solidFill>
              <a:srgbClr val="DDE7E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3"/>
          <p:cNvSpPr txBox="1"/>
          <p:nvPr/>
        </p:nvSpPr>
        <p:spPr>
          <a:xfrm>
            <a:off x="7379208" y="1691640"/>
            <a:ext cx="32004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A6B5B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4A6B5B"/>
                </a:solidFill>
                <a:latin typeface="Calibri"/>
                <a:ea typeface="Calibri"/>
                <a:cs typeface="Calibri"/>
                <a:sym typeface="Calibri"/>
              </a:rPr>
              <a:t>ROTA VÁLIDA SOB PROTOCOLO</a:t>
            </a:r>
            <a:endParaRPr b="1" sz="1300">
              <a:solidFill>
                <a:srgbClr val="4A6B5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3"/>
          <p:cNvSpPr txBox="1"/>
          <p:nvPr/>
        </p:nvSpPr>
        <p:spPr>
          <a:xfrm>
            <a:off x="7379200" y="2258573"/>
            <a:ext cx="4242900" cy="181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just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rgbClr val="5C4F41"/>
              </a:buClr>
              <a:buSzPts val="1700"/>
              <a:buFont typeface="Calibri"/>
              <a:buNone/>
            </a:pPr>
            <a:r>
              <a:rPr b="0" i="0" lang="en-US" sz="19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A saída não é uma linha no mapa, é um </a:t>
            </a:r>
            <a:r>
              <a:rPr b="1" i="0" lang="en-US" sz="19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roteiro</a:t>
            </a:r>
            <a:r>
              <a:rPr b="0" i="0" lang="en-US" sz="19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: em cada parada, o que fazer, em que ordem, e quando sair da rota para repor material na unidade</a:t>
            </a:r>
            <a:r>
              <a:rPr lang="en-US" sz="19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(representado em</a:t>
            </a:r>
            <a:r>
              <a:rPr b="0" i="0" lang="en-US" sz="1900" u="none" cap="none" strike="noStrike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 tracejado).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3"/>
          <p:cNvSpPr txBox="1"/>
          <p:nvPr/>
        </p:nvSpPr>
        <p:spPr>
          <a:xfrm>
            <a:off x="7402160" y="4086450"/>
            <a:ext cx="1414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6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3"/>
          <p:cNvSpPr txBox="1"/>
          <p:nvPr/>
        </p:nvSpPr>
        <p:spPr>
          <a:xfrm>
            <a:off x="7402160" y="4515300"/>
            <a:ext cx="1414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0" i="0" lang="en-US" spc="70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VISITAS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3"/>
          <p:cNvSpPr txBox="1"/>
          <p:nvPr/>
        </p:nvSpPr>
        <p:spPr>
          <a:xfrm>
            <a:off x="8816432" y="4086450"/>
            <a:ext cx="1414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266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3"/>
          <p:cNvSpPr txBox="1"/>
          <p:nvPr/>
        </p:nvSpPr>
        <p:spPr>
          <a:xfrm>
            <a:off x="8816432" y="4515300"/>
            <a:ext cx="1414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0" i="0" lang="en-US" spc="70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MIN DE TURNO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3"/>
          <p:cNvSpPr txBox="1"/>
          <p:nvPr/>
        </p:nvSpPr>
        <p:spPr>
          <a:xfrm>
            <a:off x="10230704" y="4086450"/>
            <a:ext cx="1414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3200"/>
              <a:buFont typeface="Cambria"/>
              <a:buNone/>
            </a:pPr>
            <a:r>
              <a:rPr b="1" i="0" lang="en-US" sz="32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51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3"/>
          <p:cNvSpPr txBox="1"/>
          <p:nvPr/>
        </p:nvSpPr>
        <p:spPr>
          <a:xfrm>
            <a:off x="10230704" y="4515300"/>
            <a:ext cx="14142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7A67"/>
              </a:buClr>
              <a:buSzPts val="1100"/>
              <a:buFont typeface="Calibri"/>
              <a:buNone/>
            </a:pPr>
            <a:r>
              <a:rPr b="0" i="0" lang="en-US" spc="70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AÇÕES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36" name="Google Shape;336;p33"/>
          <p:cNvCxnSpPr/>
          <p:nvPr/>
        </p:nvCxnSpPr>
        <p:spPr>
          <a:xfrm>
            <a:off x="7402160" y="4935924"/>
            <a:ext cx="4242900" cy="0"/>
          </a:xfrm>
          <a:prstGeom prst="straightConnector1">
            <a:avLst/>
          </a:prstGeom>
          <a:noFill/>
          <a:ln cap="flat" cmpd="sng" w="127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33"/>
          <p:cNvSpPr txBox="1"/>
          <p:nvPr/>
        </p:nvSpPr>
        <p:spPr>
          <a:xfrm>
            <a:off x="7390686" y="5146979"/>
            <a:ext cx="42429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33291F"/>
              </a:buClr>
              <a:buSzPts val="1700"/>
              <a:buFont typeface="Cambria"/>
              <a:buNone/>
            </a:pPr>
            <a:r>
              <a:rPr b="0" i="0" lang="en-US" sz="1700" u="none" cap="none" strike="noStrike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Trocar o roteirizador não muda uma linha do domínio. Mudar a lei não muda uma linha do código de busca.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3"/>
          <p:cNvSpPr txBox="1"/>
          <p:nvPr>
            <p:ph idx="12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4"/>
          <p:cNvSpPr txBox="1"/>
          <p:nvPr/>
        </p:nvSpPr>
        <p:spPr>
          <a:xfrm>
            <a:off x="566928" y="333375"/>
            <a:ext cx="11055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300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rPr>
              <a:t>CONCLUSÃO · SÍNTESE DO PROJETO</a:t>
            </a:r>
            <a:endParaRPr b="1" sz="1300">
              <a:solidFill>
                <a:srgbClr val="B35C3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4"/>
          <p:cNvSpPr txBox="1"/>
          <p:nvPr/>
        </p:nvSpPr>
        <p:spPr>
          <a:xfrm>
            <a:off x="566928" y="619125"/>
            <a:ext cx="110550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3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CONCLUSÃO</a:t>
            </a:r>
            <a:endParaRPr b="1" sz="333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grpSp>
        <p:nvGrpSpPr>
          <p:cNvPr id="346" name="Google Shape;346;p34"/>
          <p:cNvGrpSpPr/>
          <p:nvPr/>
        </p:nvGrpSpPr>
        <p:grpSpPr>
          <a:xfrm>
            <a:off x="566928" y="1285875"/>
            <a:ext cx="11058000" cy="1571700"/>
            <a:chOff x="0" y="0"/>
            <a:chExt cx="11058000" cy="1571700"/>
          </a:xfrm>
        </p:grpSpPr>
        <p:sp>
          <p:nvSpPr>
            <p:cNvPr id="347" name="Google Shape;347;p34"/>
            <p:cNvSpPr/>
            <p:nvPr/>
          </p:nvSpPr>
          <p:spPr>
            <a:xfrm>
              <a:off x="0" y="0"/>
              <a:ext cx="11058000" cy="1571700"/>
            </a:xfrm>
            <a:prstGeom prst="roundRect">
              <a:avLst>
                <a:gd fmla="val 9696" name="adj"/>
              </a:avLst>
            </a:prstGeom>
            <a:solidFill>
              <a:srgbClr val="DDE7E0"/>
            </a:solidFill>
            <a:ln cap="flat" cmpd="sng" w="12675">
              <a:solidFill>
                <a:srgbClr val="C8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34"/>
            <p:cNvSpPr txBox="1"/>
            <p:nvPr/>
          </p:nvSpPr>
          <p:spPr>
            <a:xfrm>
              <a:off x="714375" y="142875"/>
              <a:ext cx="10048800" cy="128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1" lang="en-US" sz="3700">
                  <a:solidFill>
                    <a:srgbClr val="2C3E35"/>
                  </a:solidFill>
                  <a:latin typeface="Cambria"/>
                  <a:ea typeface="Cambria"/>
                  <a:cs typeface="Cambria"/>
                  <a:sym typeface="Cambria"/>
                </a:rPr>
                <a:t>"  </a:t>
              </a:r>
              <a:r>
                <a:rPr i="1" lang="en-US" sz="2500">
                  <a:solidFill>
                    <a:srgbClr val="2C3E35"/>
                  </a:solidFill>
                  <a:latin typeface="Cambria"/>
                  <a:ea typeface="Cambria"/>
                  <a:cs typeface="Cambria"/>
                  <a:sym typeface="Cambria"/>
                </a:rPr>
                <a:t>Manter a norma como especificação declarativa preserva a corretude </a:t>
              </a:r>
              <a:endParaRPr i="1" sz="2500">
                <a:solidFill>
                  <a:srgbClr val="2C3E35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500">
                  <a:solidFill>
                    <a:srgbClr val="2C3E35"/>
                  </a:solidFill>
                  <a:latin typeface="Cambria"/>
                  <a:ea typeface="Cambria"/>
                  <a:cs typeface="Cambria"/>
                  <a:sym typeface="Cambria"/>
                </a:rPr>
                <a:t>do sistema diante de regras novas, a um custo de busca que ainda cabe </a:t>
              </a:r>
              <a:endParaRPr i="1" sz="2500">
                <a:solidFill>
                  <a:srgbClr val="2C3E35"/>
                </a:solidFill>
                <a:latin typeface="Cambria"/>
                <a:ea typeface="Cambria"/>
                <a:cs typeface="Cambria"/>
                <a:sym typeface="Cambria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500">
                  <a:solidFill>
                    <a:srgbClr val="2C3E35"/>
                  </a:solidFill>
                  <a:latin typeface="Cambria"/>
                  <a:ea typeface="Cambria"/>
                  <a:cs typeface="Cambria"/>
                  <a:sym typeface="Cambria"/>
                </a:rPr>
                <a:t>num turno real. </a:t>
              </a:r>
              <a:endParaRPr b="1" i="1" sz="3700">
                <a:solidFill>
                  <a:srgbClr val="2C3E35"/>
                </a:solidFill>
                <a:latin typeface="Cambria"/>
                <a:ea typeface="Cambria"/>
                <a:cs typeface="Cambria"/>
                <a:sym typeface="Cambria"/>
              </a:endParaRPr>
            </a:p>
          </p:txBody>
        </p:sp>
      </p:grpSp>
      <p:grpSp>
        <p:nvGrpSpPr>
          <p:cNvPr id="349" name="Google Shape;349;p34"/>
          <p:cNvGrpSpPr/>
          <p:nvPr/>
        </p:nvGrpSpPr>
        <p:grpSpPr>
          <a:xfrm>
            <a:off x="566928" y="3095625"/>
            <a:ext cx="5381700" cy="3095700"/>
            <a:chOff x="0" y="0"/>
            <a:chExt cx="5381700" cy="3095700"/>
          </a:xfrm>
        </p:grpSpPr>
        <p:sp>
          <p:nvSpPr>
            <p:cNvPr id="350" name="Google Shape;350;p34"/>
            <p:cNvSpPr/>
            <p:nvPr/>
          </p:nvSpPr>
          <p:spPr>
            <a:xfrm>
              <a:off x="0" y="0"/>
              <a:ext cx="5381700" cy="3095700"/>
            </a:xfrm>
            <a:prstGeom prst="roundRect">
              <a:avLst>
                <a:gd fmla="val 4923" name="adj"/>
              </a:avLst>
            </a:prstGeom>
            <a:solidFill>
              <a:srgbClr val="FFFDF8"/>
            </a:solidFill>
            <a:ln cap="flat" cmpd="sng" w="12675">
              <a:solidFill>
                <a:srgbClr val="E6DCC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34"/>
            <p:cNvSpPr/>
            <p:nvPr/>
          </p:nvSpPr>
          <p:spPr>
            <a:xfrm>
              <a:off x="285750" y="266700"/>
              <a:ext cx="2667000" cy="362100"/>
            </a:xfrm>
            <a:prstGeom prst="roundRect">
              <a:avLst>
                <a:gd fmla="val 50000" name="adj"/>
              </a:avLst>
            </a:prstGeom>
            <a:solidFill>
              <a:srgbClr val="FCEBE6"/>
            </a:solidFill>
            <a:ln cap="flat" cmpd="sng" w="9525">
              <a:solidFill>
                <a:srgbClr val="F5D0C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34"/>
            <p:cNvSpPr txBox="1"/>
            <p:nvPr/>
          </p:nvSpPr>
          <p:spPr>
            <a:xfrm>
              <a:off x="428550" y="331650"/>
              <a:ext cx="23814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B35C38"/>
                  </a:solidFill>
                  <a:latin typeface="Calibri"/>
                  <a:ea typeface="Calibri"/>
                  <a:cs typeface="Calibri"/>
                  <a:sym typeface="Calibri"/>
                </a:rPr>
                <a:t>SE NÃO USARMOS PLANNING?</a:t>
              </a:r>
              <a:endParaRPr b="1">
                <a:solidFill>
                  <a:srgbClr val="B35C3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34"/>
            <p:cNvSpPr txBox="1"/>
            <p:nvPr/>
          </p:nvSpPr>
          <p:spPr>
            <a:xfrm>
              <a:off x="285750" y="428550"/>
              <a:ext cx="48102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20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O programa guloso volta a falhar assim que entra uma regra que ninguém previu ao escrevê-lo.</a:t>
              </a:r>
              <a:endParaRPr sz="22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4" name="Google Shape;354;p34"/>
          <p:cNvGrpSpPr/>
          <p:nvPr/>
        </p:nvGrpSpPr>
        <p:grpSpPr>
          <a:xfrm>
            <a:off x="6243447" y="3095625"/>
            <a:ext cx="5381700" cy="3095700"/>
            <a:chOff x="0" y="0"/>
            <a:chExt cx="5381700" cy="3095700"/>
          </a:xfrm>
        </p:grpSpPr>
        <p:sp>
          <p:nvSpPr>
            <p:cNvPr id="355" name="Google Shape;355;p34"/>
            <p:cNvSpPr/>
            <p:nvPr/>
          </p:nvSpPr>
          <p:spPr>
            <a:xfrm>
              <a:off x="0" y="0"/>
              <a:ext cx="5381700" cy="3095700"/>
            </a:xfrm>
            <a:prstGeom prst="roundRect">
              <a:avLst>
                <a:gd fmla="val 4923" name="adj"/>
              </a:avLst>
            </a:prstGeom>
            <a:solidFill>
              <a:srgbClr val="FFFDF8"/>
            </a:solidFill>
            <a:ln cap="flat" cmpd="sng" w="12675">
              <a:solidFill>
                <a:srgbClr val="E6DCC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34"/>
            <p:cNvSpPr/>
            <p:nvPr/>
          </p:nvSpPr>
          <p:spPr>
            <a:xfrm>
              <a:off x="285750" y="266700"/>
              <a:ext cx="2095500" cy="362100"/>
            </a:xfrm>
            <a:prstGeom prst="roundRect">
              <a:avLst>
                <a:gd fmla="val 50000" name="adj"/>
              </a:avLst>
            </a:prstGeom>
            <a:solidFill>
              <a:srgbClr val="EBF3EE"/>
            </a:solidFill>
            <a:ln cap="flat" cmpd="sng" w="9525">
              <a:solidFill>
                <a:srgbClr val="C8D8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4"/>
            <p:cNvSpPr txBox="1"/>
            <p:nvPr/>
          </p:nvSpPr>
          <p:spPr>
            <a:xfrm>
              <a:off x="428700" y="331650"/>
              <a:ext cx="1809600" cy="362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>
                  <a:solidFill>
                    <a:srgbClr val="3B6B52"/>
                  </a:solidFill>
                  <a:latin typeface="Calibri"/>
                  <a:ea typeface="Calibri"/>
                  <a:cs typeface="Calibri"/>
                  <a:sym typeface="Calibri"/>
                </a:rPr>
                <a:t>O QUE ALCANÇAMOS?</a:t>
              </a:r>
              <a:endParaRPr b="1">
                <a:solidFill>
                  <a:srgbClr val="3B6B5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34"/>
            <p:cNvSpPr txBox="1"/>
            <p:nvPr/>
          </p:nvSpPr>
          <p:spPr>
            <a:xfrm>
              <a:off x="285750" y="995475"/>
              <a:ext cx="4810200" cy="2000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just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US" sz="2100">
                  <a:solidFill>
                    <a:srgbClr val="5C4F41"/>
                  </a:solidFill>
                  <a:latin typeface="Calibri"/>
                  <a:ea typeface="Calibri"/>
                  <a:cs typeface="Calibri"/>
                  <a:sym typeface="Calibri"/>
                </a:rPr>
                <a:t>Demonstramos que o diferencial não está em substituir algoritmos por Planning, mas em integrá-los de forma que se complementem, explorando os aspectos vantajosos dessa abordagem.</a:t>
              </a:r>
              <a:endParaRPr sz="21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21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9" name="Google Shape;359;p34"/>
          <p:cNvSpPr txBox="1"/>
          <p:nvPr/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 sz="1200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4"/>
          <p:cNvSpPr txBox="1"/>
          <p:nvPr/>
        </p:nvSpPr>
        <p:spPr>
          <a:xfrm>
            <a:off x="10259206" y="2163194"/>
            <a:ext cx="796200" cy="5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-US" sz="3700">
                <a:solidFill>
                  <a:srgbClr val="2C3E35"/>
                </a:solidFill>
                <a:latin typeface="Cambria"/>
                <a:ea typeface="Cambria"/>
                <a:cs typeface="Cambria"/>
                <a:sym typeface="Cambria"/>
              </a:rPr>
              <a:t>  "</a:t>
            </a:r>
            <a:endParaRPr b="1" i="1" sz="3700">
              <a:solidFill>
                <a:srgbClr val="2C3E35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35"/>
          <p:cNvSpPr/>
          <p:nvPr/>
        </p:nvSpPr>
        <p:spPr>
          <a:xfrm>
            <a:off x="2095500" y="1952625"/>
            <a:ext cx="8001000" cy="2571900"/>
          </a:xfrm>
          <a:prstGeom prst="roundRect">
            <a:avLst>
              <a:gd fmla="val 5925" name="adj"/>
            </a:avLst>
          </a:prstGeom>
          <a:solidFill>
            <a:srgbClr val="FFFDF8"/>
          </a:solidFill>
          <a:ln cap="flat" cmpd="sng" w="14300">
            <a:solidFill>
              <a:srgbClr val="E6DCC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5"/>
          <p:cNvSpPr txBox="1"/>
          <p:nvPr/>
        </p:nvSpPr>
        <p:spPr>
          <a:xfrm>
            <a:off x="2476500" y="2762250"/>
            <a:ext cx="7239000" cy="619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>
                <a:solidFill>
                  <a:srgbClr val="33291F"/>
                </a:solidFill>
                <a:latin typeface="Cambria"/>
                <a:ea typeface="Cambria"/>
                <a:cs typeface="Cambria"/>
                <a:sym typeface="Cambria"/>
              </a:rPr>
              <a:t>AGRADECEMOS PELA ATENÇÃO</a:t>
            </a:r>
            <a:endParaRPr b="1" i="0" sz="3800">
              <a:solidFill>
                <a:srgbClr val="33291F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  <p:sp>
        <p:nvSpPr>
          <p:cNvPr id="368" name="Google Shape;368;p35"/>
          <p:cNvSpPr txBox="1"/>
          <p:nvPr/>
        </p:nvSpPr>
        <p:spPr>
          <a:xfrm>
            <a:off x="2476500" y="3571875"/>
            <a:ext cx="72390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600">
                <a:solidFill>
                  <a:srgbClr val="5C4F41"/>
                </a:solidFill>
                <a:latin typeface="Calibri"/>
                <a:ea typeface="Calibri"/>
                <a:cs typeface="Calibri"/>
                <a:sym typeface="Calibri"/>
              </a:rPr>
              <a:t>INF99003 · Ciclo 2 · Grupo B</a:t>
            </a:r>
            <a:endParaRPr b="0" sz="1600">
              <a:solidFill>
                <a:srgbClr val="5C4F4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5"/>
          <p:cNvSpPr txBox="1"/>
          <p:nvPr>
            <p:ph idx="4294967295" type="sldNum"/>
          </p:nvPr>
        </p:nvSpPr>
        <p:spPr>
          <a:xfrm>
            <a:off x="11384280" y="6327648"/>
            <a:ext cx="365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A7A67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rgbClr val="8A7A6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Creme">
  <a:themeElements>
    <a:clrScheme name="Creme">
      <a:dk1>
        <a:srgbClr val="33291F"/>
      </a:dk1>
      <a:lt1>
        <a:srgbClr val="FEFCF7"/>
      </a:lt1>
      <a:dk2>
        <a:srgbClr val="5C4F41"/>
      </a:dk2>
      <a:lt2>
        <a:srgbClr val="F2E7D2"/>
      </a:lt2>
      <a:accent1>
        <a:srgbClr val="B35C38"/>
      </a:accent1>
      <a:accent2>
        <a:srgbClr val="4A6B5B"/>
      </a:accent2>
      <a:accent3>
        <a:srgbClr val="8A7A67"/>
      </a:accent3>
      <a:accent4>
        <a:srgbClr val="E8D8BC"/>
      </a:accent4>
      <a:accent5>
        <a:srgbClr val="F3DFD3"/>
      </a:accent5>
      <a:accent6>
        <a:srgbClr val="DDE7E0"/>
      </a:accent6>
      <a:hlink>
        <a:srgbClr val="B35C38"/>
      </a:hlink>
      <a:folHlink>
        <a:srgbClr val="8A7A6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