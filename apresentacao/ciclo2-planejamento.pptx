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5a7c197-60b4-1ab2-f7bc-8b4e025cfc13}">
          <p14:sldIdLst>
            <p14:sldId id="256"/>
          </p14:sldIdLst>
        </p14:section>
        <p14:section name="O problema" id="{a46298b7-78f8-cc6b-b28f-637bcf2b52f4}">
          <p14:sldIdLst>
            <p14:sldId id="257"/>
          </p14:sldIdLst>
        </p14:section>
        <p14:section name="Justificativa" id="{f709980b-d05c-1ef2-faae-c3bf9df6d63f}">
          <p14:sldIdLst>
            <p14:sldId id="258"/>
          </p14:sldIdLst>
        </p14:section>
        <p14:section name="Literatura" id="{d9964c74-f73c-6521-00b1-98e4168f151f}">
          <p14:sldIdLst>
            <p14:sldId id="259"/>
          </p14:sldIdLst>
        </p14:section>
        <p14:section name="O problema computacional" id="{a08b31b1-fd43-eeba-6dd3-59fd03248896}">
          <p14:sldIdLst>
            <p14:sldId id="260"/>
          </p14:sldIdLst>
        </p14:section>
        <p14:section name="Hipótese" id="{7cb89358-e393-821e-d90a-297b34944004}">
          <p14:sldIdLst>
            <p14:sldId id="261"/>
          </p14:sldIdLst>
        </p14:section>
        <p14:section name="Objetivos" id="{5be1a183-f67c-70c1-8e1c-04bc06d6f3e6}">
          <p14:sldIdLst>
            <p14:sldId id="262"/>
          </p14:sldIdLst>
        </p14:section>
        <p14:section name="Proposta" id="{5868e591-5523-c6f5-cc49-43077e224a29}">
          <p14:sldIdLst>
            <p14:sldId id="263"/>
          </p14:sldIdLst>
        </p14:section>
        <p14:section name="Metodologia" id="{783a0499-05ba-4c66-90a7-db5cb4d39f65}">
          <p14:sldIdLst>
            <p14:sldId id="264"/>
          </p14:sldIdLst>
        </p14:section>
        <p14:section name="Entrega" id="{15dd60d7-7211-f1cb-6c72-7c4d1416e6cd}">
          <p14:sldIdLst>
            <p14:sldId id="265"/>
          </p14:sldIdLst>
        </p14:section>
        <p14:section name="Achados" id="{88b82e63-8890-0ccb-fec2-7fb54850ead9}">
          <p14:sldIdLst>
            <p14:sldId id="266"/>
          </p14:sldIdLst>
        </p14:section>
        <p14:section name="Fecho" id="{d9809487-c0b0-61b5-2958-8142f039236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enunciado do ciclo pede um artefato que facilite o planejamento das visitas dos ACS. Quase todo mundo vai atacar isso como problema de rota. Nos tambem, mas descobrimos que a rota e so metade do problema. Nao mencione PDDL ainda.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ACS visita as familias da microarea. O enunciado cita percurso, equipe, urgencia e intervalo. Nosso recorte: um agente, um turno, rota ja definida. A dor que nos interessou e que chegar na casa nao autoriza atender: a lei condiciona, e algumas condicoes acabam no meio do turno.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 trecho em voz alta: e a unica leitura literal que vale a pena no deck. Tres condicoes conjuntivas e um efeito obrigatorio: isso e exatamente um esquema de acao STRIPS, formalismo de 1971. STRIPS = pre-condicoes, o que passa a valer e o que deixa de valer. Se a norma mudar, edita-se a norma no dominio, nao o codigo de busca.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Nao leia os tres cartoes. Gaste o tempo no primeiro e no segundo. O ponto: a literatura JA sabe que qualificacao importa, mas trata como rotulo estatico, agente i atende paciente j. Gonzalez-Ferrer e o precedente que blinda a escolha: traduzir norma em dominio de planejamento nao e invencao nossa. Nas buscas realizadas nao achamos trabalho que junte as duas coisas.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rota esta fixa e cada visita fosse independente, o problema se decomporia e um laco for bastaria. O que impede isso sao os recursos finitos. Observacao honesta: a lei exige assistencia e nao diz nada sobre forma ou frequencia. Representa-la como recurso finito por turno, e encerra-la ao sair da casa, sao decisoes de modelagem NOSSAS.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 a parte metodologica que vale sublinhar: a hipotese pode estar errada, e o desenho admite isso. Nao formulamos uma pergunta que so podia dar certo. Guarde esta frase, porque o slide 10 vai cobrar: um dos dois caminhos de erro realmente se materializou.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responde a secao 4 do guia. Nao leia os tres cartoes: diga que os sete objetivos especificos se agrupam em formalizar a norma, construir o sistema e validar com medicao, e que a verificacao em planejador de referencia e objetivo declarado, nao detalhe. Se perguntarem quantos sao, sao sete, e estao listados no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POR QUE sobra decisao para o planejador, senao a plateia conclui que ele e decorativo. A camada geometrica entrega a ordem congelada e o custo de desvio. O que sobra para o planejador: o que fazer em cada casa, quando acionar a supervisao, e em qual parada vale a pena sair da rota para repor. Se perguntarem por que nao OR-Tools: ele resolve a metade geometrica e nao a normativa.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Detalhe metodologico que vale citar: o executor le os custos do proprio .pddl, para eliminar divergencia de medicao entre os dois grupos. Isso pegou um erro real durante o desenvolvimento, em que a mesma acao era cobrada de formas diferentes nos dois 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as lacunas como lacunas conhecidas, nao como promessas. A mais visivel frente ao enunciado e prioridade e intervalo na selecao do turno. Se perguntarem sobre dados de pacientes: todos ficticios, so as coordenadas sao reais, para dar ordem de grandeza a matriz.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fecha o circulo com o slide 6. Dissemos que a hipotese podia estar errada de dois jeitos, e um deles aconteceu. Abrir isso e mais forte do que esconder: mostra que o desenho experimental funcionou. Nao entre em numero de instancia aqui; se perguntarem, foram 40 microareas sorteadas.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caixa tem a MESMA forma da do slide 6, e cor diferente de proposito: la a hipotese estava em aberto, aqui e a que sobreviveu. Se quiser, aponte isso. Os dois cartoes sao o que torna a nova hipotese uma hipotese e nao um lema: ela e falsificavel nas duas direcoes, e cada direcao ja tem medicao. Se perguntarem o que caiu: economia de deslocamento e a ideia de que o planejamento acha planos que um programa corrigido nao acharia.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BAS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APA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7A67"/>
                </a:solidFill>
              </a:rPr>
              <a:t>INF99003 · Ciclo 2 · Grupo B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7"/>
                </a:solidFill>
              </a:rPr>
              <a:t> 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2344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35C38"/>
                </a:solidFill>
              </a:rPr>
              <a:t>PROJETO EM CIÊNCIA E INOVAÇÃO · INF99003 · CICLO 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91640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 Automatizado para o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cumprimento de protocolos legais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40156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5C4F41"/>
                </a:solidFill>
              </a:rPr>
              <a:t>Visitas domiciliares de Agentes Comunitários de Saúde na Atenção Primária do SUS</a:t>
            </a:r>
            <a:endParaRPr lang="en-US" sz="1650" dirty="0"/>
          </a:p>
        </p:txBody>
      </p:sp>
      <p:sp>
        <p:nvSpPr>
          <p:cNvPr id="5" name="divisor-capa"/>
          <p:cNvSpPr/>
          <p:nvPr/>
        </p:nvSpPr>
        <p:spPr>
          <a:xfrm>
            <a:off x="914400" y="4251960"/>
            <a:ext cx="1920240" cy="22860"/>
          </a:xfrm>
          <a:prstGeom prst="rect">
            <a:avLst/>
          </a:prstGeom>
          <a:solidFill>
            <a:srgbClr val="D9C4A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Gabriel Pieruccini Knopp   ·   Arthur Andrade da Silva   ·   Izadora Candotti de Oliveira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91947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A67"/>
                </a:solidFill>
              </a:rPr>
              <a:t>Grupo B   ·   Instituto de Informática, UFRGS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CONTEXTUALIZAÇÃO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Chegar na casa certa não autoriza o atendimento</a:t>
            </a:r>
            <a:endParaRPr lang="en-US" sz="3400" dirty="0"/>
          </a:p>
        </p:txBody>
      </p:sp>
      <p:sp>
        <p:nvSpPr>
          <p:cNvPr id="4" name="trad"/>
          <p:cNvSpPr/>
          <p:nvPr/>
        </p:nvSpPr>
        <p:spPr>
          <a:xfrm>
            <a:off x="685800" y="182880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23544" y="2029968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A7A67"/>
                </a:solidFill>
              </a:rPr>
              <a:t>COMO O PROBLEMA COSTUMA SER TRATADO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235915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problema de percurso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816352"/>
            <a:ext cx="482803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F41"/>
                </a:solidFill>
              </a:rPr>
              <a:t>Minimizar deslocamento, cobrir o território no prazo e respeitar a capacidade da equipe. É o que roteirizadores já resolvem bem.</a:t>
            </a:r>
            <a:endParaRPr lang="en-US" sz="1350" dirty="0"/>
          </a:p>
        </p:txBody>
      </p:sp>
      <p:sp>
        <p:nvSpPr>
          <p:cNvPr id="8" name="falta"/>
          <p:cNvSpPr/>
          <p:nvPr/>
        </p:nvSpPr>
        <p:spPr>
          <a:xfrm>
            <a:off x="6199632" y="182880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37376" y="2029968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35C38"/>
                </a:solidFill>
              </a:rPr>
              <a:t>O QUE ESSA FORMULAÇÃO DEIXA DE FORA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37376" y="235915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norma que rege o atendimento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37376" y="2816352"/>
            <a:ext cx="482803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F41"/>
                </a:solidFill>
              </a:rPr>
              <a:t>A Lei 11.350/2006 condiciona o que o agente pode fazer em cada residência. Nem toda condição é estática: insumo e supervisão se esgotam ao longo do turno.</a:t>
            </a:r>
            <a:endParaRPr lang="en-US" sz="1350" dirty="0"/>
          </a:p>
        </p:txBody>
      </p:sp>
      <p:sp>
        <p:nvSpPr>
          <p:cNvPr id="12" name="fecho"/>
          <p:cNvSpPr/>
          <p:nvPr/>
        </p:nvSpPr>
        <p:spPr>
          <a:xfrm>
            <a:off x="685800" y="4315968"/>
            <a:ext cx="10820095" cy="713232"/>
          </a:xfrm>
          <a:prstGeom prst="roundRect">
            <a:avLst>
              <a:gd name="adj" fmla="val 11538"/>
            </a:avLst>
          </a:prstGeom>
          <a:solidFill>
            <a:srgbClr val="F3DFD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38912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não é qual o menor percurso, e sim se aquela sequência de atendimentos é executável sem violar a norma.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POR QUE PLANEJAMENTO AUTOMATIZADO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 já está escrita como uma ação STRIPS</a:t>
            </a:r>
            <a:endParaRPr lang="en-US" sz="3400" dirty="0"/>
          </a:p>
        </p:txBody>
      </p:sp>
      <p:sp>
        <p:nvSpPr>
          <p:cNvPr id="4" name="lei"/>
          <p:cNvSpPr/>
          <p:nvPr/>
        </p:nvSpPr>
        <p:spPr>
          <a:xfrm>
            <a:off x="685800" y="1755648"/>
            <a:ext cx="10820095" cy="1481328"/>
          </a:xfrm>
          <a:prstGeom prst="roundRect">
            <a:avLst>
              <a:gd name="adj" fmla="val 5556"/>
            </a:avLst>
          </a:prstGeom>
          <a:solidFill>
            <a:srgbClr val="F3DFD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8408" y="1920240"/>
            <a:ext cx="102348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“desde que </a:t>
            </a:r>
            <a:pPr indent="0" marL="0">
              <a:lnSpc>
                <a:spcPts val="2000"/>
              </a:lnSpc>
              <a:buNone/>
            </a:pPr>
            <a:r>
              <a:rPr lang="en-US" sz="1500" b="1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tenha concluído curso técnico</a:t>
            </a:r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pPr indent="0" marL="0">
              <a:lnSpc>
                <a:spcPts val="2000"/>
              </a:lnSpc>
              <a:buNone/>
            </a:pPr>
            <a:r>
              <a:rPr lang="en-US" sz="1500" b="1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tenha disponíveis os equipamentos adequados</a:t>
            </a:r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são atividades do Agente […] </a:t>
            </a:r>
            <a:pPr indent="0" marL="0">
              <a:lnSpc>
                <a:spcPts val="2000"/>
              </a:lnSpc>
              <a:buNone/>
            </a:pPr>
            <a:r>
              <a:rPr lang="en-US" sz="1500" b="1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assistidas por profissional de saúde de nível superior</a:t>
            </a:r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[…] a aferição da pressão arterial […], </a:t>
            </a:r>
            <a:pPr indent="0" marL="0">
              <a:lnSpc>
                <a:spcPts val="2000"/>
              </a:lnSpc>
              <a:buNone/>
            </a:pPr>
            <a:r>
              <a:rPr lang="en-US" sz="1500" b="1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encaminhando o paciente</a:t>
            </a:r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para a unidade de referência”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834640"/>
            <a:ext cx="10234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A67"/>
                </a:solidFill>
              </a:rPr>
              <a:t>Lei nº 11.350/2006, art. 3º § 4º, na redação da Lei nº 13.595/2018</a:t>
            </a:r>
            <a:endParaRPr lang="en-US" sz="1100" dirty="0"/>
          </a:p>
        </p:txBody>
      </p:sp>
      <p:sp>
        <p:nvSpPr>
          <p:cNvPr id="7" name="pddl"/>
          <p:cNvSpPr/>
          <p:nvPr/>
        </p:nvSpPr>
        <p:spPr>
          <a:xfrm>
            <a:off x="685800" y="3456432"/>
            <a:ext cx="10820095" cy="1664208"/>
          </a:xfrm>
          <a:prstGeom prst="roundRect">
            <a:avLst>
              <a:gd name="adj" fmla="val 4945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78408" y="3621024"/>
            <a:ext cx="1023487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4A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:precondition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2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(and (curso-tecnico-concluido ?ag)
                   (equipamento-disponivel ?ag)
                   (supervisao-ativa ?ag))
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4A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:effect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2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(and (pa-ok ?p)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2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(pendencia-encaminhamento ?p))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321808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if/else codifica a regra. Um domínio PDDL é a regra.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REVISÃO DE LITERATURA E MERCADO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frentes maduras, e o que nenhuma cobre</a:t>
            </a:r>
            <a:endParaRPr lang="en-US" sz="3400" dirty="0"/>
          </a:p>
        </p:txBody>
      </p:sp>
      <p:sp>
        <p:nvSpPr>
          <p:cNvPr id="4" name="lit1"/>
          <p:cNvSpPr/>
          <p:nvPr/>
        </p:nvSpPr>
        <p:spPr>
          <a:xfrm>
            <a:off x="685800" y="1810512"/>
            <a:ext cx="3448202" cy="2212848"/>
          </a:xfrm>
          <a:prstGeom prst="roundRect">
            <a:avLst>
              <a:gd name="adj" fmla="val 4132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23544" y="2011680"/>
            <a:ext cx="29727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Roteamento em saúde domiciliar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2743200"/>
            <a:ext cx="297271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Reconhece qualificação profissional como restrição, mas a modela como etiqueta fixa de compatibilidade.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Fikar &amp; Hirsch (2017)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Cissé et al. (2017)</a:t>
            </a:r>
            <a:endParaRPr lang="en-US" sz="1250" dirty="0"/>
          </a:p>
        </p:txBody>
      </p:sp>
      <p:sp>
        <p:nvSpPr>
          <p:cNvPr id="7" name="lit2"/>
          <p:cNvSpPr/>
          <p:nvPr/>
        </p:nvSpPr>
        <p:spPr>
          <a:xfrm>
            <a:off x="4371746" y="1810512"/>
            <a:ext cx="3448202" cy="2212848"/>
          </a:xfrm>
          <a:prstGeom prst="roundRect">
            <a:avLst>
              <a:gd name="adj" fmla="val 4132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09490" y="2011680"/>
            <a:ext cx="29727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 em protocolos clínicos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609490" y="2743200"/>
            <a:ext cx="297271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Traduz diretrizes clínicas para domínios de planejamento, mas sem componente de roteamento.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González-Ferrer et al. (2013)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Bradbrook et al. (2005)</a:t>
            </a:r>
            <a:endParaRPr lang="en-US" sz="1250" dirty="0"/>
          </a:p>
        </p:txBody>
      </p:sp>
      <p:sp>
        <p:nvSpPr>
          <p:cNvPr id="10" name="lit3"/>
          <p:cNvSpPr/>
          <p:nvPr/>
        </p:nvSpPr>
        <p:spPr>
          <a:xfrm>
            <a:off x="8057693" y="1810512"/>
            <a:ext cx="3448202" cy="2212848"/>
          </a:xfrm>
          <a:prstGeom prst="roundRect">
            <a:avLst>
              <a:gd name="adj" fmla="val 4132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95437" y="2011680"/>
            <a:ext cx="29727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de mercado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295437" y="2743200"/>
            <a:ext cx="297271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OR-Tools e OSRM otimizam a geometria. O e-SUS Território registra a visita, sem roteirizar nem verificar conformidade.</a:t>
            </a:r>
            <a:endParaRPr lang="en-US" sz="1250" dirty="0"/>
          </a:p>
        </p:txBody>
      </p:sp>
      <p:sp>
        <p:nvSpPr>
          <p:cNvPr id="13" name="fecho"/>
          <p:cNvSpPr/>
          <p:nvPr/>
        </p:nvSpPr>
        <p:spPr>
          <a:xfrm>
            <a:off x="685800" y="4352544"/>
            <a:ext cx="10820095" cy="713232"/>
          </a:xfrm>
          <a:prstGeom prst="roundRect">
            <a:avLst>
              <a:gd name="adj" fmla="val 11538"/>
            </a:avLst>
          </a:prstGeom>
          <a:solidFill>
            <a:srgbClr val="DDE7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4256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literatura, a qualificação é uma etiqueta fixa. Na lei brasileira, ela é uma soma de condições que se gastam durante o turno. É nessa interseção que o projeto se posiciona.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POR QUE NÃO É TRIVIAL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recursos acoplam as paradas entre si</a:t>
            </a:r>
            <a:endParaRPr lang="en-US" sz="3400" dirty="0"/>
          </a:p>
        </p:txBody>
      </p:sp>
      <p:sp>
        <p:nvSpPr>
          <p:cNvPr id="4" name="rec1"/>
          <p:cNvSpPr/>
          <p:nvPr/>
        </p:nvSpPr>
        <p:spPr>
          <a:xfrm>
            <a:off x="685800" y="1828800"/>
            <a:ext cx="5047488" cy="1572768"/>
          </a:xfrm>
          <a:prstGeom prst="roundRect">
            <a:avLst>
              <a:gd name="adj" fmla="val 5814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23544" y="2029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35C38"/>
                </a:solidFill>
              </a:rPr>
              <a:t>RECURSO 1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23591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Insumo consumível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8163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F41"/>
                </a:solidFill>
              </a:rPr>
              <a:t>A fita de glicemia só se repõe na unidade de saúde. Acabar no meio da rota obriga um desvio não previsto.</a:t>
            </a:r>
            <a:endParaRPr lang="en-US" sz="1350" dirty="0"/>
          </a:p>
        </p:txBody>
      </p:sp>
      <p:sp>
        <p:nvSpPr>
          <p:cNvPr id="8" name="rec2"/>
          <p:cNvSpPr/>
          <p:nvPr/>
        </p:nvSpPr>
        <p:spPr>
          <a:xfrm>
            <a:off x="5971032" y="1828800"/>
            <a:ext cx="5047488" cy="1572768"/>
          </a:xfrm>
          <a:prstGeom prst="roundRect">
            <a:avLst>
              <a:gd name="adj" fmla="val 5814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208776" y="2029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35C38"/>
                </a:solidFill>
              </a:rPr>
              <a:t>RECURSO 2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208776" y="23591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Supervisão da equipe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08776" y="28163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F41"/>
                </a:solidFill>
              </a:rPr>
              <a:t>O § 4º exige assistência de profissional de nível superior, e ela se encerra quando o agente deixa a residência.</a:t>
            </a:r>
            <a:endParaRPr lang="en-US" sz="1350" dirty="0"/>
          </a:p>
        </p:txBody>
      </p:sp>
      <p:sp>
        <p:nvSpPr>
          <p:cNvPr id="12" name="consequencia"/>
          <p:cNvSpPr/>
          <p:nvPr/>
        </p:nvSpPr>
        <p:spPr>
          <a:xfrm>
            <a:off x="685800" y="3675888"/>
            <a:ext cx="10820095" cy="1298448"/>
          </a:xfrm>
          <a:prstGeom prst="roundRect">
            <a:avLst>
              <a:gd name="adj" fmla="val 6338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78408" y="3840480"/>
            <a:ext cx="102348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decisão tomada na terceira parada pode inviabilizar a sétima.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978408" y="4279392"/>
            <a:ext cx="102348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F41"/>
                </a:solidFill>
              </a:rPr>
              <a:t>O número de sequências candidatas cresce exponencialmente, e a interação entre decisões distantes na rota não é tratável por inspeção manual nem por planilha.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175504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esse acoplamento que torna o problema combinatório, e não a geometria da rota.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HIPÓTESE DE TRABALHO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acreditamos, e os dois jeitos de estarmos errados</a:t>
            </a:r>
            <a:endParaRPr lang="en-US" sz="3400" dirty="0"/>
          </a:p>
        </p:txBody>
      </p:sp>
      <p:sp>
        <p:nvSpPr>
          <p:cNvPr id="4" name="hip"/>
          <p:cNvSpPr/>
          <p:nvPr/>
        </p:nvSpPr>
        <p:spPr>
          <a:xfrm>
            <a:off x="685800" y="1783080"/>
            <a:ext cx="10820095" cy="1371600"/>
          </a:xfrm>
          <a:prstGeom prst="roundRect">
            <a:avLst>
              <a:gd name="adj" fmla="val 6000"/>
            </a:avLst>
          </a:prstGeom>
          <a:solidFill>
            <a:srgbClr val="F3DFD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6696" y="1956816"/>
            <a:ext cx="10198303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representação declarativa das condições legais reduzirá a ocorrência de falsos negativos: turnos classificados como inexequíveis quando existe sequência válida.</a:t>
            </a:r>
            <a:endParaRPr lang="en-US" sz="1900" dirty="0"/>
          </a:p>
        </p:txBody>
      </p:sp>
      <p:sp>
        <p:nvSpPr>
          <p:cNvPr id="6" name="alt1"/>
          <p:cNvSpPr/>
          <p:nvPr/>
        </p:nvSpPr>
        <p:spPr>
          <a:xfrm>
            <a:off x="685800" y="3401568"/>
            <a:ext cx="5047488" cy="1572768"/>
          </a:xfrm>
          <a:prstGeom prst="roundRect">
            <a:avLst>
              <a:gd name="adj" fmla="val 5814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23544" y="3602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A7A67"/>
                </a:solidFill>
              </a:rPr>
              <a:t>SE ESTIVERMOS ERRADOS, CAMINHO 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23544" y="3931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planejador é redundante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23544" y="43891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F41"/>
                </a:solidFill>
              </a:rPr>
              <a:t>Um executor procedural simples alcança desempenho equivalente.</a:t>
            </a:r>
            <a:endParaRPr lang="en-US" sz="1350" dirty="0"/>
          </a:p>
        </p:txBody>
      </p:sp>
      <p:sp>
        <p:nvSpPr>
          <p:cNvPr id="10" name="alt2"/>
          <p:cNvSpPr/>
          <p:nvPr/>
        </p:nvSpPr>
        <p:spPr>
          <a:xfrm>
            <a:off x="5971032" y="3401568"/>
            <a:ext cx="5047488" cy="1572768"/>
          </a:xfrm>
          <a:prstGeom prst="roundRect">
            <a:avLst>
              <a:gd name="adj" fmla="val 5814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08776" y="3602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A7A67"/>
                </a:solidFill>
              </a:rPr>
              <a:t>SE ESTIVERMOS ERRADOS, CAMINHO 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208776" y="3931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planejador não escala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43891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F41"/>
                </a:solidFill>
              </a:rPr>
              <a:t>O custo da busca cresce a ponto de inviabilizar microáreas reais.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19379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validação foi desenhada para que qualquer um dos três desfechos possa aparecer.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OBJETIVOS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será modelado, construído e medido</a:t>
            </a:r>
            <a:endParaRPr lang="en-US" sz="3400" dirty="0"/>
          </a:p>
        </p:txBody>
      </p:sp>
      <p:sp>
        <p:nvSpPr>
          <p:cNvPr id="4" name="og"/>
          <p:cNvSpPr/>
          <p:nvPr/>
        </p:nvSpPr>
        <p:spPr>
          <a:xfrm>
            <a:off x="685800" y="1755648"/>
            <a:ext cx="10820095" cy="1078992"/>
          </a:xfrm>
          <a:prstGeom prst="roundRect">
            <a:avLst>
              <a:gd name="adj" fmla="val 7627"/>
            </a:avLst>
          </a:prstGeom>
          <a:solidFill>
            <a:srgbClr val="F3DFD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8408" y="1865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B35C38"/>
                </a:solidFill>
              </a:rPr>
              <a:t>OBJETIVO GERAL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139696"/>
            <a:ext cx="102348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Modelar, implementar e validar um sistema de apoio ao planejamento de turnos de visitas domiciliares, e mensurar em que dimensões o paradigma supera um executor procedural equivalente.</a:t>
            </a:r>
            <a:endParaRPr lang="en-US" sz="1550" dirty="0"/>
          </a:p>
        </p:txBody>
      </p:sp>
      <p:sp>
        <p:nvSpPr>
          <p:cNvPr id="7" name="obj0"/>
          <p:cNvSpPr/>
          <p:nvPr/>
        </p:nvSpPr>
        <p:spPr>
          <a:xfrm>
            <a:off x="685800" y="3090672"/>
            <a:ext cx="3448202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23544" y="3273552"/>
            <a:ext cx="29727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Formalizar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23544" y="3621024"/>
            <a:ext cx="29727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33291F"/>
                </a:solidFill>
              </a:rPr>
              <a:t>A norma em domínio PDDL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23544" y="4151376"/>
            <a:ext cx="29727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Traduzir os §§ 3º e 4º do art. 3º da Lei 11.350/2006 e as diretrizes da PNAB em ações, pré-condições e efeitos.</a:t>
            </a:r>
            <a:endParaRPr lang="en-US" sz="1250" dirty="0"/>
          </a:p>
        </p:txBody>
      </p:sp>
      <p:sp>
        <p:nvSpPr>
          <p:cNvPr id="11" name="obj1"/>
          <p:cNvSpPr/>
          <p:nvPr/>
        </p:nvSpPr>
        <p:spPr>
          <a:xfrm>
            <a:off x="4371746" y="3090672"/>
            <a:ext cx="3448202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09490" y="3273552"/>
            <a:ext cx="29727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09490" y="3621024"/>
            <a:ext cx="29727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33291F"/>
                </a:solidFill>
              </a:rPr>
              <a:t>O sistema e o ambiente de medição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09490" y="4151376"/>
            <a:ext cx="29727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A camada geométrica, o tradutor para PDDL, o executor procedural de referência e a saída legível pelo agente.</a:t>
            </a:r>
            <a:endParaRPr lang="en-US" sz="1250" dirty="0"/>
          </a:p>
        </p:txBody>
      </p:sp>
      <p:sp>
        <p:nvSpPr>
          <p:cNvPr id="15" name="obj2"/>
          <p:cNvSpPr/>
          <p:nvPr/>
        </p:nvSpPr>
        <p:spPr>
          <a:xfrm>
            <a:off x="8057693" y="3090672"/>
            <a:ext cx="3448202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95437" y="3273552"/>
            <a:ext cx="29727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95437" y="3621024"/>
            <a:ext cx="29727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33291F"/>
                </a:solidFill>
              </a:rPr>
              <a:t>Os experimentos e a independência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95437" y="4151376"/>
            <a:ext cx="29727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Escalabilidade, qualidade de plano e reconhecimento de inviabilidade, com conferência em planejador de referência.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2120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sete objetivos específicos cabem nesses três verbos, e a ordem entre eles é a ordem do trabalho.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PROPOSTA DE ABORDAGEM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camadas, cada paradigma no seu lugar</a:t>
            </a:r>
            <a:endParaRPr lang="en-US" sz="3400" dirty="0"/>
          </a:p>
        </p:txBody>
      </p:sp>
      <p:sp>
        <p:nvSpPr>
          <p:cNvPr id="4" name="camada1"/>
          <p:cNvSpPr/>
          <p:nvPr/>
        </p:nvSpPr>
        <p:spPr>
          <a:xfrm>
            <a:off x="685800" y="1783080"/>
            <a:ext cx="10820095" cy="987552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5" name="num1"/>
          <p:cNvSpPr/>
          <p:nvPr/>
        </p:nvSpPr>
        <p:spPr>
          <a:xfrm>
            <a:off x="941832" y="2057400"/>
            <a:ext cx="438912" cy="438912"/>
          </a:xfrm>
          <a:prstGeom prst="ellipse">
            <a:avLst/>
          </a:prstGeom>
          <a:solidFill>
            <a:srgbClr val="B35C3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385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Seleção</a:t>
            </a:r>
            <a:pPr indent="0" marL="0">
              <a:buNone/>
            </a:pPr>
            <a:r>
              <a:rPr lang="en-US" sz="1350" dirty="0">
                <a:solidFill>
                  <a:srgbClr val="5C4F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quem entra no turno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9514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Prioridade clínica e atraso em relação ao intervalo máximo, sob orçamento de tempo.</a:t>
            </a:r>
            <a:endParaRPr lang="en-US" sz="1300" dirty="0"/>
          </a:p>
        </p:txBody>
      </p:sp>
      <p:sp>
        <p:nvSpPr>
          <p:cNvPr id="9" name="camada2"/>
          <p:cNvSpPr/>
          <p:nvPr/>
        </p:nvSpPr>
        <p:spPr>
          <a:xfrm>
            <a:off x="685800" y="2880360"/>
            <a:ext cx="10820095" cy="987552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0" name="num2"/>
          <p:cNvSpPr/>
          <p:nvPr/>
        </p:nvSpPr>
        <p:spPr>
          <a:xfrm>
            <a:off x="941832" y="3154680"/>
            <a:ext cx="438912" cy="438912"/>
          </a:xfrm>
          <a:prstGeom prst="ellipse">
            <a:avLst/>
          </a:prstGeom>
          <a:solidFill>
            <a:srgbClr val="B35C3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035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Roteamento</a:t>
            </a:r>
            <a:pPr indent="0" marL="0">
              <a:buNone/>
            </a:pPr>
            <a:r>
              <a:rPr lang="en-US" sz="1350" dirty="0">
                <a:solidFill>
                  <a:srgbClr val="5C4F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em que ordem visitar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39242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Heurística de grafos sobre a matriz de distâncias. Entrega a rota e o custo de desviar até a unidade.</a:t>
            </a:r>
            <a:endParaRPr lang="en-US" sz="1300" dirty="0"/>
          </a:p>
        </p:txBody>
      </p:sp>
      <p:sp>
        <p:nvSpPr>
          <p:cNvPr id="14" name="camada3"/>
          <p:cNvSpPr/>
          <p:nvPr/>
        </p:nvSpPr>
        <p:spPr>
          <a:xfrm>
            <a:off x="685800" y="3977640"/>
            <a:ext cx="10820095" cy="987552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5" name="num3"/>
          <p:cNvSpPr/>
          <p:nvPr/>
        </p:nvSpPr>
        <p:spPr>
          <a:xfrm>
            <a:off x="941832" y="4251960"/>
            <a:ext cx="438912" cy="438912"/>
          </a:xfrm>
          <a:prstGeom prst="ellipse">
            <a:avLst/>
          </a:prstGeom>
          <a:solidFill>
            <a:srgbClr val="4A6B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1832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330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</a:t>
            </a:r>
            <a:pPr indent="0" marL="0">
              <a:buNone/>
            </a:pPr>
            <a:r>
              <a:rPr lang="en-US" sz="1350" dirty="0">
                <a:solidFill>
                  <a:srgbClr val="5C4F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o que fazer em cada parada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48970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Domínio PDDL com as condições legais e os recursos finitos. Decide as ações e os desvios de reposição.</a:t>
            </a:r>
            <a:endParaRPr lang="en-US" sz="1300" dirty="0"/>
          </a:p>
        </p:txBody>
      </p:sp>
      <p:sp>
        <p:nvSpPr>
          <p:cNvPr id="19" name="fecho"/>
          <p:cNvSpPr/>
          <p:nvPr/>
        </p:nvSpPr>
        <p:spPr>
          <a:xfrm>
            <a:off x="685800" y="5120640"/>
            <a:ext cx="10820095" cy="713232"/>
          </a:xfrm>
          <a:prstGeom prst="roundRect">
            <a:avLst>
              <a:gd name="adj" fmla="val 11538"/>
            </a:avLst>
          </a:prstGeom>
          <a:solidFill>
            <a:srgbClr val="DDE7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519379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camada 3 nunca escolhe a rota: ela só anda pelas arestas que a camada 2 autorizou. Por isso trocar o roteirizador não muda uma linha do domínio.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PLANO DE VALIDAÇÃO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Construímos o adversário antes de medir</a:t>
            </a:r>
            <a:endParaRPr lang="en-US" sz="3400" dirty="0"/>
          </a:p>
        </p:txBody>
      </p:sp>
      <p:sp>
        <p:nvSpPr>
          <p:cNvPr id="4" name="controle"/>
          <p:cNvSpPr/>
          <p:nvPr/>
        </p:nvSpPr>
        <p:spPr>
          <a:xfrm>
            <a:off x="685800" y="1737360"/>
            <a:ext cx="10820095" cy="1133856"/>
          </a:xfrm>
          <a:prstGeom prst="roundRect">
            <a:avLst>
              <a:gd name="adj" fmla="val 7258"/>
            </a:avLst>
          </a:prstGeom>
          <a:solidFill>
            <a:srgbClr val="DDE7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8408" y="1865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B"/>
                </a:solidFill>
              </a:rPr>
              <a:t>Grupo de comparação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176272"/>
            <a:ext cx="1023487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291F"/>
                </a:solidFill>
              </a:rPr>
              <a:t>Um executor procedural percorre a mesma rota, cumpre os mesmos protocolos e lê a mesma tabela de custos do arquivo PDDL. O que ele não faz é antecipar: só descobre que falta recurso no momento de usá-lo.</a:t>
            </a:r>
            <a:endParaRPr lang="en-US" sz="1400" dirty="0"/>
          </a:p>
        </p:txBody>
      </p:sp>
      <p:sp>
        <p:nvSpPr>
          <p:cNvPr id="7" name="exp0"/>
          <p:cNvSpPr/>
          <p:nvPr/>
        </p:nvSpPr>
        <p:spPr>
          <a:xfrm>
            <a:off x="685800" y="3035808"/>
            <a:ext cx="3448202" cy="1975104"/>
          </a:xfrm>
          <a:prstGeom prst="roundRect">
            <a:avLst>
              <a:gd name="adj" fmla="val 4630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23544" y="3236976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A7A67"/>
                </a:solidFill>
              </a:rPr>
              <a:t>EXPERIMENTO 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23544" y="3566160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Escalabilidade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23544" y="4005072"/>
            <a:ext cx="2972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Até que tamanho de microárea cada estratégia de busca ainda é viável.</a:t>
            </a:r>
            <a:endParaRPr lang="en-US" sz="1250" dirty="0"/>
          </a:p>
        </p:txBody>
      </p:sp>
      <p:sp>
        <p:nvSpPr>
          <p:cNvPr id="11" name="exp1"/>
          <p:cNvSpPr/>
          <p:nvPr/>
        </p:nvSpPr>
        <p:spPr>
          <a:xfrm>
            <a:off x="4371746" y="3035808"/>
            <a:ext cx="3448202" cy="1975104"/>
          </a:xfrm>
          <a:prstGeom prst="roundRect">
            <a:avLst>
              <a:gd name="adj" fmla="val 4630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09490" y="3236976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A7A67"/>
                </a:solidFill>
              </a:rPr>
              <a:t>EXPERIMENTO 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09490" y="3566160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Falsos negativos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09490" y="4005072"/>
            <a:ext cx="2972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Com que frequência cada abordagem declara inexequível um turno que tem solução.</a:t>
            </a:r>
            <a:endParaRPr lang="en-US" sz="1250" dirty="0"/>
          </a:p>
        </p:txBody>
      </p:sp>
      <p:sp>
        <p:nvSpPr>
          <p:cNvPr id="15" name="exp2"/>
          <p:cNvSpPr/>
          <p:nvPr/>
        </p:nvSpPr>
        <p:spPr>
          <a:xfrm>
            <a:off x="8057693" y="3035808"/>
            <a:ext cx="3448202" cy="1975104"/>
          </a:xfrm>
          <a:prstGeom prst="roundRect">
            <a:avLst>
              <a:gd name="adj" fmla="val 4630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95437" y="3236976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A7A67"/>
                </a:solidFill>
              </a:rPr>
              <a:t>EXPERIMENTO 3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95437" y="3566160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de inviabilidade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5437" y="4005072"/>
            <a:ext cx="2972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Instâncias sem solução, de dois tipos: falta condição legal, ou falta recurso.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138928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variável isolada é uma só: a capacidade de antecipar conflitos de recursos.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RESULTADOS ESPERADOS E CRONOGRAMA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será entregue, e até quando</a:t>
            </a:r>
            <a:endParaRPr lang="en-US" sz="3400" dirty="0"/>
          </a:p>
        </p:txBody>
      </p:sp>
      <p:sp>
        <p:nvSpPr>
          <p:cNvPr id="4" name="entrega"/>
          <p:cNvSpPr/>
          <p:nvPr/>
        </p:nvSpPr>
        <p:spPr>
          <a:xfrm>
            <a:off x="685800" y="1783080"/>
            <a:ext cx="4754880" cy="3108960"/>
          </a:xfrm>
          <a:prstGeom prst="roundRect">
            <a:avLst>
              <a:gd name="adj" fmla="val 2941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23544" y="1984248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B"/>
                </a:solidFill>
              </a:rPr>
              <a:t>NÍVEL DE MATURIDADE TRL 3 A 4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2313432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validado em laboratório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770632"/>
            <a:ext cx="427939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Não é produto pronto para implantação em rede de saúde.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·  o sistema com as camadas integradas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·  o domínio PDDL mapeado dispositivo a dispositivo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·  a saída legível pelo agente de saúde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·  os experimentos reprodutíveis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·  o relatório técnico das medições</a:t>
            </a:r>
            <a:endParaRPr lang="en-US" sz="1300" dirty="0"/>
          </a:p>
        </p:txBody>
      </p:sp>
      <p:sp>
        <p:nvSpPr>
          <p:cNvPr id="8" name="marco0"/>
          <p:cNvSpPr/>
          <p:nvPr/>
        </p:nvSpPr>
        <p:spPr>
          <a:xfrm>
            <a:off x="5678424" y="1783080"/>
            <a:ext cx="5827471" cy="969264"/>
          </a:xfrm>
          <a:prstGeom prst="roundRect">
            <a:avLst>
              <a:gd name="adj" fmla="val 7547"/>
            </a:avLst>
          </a:prstGeom>
          <a:solidFill>
            <a:srgbClr val="DDE7E0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916168" y="1947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/ 09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9293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Concepção e verificação de viabilidade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27685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5C4F41"/>
                </a:solidFill>
              </a:rPr>
              <a:t>Delimitação do problema, revisão bibliográfica e implementação exploratória.</a:t>
            </a:r>
            <a:endParaRPr lang="en-US" sz="1200" dirty="0"/>
          </a:p>
        </p:txBody>
      </p:sp>
      <p:sp>
        <p:nvSpPr>
          <p:cNvPr id="12" name="marco1"/>
          <p:cNvSpPr/>
          <p:nvPr/>
        </p:nvSpPr>
        <p:spPr>
          <a:xfrm>
            <a:off x="5678424" y="2852928"/>
            <a:ext cx="5827471" cy="969264"/>
          </a:xfrm>
          <a:prstGeom prst="roundRect">
            <a:avLst>
              <a:gd name="adj" fmla="val 7547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916168" y="30175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/ 10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9992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Construção do sistema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34670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5C4F41"/>
                </a:solidFill>
              </a:rPr>
              <a:t>Domínio completo, camada geométrica, política de seleção, saída operacional e experimentos.</a:t>
            </a:r>
            <a:endParaRPr lang="en-US" sz="1200" dirty="0"/>
          </a:p>
        </p:txBody>
      </p:sp>
      <p:sp>
        <p:nvSpPr>
          <p:cNvPr id="16" name="marco2"/>
          <p:cNvSpPr/>
          <p:nvPr/>
        </p:nvSpPr>
        <p:spPr>
          <a:xfrm>
            <a:off x="5678424" y="3922776"/>
            <a:ext cx="5827471" cy="969264"/>
          </a:xfrm>
          <a:prstGeom prst="roundRect">
            <a:avLst>
              <a:gd name="adj" fmla="val 7547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916168" y="408736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/ 10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069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Consolidação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41655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5C4F41"/>
                </a:solidFill>
              </a:rPr>
              <a:t>Análise crítica, relatório final e apresentação.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138928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desfecho contrário à hipótese também é resultado: delimitaria as condições em que o paradigma compensa.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IMPLEMENTAÇÃO EXPLORATÓRIA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coisas que já aprendemos, uma delas contra nós</a:t>
            </a:r>
            <a:endParaRPr lang="en-US" sz="3400" dirty="0"/>
          </a:p>
        </p:txBody>
      </p:sp>
      <p:sp>
        <p:nvSpPr>
          <p:cNvPr id="4" name="achado0"/>
          <p:cNvSpPr/>
          <p:nvPr/>
        </p:nvSpPr>
        <p:spPr>
          <a:xfrm>
            <a:off x="685800" y="1810512"/>
            <a:ext cx="3448202" cy="2286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23544" y="2011680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B"/>
                </a:solidFill>
              </a:rPr>
              <a:t>A FAVOR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2340864"/>
            <a:ext cx="29727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busca trivial não escala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3017520"/>
            <a:ext cx="29727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Varrer o mesmo modelo declarativo sem heurística resolve até 5 ou 6 pacientes. Um turno real tem de 10 a 15.</a:t>
            </a:r>
            <a:endParaRPr lang="en-US" sz="1300" dirty="0"/>
          </a:p>
        </p:txBody>
      </p:sp>
      <p:sp>
        <p:nvSpPr>
          <p:cNvPr id="8" name="achado1"/>
          <p:cNvSpPr/>
          <p:nvPr/>
        </p:nvSpPr>
        <p:spPr>
          <a:xfrm>
            <a:off x="4371746" y="1810512"/>
            <a:ext cx="3448202" cy="2286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09490" y="2011680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B"/>
                </a:solidFill>
              </a:rPr>
              <a:t>A FAVOR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609490" y="2340864"/>
            <a:ext cx="29727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planejador está correto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09490" y="3017520"/>
            <a:ext cx="29727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Um planejador de referência independente concordou sobre viabilidade e plano mínimo em todas as instâncias testadas.</a:t>
            </a:r>
            <a:endParaRPr lang="en-US" sz="1300" dirty="0"/>
          </a:p>
        </p:txBody>
      </p:sp>
      <p:sp>
        <p:nvSpPr>
          <p:cNvPr id="12" name="achado2"/>
          <p:cNvSpPr/>
          <p:nvPr/>
        </p:nvSpPr>
        <p:spPr>
          <a:xfrm>
            <a:off x="8057693" y="1810512"/>
            <a:ext cx="3448202" cy="2286000"/>
          </a:xfrm>
          <a:prstGeom prst="roundRect">
            <a:avLst>
              <a:gd name="adj" fmla="val 4000"/>
            </a:avLst>
          </a:prstGeom>
          <a:solidFill>
            <a:srgbClr val="F3DFD3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95437" y="2011680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35C38"/>
                </a:solidFill>
              </a:rPr>
              <a:t>CONTRA A HIPÓTESE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95437" y="2340864"/>
            <a:ext cx="29727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hipótese foi refutada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95437" y="3017520"/>
            <a:ext cx="29727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Uma correção manual no executor procedural zera os falsos negativos. Ele não era incapaz: faltava-lhe a regra.</a:t>
            </a:r>
            <a:endParaRPr lang="en-US" sz="1300" dirty="0"/>
          </a:p>
        </p:txBody>
      </p:sp>
      <p:sp>
        <p:nvSpPr>
          <p:cNvPr id="16" name="fecho"/>
          <p:cNvSpPr/>
          <p:nvPr/>
        </p:nvSpPr>
        <p:spPr>
          <a:xfrm>
            <a:off x="685800" y="4407408"/>
            <a:ext cx="10820095" cy="713232"/>
          </a:xfrm>
          <a:prstGeom prst="roundRect">
            <a:avLst>
              <a:gd name="adj" fmla="val 11538"/>
            </a:avLst>
          </a:prstGeom>
          <a:solidFill>
            <a:srgbClr val="F3DFD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48056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1 de erro, previsto no slide da hipótese, foi o que se materializou. A pergunta de pesquisa precisa ser reformulada.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REFORMULAÇÃO DA HIPÓTESE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trabalho passa a defender</a:t>
            </a:r>
            <a:endParaRPr lang="en-US" sz="3400" dirty="0"/>
          </a:p>
        </p:txBody>
      </p:sp>
      <p:sp>
        <p:nvSpPr>
          <p:cNvPr id="4" name="nova-hipotese"/>
          <p:cNvSpPr/>
          <p:nvPr/>
        </p:nvSpPr>
        <p:spPr>
          <a:xfrm>
            <a:off x="685800" y="1755648"/>
            <a:ext cx="10820095" cy="1481328"/>
          </a:xfrm>
          <a:prstGeom prst="roundRect">
            <a:avLst>
              <a:gd name="adj" fmla="val 5556"/>
            </a:avLst>
          </a:prstGeom>
          <a:solidFill>
            <a:srgbClr val="DDE7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6696" y="1938528"/>
            <a:ext cx="1019830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Manter a norma como especificação declarativa preserva a corretude do sistema diante de regras novas, a um custo de busca que ainda cabe num turno real.</a:t>
            </a:r>
            <a:endParaRPr lang="en-US" sz="2000" dirty="0"/>
          </a:p>
        </p:txBody>
      </p:sp>
      <p:sp>
        <p:nvSpPr>
          <p:cNvPr id="6" name="perna0"/>
          <p:cNvSpPr/>
          <p:nvPr/>
        </p:nvSpPr>
        <p:spPr>
          <a:xfrm>
            <a:off x="685800" y="3456432"/>
            <a:ext cx="5047488" cy="1572768"/>
          </a:xfrm>
          <a:prstGeom prst="roundRect">
            <a:avLst>
              <a:gd name="adj" fmla="val 5814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23544" y="36393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B3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Tire a declaratividade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4F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e sobra o programa procedural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23544" y="422452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F41"/>
                </a:solidFill>
              </a:rPr>
              <a:t>Ele resolve bem as regras que alguém já analisou, e falha quando elas mudam.</a:t>
            </a:r>
            <a:endParaRPr lang="en-US" sz="1350" dirty="0"/>
          </a:p>
        </p:txBody>
      </p:sp>
      <p:sp>
        <p:nvSpPr>
          <p:cNvPr id="9" name="perna1"/>
          <p:cNvSpPr/>
          <p:nvPr/>
        </p:nvSpPr>
        <p:spPr>
          <a:xfrm>
            <a:off x="5971032" y="3456432"/>
            <a:ext cx="5047488" cy="1572768"/>
          </a:xfrm>
          <a:prstGeom prst="roundRect">
            <a:avLst>
              <a:gd name="adj" fmla="val 5814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08776" y="36393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B3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Tire a busca heurística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4F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e sobra a varredura cega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08776" y="422452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F41"/>
                </a:solidFill>
              </a:rPr>
              <a:t>Ela absorve regra nova sem esforço, e não chega ao tamanho de um turno.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19379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das duas metades sozinha resolve. Planejamento Automatizado é o nome da combinação.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me">
  <a:themeElements>
    <a:clrScheme name="Creme">
      <a:dk1>
        <a:srgbClr val="33291F"/>
      </a:dk1>
      <a:lt1>
        <a:srgbClr val="FEFCF7"/>
      </a:lt1>
      <a:dk2>
        <a:srgbClr val="5C4F41"/>
      </a:dk2>
      <a:lt2>
        <a:srgbClr val="F2E7D2"/>
      </a:lt2>
      <a:accent1>
        <a:srgbClr val="B35C38"/>
      </a:accent1>
      <a:accent2>
        <a:srgbClr val="4A6B5B"/>
      </a:accent2>
      <a:accent3>
        <a:srgbClr val="8A7A67"/>
      </a:accent3>
      <a:accent4>
        <a:srgbClr val="E8D8BC"/>
      </a:accent4>
      <a:accent5>
        <a:srgbClr val="F3DFD3"/>
      </a:accent5>
      <a:accent6>
        <a:srgbClr val="DDE7E0"/>
      </a:accent6>
      <a:hlink>
        <a:srgbClr val="B35C38"/>
      </a:hlink>
      <a:folHlink>
        <a:srgbClr val="8A7A67"/>
      </a:folHlink>
    </a:clrScheme>
    <a:fontScheme name="Crem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Protocolos legais em visitas domiciliares de ACS</dc:title>
  <dc:subject>PptxGenJS Presentation</dc:subject>
  <dc:creator>Grupo B</dc:creator>
  <cp:lastModifiedBy>Grupo B</cp:lastModifiedBy>
  <cp:revision>1</cp:revision>
  <dcterms:created xsi:type="dcterms:W3CDTF">2026-10-02T02:40:57Z</dcterms:created>
  <dcterms:modified xsi:type="dcterms:W3CDTF">2026-10-02T02:40:57Z</dcterms:modified>
</cp:coreProperties>
</file>