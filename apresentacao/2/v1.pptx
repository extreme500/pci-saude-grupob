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ed2bf47a-c284-f64c-6596-c9328faf7dcc}">
          <p14:sldIdLst>
            <p14:sldId id="256"/>
          </p14:sldIdLst>
        </p14:section>
        <p14:section name="O problema" id="{e196778b-1304-7de5-ee75-42ea86e144dc}">
          <p14:sldIdLst>
            <p14:sldId id="257"/>
          </p14:sldIdLst>
        </p14:section>
        <p14:section name="Justificativa" id="{5cf5a968-ec7e-fc63-63cc-f2769c8fe3f6}">
          <p14:sldIdLst>
            <p14:sldId id="258"/>
          </p14:sldIdLst>
        </p14:section>
        <p14:section name="Literatura" id="{c340b921-1a0a-ac19-1485-b4603f9b7764}">
          <p14:sldIdLst>
            <p14:sldId id="259"/>
          </p14:sldIdLst>
        </p14:section>
        <p14:section name="O problema computacional" id="{bae7ee85-5ff8-8ec0-d6cb-b874a0af5bbb}">
          <p14:sldIdLst>
            <p14:sldId id="260"/>
          </p14:sldIdLst>
        </p14:section>
        <p14:section name="Hipótese" id="{20204592-9fdf-2a77-b6b4-ca049691de77}">
          <p14:sldIdLst>
            <p14:sldId id="261"/>
          </p14:sldIdLst>
        </p14:section>
        <p14:section name="Proposta" id="{2b37e92e-dda8-23c2-23f9-58faaea9af36}">
          <p14:sldIdLst>
            <p14:sldId id="262"/>
          </p14:sldIdLst>
        </p14:section>
        <p14:section name="Metodologia" id="{5b8cd19d-8243-77ff-2265-d9c85d7aa6a5}">
          <p14:sldIdLst>
            <p14:sldId id="263"/>
          </p14:sldIdLst>
        </p14:section>
        <p14:section name="Entrega" id="{c3258266-f43f-1e6e-5f22-7b3dd045b2d3}">
          <p14:sldIdLst>
            <p14:sldId id="264"/>
          </p14:sldIdLst>
        </p14:section>
        <p14:section name="Achados" id="{0a53b75d-54d6-49b5-c94b-8e1bbd7f6a6f}">
          <p14:sldIdLst>
            <p14:sldId id="265"/>
          </p14:sldIdLst>
        </p14:section>
        <p14:section name="Fecho" id="{a186175c-656c-1401-ab18-bfc1eb56b3bc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O enunciado do ciclo pede um artefato que facilite o planejamento das visitas dos ACS. Quase todo mundo vai atacar isso como problema de rota. Nos tambem, mas descobrimos que a rota e so metade do problema. Nao mencione PDDL ainda.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ACS visita as familias da microarea. O enunciado cita percurso, equipe, urgencia e intervalo. Nosso recorte: um agente, um turno, rota ja definida. A dor que nos interessou e que chegar na casa nao autoriza atender: a lei condiciona, e algumas condicoes acabam no meio do turno.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o trecho em voz alta: e a unica leitura literal que vale a pena no deck. Tres condicoes conjuntivas e um efeito obrigatorio: isso e exatamente um esquema de acao STRIPS, formalismo de 1971. STRIPS = pre-condicoes, o que passa a valer e o que deixa de valer. Se a norma mudar, edita-se a norma no dominio, nao o codigo de busca.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Nao leia os tres cartoes. Gaste o tempo no primeiro e no segundo. O ponto: a literatura JA sabe que qualificacao importa, mas trata como rotulo estatico, agente i atende paciente j. Gonzalez-Ferrer e o precedente que blinda a escolha: traduzir norma em dominio de planejamento nao e invencao nossa. Nas buscas realizadas nao achamos trabalho que junte as duas coisas.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a rota esta fixa e cada visita fosse independente, o problema se decomporia e um laco for bastaria. O que impede isso sao os recursos finitos. Observacao honesta: a lei exige assistencia e nao diz nada sobre forma ou frequencia. Representa-la como recurso finito por turno, e encerra-la ao sair da casa, sao decisoes de modelagem NOSSAS.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 a parte metodologica que vale sublinhar: a hipotese pode estar errada, e o desenho admite isso. Nao formulamos uma pergunta que so podia dar certo. Guarde esta frase, porque o slide 10 vai cobrar: um dos dois caminhos de erro realmente se materializou.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POR QUE sobra decisao para o planejador, senao a plateia conclui que ele e decorativo. A camada geometrica entrega a ordem congelada e o custo de desvio. O que sobra para o planejador: o que fazer em cada casa, quando acionar a supervisao, e em qual parada vale a pena sair da rota para repor. Se perguntarem por que nao OR-Tools: ele resolve a metade geometrica e nao a normativa.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Detalhe metodologico que vale citar: o executor le os custos do proprio .pddl, para eliminar divergencia de medicao entre os dois grupos. Isso pegou um erro real durante o desenvolvimento, em que a mesma acao era cobrada de formas diferentes nos dois lados.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 as lacunas como lacunas conhecidas, nao como promessas. A mais visivel frente ao enunciado e prioridade e intervalo na selecao do turno. Se perguntarem sobre dados de pacientes: todos ficticios, so as coordenadas sao reais, para dar ordem de grandeza a matriz.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fecha o circulo com o slide 6. Dissemos que a hipotese podia estar errada de dois jeitos, e um deles aconteceu. Abrir isso e mais forte do que esconder: mostra que o desenho experimental funcionou. Nao entre em numero de instancia aqui; se perguntarem, foram 40 microareas sorteadas.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Fecho. O trunfo do trabalho nao e ter usado Planning. E termos medido COMO ele ajuda neste problema, inclusive descobrindo que a resposta nao era a que esperavamos. Se a banca perguntar o que sobrou: declaratividade com efeito medido, e prova de inviabilidade. Se perguntar o que caiu: economia de tempo e exclusividade de capacidade.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BASE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APA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63276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A7A67"/>
                </a:solidFill>
              </a:rPr>
              <a:t>INF99003 · Ciclo 2 · Grupo B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32764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A67"/>
                </a:solidFill>
              </a:rPr>
              <a:t> 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2764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7A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2764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7A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23444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35C38"/>
                </a:solidFill>
              </a:rPr>
              <a:t>PROJETO EM CIÊNCIA E INOVAÇÃO · INF99003 · CICLO 2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691640"/>
            <a:ext cx="10332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Planejamento Automatizado para o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cumprimento de protocolos legais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401568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5C4F41"/>
                </a:solidFill>
              </a:rPr>
              <a:t>Visitas domiciliares de Agentes Comunitários de Saúde na Atenção Primária do SUS</a:t>
            </a:r>
            <a:endParaRPr lang="en-US" sz="1650" dirty="0"/>
          </a:p>
        </p:txBody>
      </p:sp>
      <p:sp>
        <p:nvSpPr>
          <p:cNvPr id="5" name="divisor-capa"/>
          <p:cNvSpPr/>
          <p:nvPr/>
        </p:nvSpPr>
        <p:spPr>
          <a:xfrm>
            <a:off x="914400" y="4251960"/>
            <a:ext cx="1920240" cy="22860"/>
          </a:xfrm>
          <a:prstGeom prst="rect">
            <a:avLst/>
          </a:prstGeom>
          <a:solidFill>
            <a:srgbClr val="D9C4A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45262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Gabriel Pieruccini Knopp   ·   Arthur Andrade da Silva   ·   Izadora Candotti de Oliveira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919472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7A67"/>
                </a:solidFill>
              </a:rPr>
              <a:t>Grupo B   ·   Instituto de Informática, UFRGS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20624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B35C38"/>
                </a:solidFill>
              </a:rPr>
              <a:t>CONTEXTUALIZAÇÃO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4980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Chegar na casa certa não autoriza o atendimento</a:t>
            </a:r>
            <a:endParaRPr lang="en-US" sz="3400" dirty="0"/>
          </a:p>
        </p:txBody>
      </p:sp>
      <p:sp>
        <p:nvSpPr>
          <p:cNvPr id="4" name="trad"/>
          <p:cNvSpPr/>
          <p:nvPr/>
        </p:nvSpPr>
        <p:spPr>
          <a:xfrm>
            <a:off x="685800" y="1828800"/>
            <a:ext cx="5303520" cy="2148840"/>
          </a:xfrm>
          <a:prstGeom prst="roundRect">
            <a:avLst>
              <a:gd name="adj" fmla="val 4255"/>
            </a:avLst>
          </a:prstGeom>
          <a:solidFill>
            <a:srgbClr val="FFFDF8"/>
          </a:solidFill>
          <a:ln w="9525">
            <a:solidFill>
              <a:srgbClr val="E6DCCB"/>
            </a:solidFill>
            <a:prstDash val="solid"/>
          </a:ln>
          <a:effectLst>
            <a:outerShdw sx="100000" sy="100000" kx="0" ky="0" algn="bl" rotWithShape="0" blurRad="127000" dist="25400" dir="5400000">
              <a:srgbClr val="33291F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23544" y="2029968"/>
            <a:ext cx="4828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8A7A67"/>
                </a:solidFill>
              </a:rPr>
              <a:t>COMO O PROBLEMA COSTUMA SER TRATADO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2359152"/>
            <a:ext cx="4828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problema de percurso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816352"/>
            <a:ext cx="482803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C4F41"/>
                </a:solidFill>
              </a:rPr>
              <a:t>Minimizar deslocamento, cobrir o território no prazo e respeitar a capacidade da equipe. É o que roteirizadores já resolvem bem.</a:t>
            </a:r>
            <a:endParaRPr lang="en-US" sz="1350" dirty="0"/>
          </a:p>
        </p:txBody>
      </p:sp>
      <p:sp>
        <p:nvSpPr>
          <p:cNvPr id="8" name="falta"/>
          <p:cNvSpPr/>
          <p:nvPr/>
        </p:nvSpPr>
        <p:spPr>
          <a:xfrm>
            <a:off x="6199632" y="1828800"/>
            <a:ext cx="5303520" cy="2148840"/>
          </a:xfrm>
          <a:prstGeom prst="roundRect">
            <a:avLst>
              <a:gd name="adj" fmla="val 4255"/>
            </a:avLst>
          </a:prstGeom>
          <a:solidFill>
            <a:srgbClr val="FFFDF8"/>
          </a:solidFill>
          <a:ln w="9525">
            <a:solidFill>
              <a:srgbClr val="E6DCCB"/>
            </a:solidFill>
            <a:prstDash val="solid"/>
          </a:ln>
          <a:effectLst>
            <a:outerShdw sx="100000" sy="100000" kx="0" ky="0" algn="bl" rotWithShape="0" blurRad="127000" dist="25400" dir="5400000">
              <a:srgbClr val="33291F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37376" y="2029968"/>
            <a:ext cx="4828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B35C38"/>
                </a:solidFill>
              </a:rPr>
              <a:t>O QUE ESSA FORMULAÇÃO DEIXA DE FORA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437376" y="2359152"/>
            <a:ext cx="4828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norma que rege o atendimento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437376" y="2816352"/>
            <a:ext cx="482803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C4F41"/>
                </a:solidFill>
              </a:rPr>
              <a:t>A Lei 11.350/2006 condiciona o que o agente pode fazer em cada residência. Nem toda condição é estática: insumo e supervisão se esgotam ao longo do turno.</a:t>
            </a:r>
            <a:endParaRPr lang="en-US" sz="1350" dirty="0"/>
          </a:p>
        </p:txBody>
      </p:sp>
      <p:sp>
        <p:nvSpPr>
          <p:cNvPr id="12" name="fecho"/>
          <p:cNvSpPr/>
          <p:nvPr/>
        </p:nvSpPr>
        <p:spPr>
          <a:xfrm>
            <a:off x="685800" y="4315968"/>
            <a:ext cx="10820095" cy="713232"/>
          </a:xfrm>
          <a:prstGeom prst="roundRect">
            <a:avLst>
              <a:gd name="adj" fmla="val 11538"/>
            </a:avLst>
          </a:prstGeom>
          <a:solidFill>
            <a:srgbClr val="F3DFD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60120" y="4389120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i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pergunta não é qual o menor percurso, e sim se aquela sequência de atendimentos é executável sem violar a norma.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2764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7A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20624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B35C38"/>
                </a:solidFill>
              </a:rPr>
              <a:t>POR QUE PLANEJAMENTO AUTOMATIZADO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4980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lei já está escrita como uma ação STRIPS</a:t>
            </a:r>
            <a:endParaRPr lang="en-US" sz="3400" dirty="0"/>
          </a:p>
        </p:txBody>
      </p:sp>
      <p:sp>
        <p:nvSpPr>
          <p:cNvPr id="4" name="lei"/>
          <p:cNvSpPr/>
          <p:nvPr/>
        </p:nvSpPr>
        <p:spPr>
          <a:xfrm>
            <a:off x="685800" y="1755648"/>
            <a:ext cx="10820095" cy="1481328"/>
          </a:xfrm>
          <a:prstGeom prst="roundRect">
            <a:avLst>
              <a:gd name="adj" fmla="val 5556"/>
            </a:avLst>
          </a:prstGeom>
          <a:solidFill>
            <a:srgbClr val="F3DFD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78408" y="1920240"/>
            <a:ext cx="1023487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i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“desde que </a:t>
            </a:r>
            <a:pPr indent="0" marL="0">
              <a:lnSpc>
                <a:spcPts val="2000"/>
              </a:lnSpc>
              <a:buNone/>
            </a:pPr>
            <a:r>
              <a:rPr lang="en-US" sz="1500" b="1" i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tenha concluído curso técnico</a:t>
            </a:r>
            <a:pPr indent="0" marL="0">
              <a:lnSpc>
                <a:spcPts val="2000"/>
              </a:lnSpc>
              <a:buNone/>
            </a:pPr>
            <a:r>
              <a:rPr lang="en-US" sz="1500" i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 </a:t>
            </a:r>
            <a:pPr indent="0" marL="0">
              <a:lnSpc>
                <a:spcPts val="2000"/>
              </a:lnSpc>
              <a:buNone/>
            </a:pPr>
            <a:r>
              <a:rPr lang="en-US" sz="1500" b="1" i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tenha disponíveis os equipamentos adequados</a:t>
            </a:r>
            <a:pPr indent="0" marL="0">
              <a:lnSpc>
                <a:spcPts val="2000"/>
              </a:lnSpc>
              <a:buNone/>
            </a:pPr>
            <a:r>
              <a:rPr lang="en-US" sz="1500" i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são atividades do Agente […] </a:t>
            </a:r>
            <a:pPr indent="0" marL="0">
              <a:lnSpc>
                <a:spcPts val="2000"/>
              </a:lnSpc>
              <a:buNone/>
            </a:pPr>
            <a:r>
              <a:rPr lang="en-US" sz="1500" b="1" i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assistidas por profissional de saúde de nível superior</a:t>
            </a:r>
            <a:pPr indent="0" marL="0">
              <a:lnSpc>
                <a:spcPts val="2000"/>
              </a:lnSpc>
              <a:buNone/>
            </a:pPr>
            <a:r>
              <a:rPr lang="en-US" sz="1500" i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[…] a aferição da pressão arterial […], </a:t>
            </a:r>
            <a:pPr indent="0" marL="0">
              <a:lnSpc>
                <a:spcPts val="2000"/>
              </a:lnSpc>
              <a:buNone/>
            </a:pPr>
            <a:r>
              <a:rPr lang="en-US" sz="1500" b="1" i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encaminhando o paciente</a:t>
            </a:r>
            <a:pPr indent="0" marL="0">
              <a:lnSpc>
                <a:spcPts val="2000"/>
              </a:lnSpc>
              <a:buNone/>
            </a:pPr>
            <a:r>
              <a:rPr lang="en-US" sz="1500" i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para a unidade de referência”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78408" y="2834640"/>
            <a:ext cx="102348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7A67"/>
                </a:solidFill>
              </a:rPr>
              <a:t>Lei nº 11.350/2006, art. 3º § 4º, na redação da Lei nº 13.595/2018</a:t>
            </a:r>
            <a:endParaRPr lang="en-US" sz="1100" dirty="0"/>
          </a:p>
        </p:txBody>
      </p:sp>
      <p:sp>
        <p:nvSpPr>
          <p:cNvPr id="7" name="pddl"/>
          <p:cNvSpPr/>
          <p:nvPr/>
        </p:nvSpPr>
        <p:spPr>
          <a:xfrm>
            <a:off x="685800" y="3456432"/>
            <a:ext cx="10820095" cy="1664208"/>
          </a:xfrm>
          <a:prstGeom prst="roundRect">
            <a:avLst>
              <a:gd name="adj" fmla="val 4945"/>
            </a:avLst>
          </a:prstGeom>
          <a:solidFill>
            <a:srgbClr val="FFFDF8"/>
          </a:solidFill>
          <a:ln w="9525">
            <a:solidFill>
              <a:srgbClr val="E6DCCB"/>
            </a:solidFill>
            <a:prstDash val="solid"/>
          </a:ln>
          <a:effectLst>
            <a:outerShdw sx="100000" sy="100000" kx="0" ky="0" algn="bl" rotWithShape="0" blurRad="127000" dist="25400" dir="5400000">
              <a:srgbClr val="33291F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78408" y="3621024"/>
            <a:ext cx="1023487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4A6B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:precondition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32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(and (curso-tecnico-concluido ?ag)
                   (equipamento-disponivel ?ag)
                   (supervisao-ativa ?ag))
</a:t>
            </a:r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4A6B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:effect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32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(and (pa-ok ?p)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32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(pendencia-encaminhamento ?p))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5321808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if/else codifica a regra. Um domínio PDDL é a regra.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2764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7A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20624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B35C38"/>
                </a:solidFill>
              </a:rPr>
              <a:t>REVISÃO DE LITERATURA E MERCADO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4980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frentes maduras, e o que nenhuma cobre</a:t>
            </a:r>
            <a:endParaRPr lang="en-US" sz="3400" dirty="0"/>
          </a:p>
        </p:txBody>
      </p:sp>
      <p:sp>
        <p:nvSpPr>
          <p:cNvPr id="4" name="lit1"/>
          <p:cNvSpPr/>
          <p:nvPr/>
        </p:nvSpPr>
        <p:spPr>
          <a:xfrm>
            <a:off x="685800" y="1810512"/>
            <a:ext cx="3448202" cy="2212848"/>
          </a:xfrm>
          <a:prstGeom prst="roundRect">
            <a:avLst>
              <a:gd name="adj" fmla="val 4132"/>
            </a:avLst>
          </a:prstGeom>
          <a:solidFill>
            <a:srgbClr val="FFFDF8"/>
          </a:solidFill>
          <a:ln w="9525">
            <a:solidFill>
              <a:srgbClr val="E6DCCB"/>
            </a:solidFill>
            <a:prstDash val="solid"/>
          </a:ln>
          <a:effectLst>
            <a:outerShdw sx="100000" sy="100000" kx="0" ky="0" algn="bl" rotWithShape="0" blurRad="127000" dist="25400" dir="5400000">
              <a:srgbClr val="33291F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23544" y="2011680"/>
            <a:ext cx="297271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Roteamento em saúde domiciliar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2743200"/>
            <a:ext cx="297271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C4F41"/>
                </a:solidFill>
              </a:rPr>
              <a:t>Reconhece qualificação profissional como restrição, mas a modela como etiqueta fixa de compatibilidade.</a:t>
            </a:r>
            <a:endParaRPr lang="en-US" sz="1250" dirty="0"/>
          </a:p>
          <a:p>
            <a:pPr indent="0" marL="0">
              <a:lnSpc>
                <a:spcPts val="1500"/>
              </a:lnSpc>
              <a:buNone/>
            </a:pPr>
            <a:endParaRPr lang="en-US" sz="12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C4F41"/>
                </a:solidFill>
              </a:rPr>
              <a:t>Fikar &amp; Hirsch (2017)</a:t>
            </a:r>
            <a:endParaRPr lang="en-US" sz="12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C4F41"/>
                </a:solidFill>
              </a:rPr>
              <a:t>Cissé et al. (2017)</a:t>
            </a:r>
            <a:endParaRPr lang="en-US" sz="1250" dirty="0"/>
          </a:p>
        </p:txBody>
      </p:sp>
      <p:sp>
        <p:nvSpPr>
          <p:cNvPr id="7" name="lit2"/>
          <p:cNvSpPr/>
          <p:nvPr/>
        </p:nvSpPr>
        <p:spPr>
          <a:xfrm>
            <a:off x="4371746" y="1810512"/>
            <a:ext cx="3448202" cy="2212848"/>
          </a:xfrm>
          <a:prstGeom prst="roundRect">
            <a:avLst>
              <a:gd name="adj" fmla="val 4132"/>
            </a:avLst>
          </a:prstGeom>
          <a:solidFill>
            <a:srgbClr val="FFFDF8"/>
          </a:solidFill>
          <a:ln w="9525">
            <a:solidFill>
              <a:srgbClr val="E6DCCB"/>
            </a:solidFill>
            <a:prstDash val="solid"/>
          </a:ln>
          <a:effectLst>
            <a:outerShdw sx="100000" sy="100000" kx="0" ky="0" algn="bl" rotWithShape="0" blurRad="127000" dist="25400" dir="5400000">
              <a:srgbClr val="33291F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609490" y="2011680"/>
            <a:ext cx="297271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Planejamento em protocolos clínicos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4609490" y="2743200"/>
            <a:ext cx="297271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C4F41"/>
                </a:solidFill>
              </a:rPr>
              <a:t>Traduz diretrizes clínicas para domínios de planejamento, mas sem componente de roteamento.</a:t>
            </a:r>
            <a:endParaRPr lang="en-US" sz="1250" dirty="0"/>
          </a:p>
          <a:p>
            <a:pPr indent="0" marL="0">
              <a:lnSpc>
                <a:spcPts val="1500"/>
              </a:lnSpc>
              <a:buNone/>
            </a:pPr>
            <a:endParaRPr lang="en-US" sz="12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C4F41"/>
                </a:solidFill>
              </a:rPr>
              <a:t>González-Ferrer et al. (2013)</a:t>
            </a:r>
            <a:endParaRPr lang="en-US" sz="12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C4F41"/>
                </a:solidFill>
              </a:rPr>
              <a:t>Bradbrook et al. (2005)</a:t>
            </a:r>
            <a:endParaRPr lang="en-US" sz="1250" dirty="0"/>
          </a:p>
        </p:txBody>
      </p:sp>
      <p:sp>
        <p:nvSpPr>
          <p:cNvPr id="10" name="lit3"/>
          <p:cNvSpPr/>
          <p:nvPr/>
        </p:nvSpPr>
        <p:spPr>
          <a:xfrm>
            <a:off x="8057693" y="1810512"/>
            <a:ext cx="3448202" cy="2212848"/>
          </a:xfrm>
          <a:prstGeom prst="roundRect">
            <a:avLst>
              <a:gd name="adj" fmla="val 4132"/>
            </a:avLst>
          </a:prstGeom>
          <a:solidFill>
            <a:srgbClr val="FFFDF8"/>
          </a:solidFill>
          <a:ln w="9525">
            <a:solidFill>
              <a:srgbClr val="E6DCCB"/>
            </a:solidFill>
            <a:prstDash val="solid"/>
          </a:ln>
          <a:effectLst>
            <a:outerShdw sx="100000" sy="100000" kx="0" ky="0" algn="bl" rotWithShape="0" blurRad="127000" dist="25400" dir="5400000">
              <a:srgbClr val="33291F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95437" y="2011680"/>
            <a:ext cx="297271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Ferramentas de mercado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8295437" y="2743200"/>
            <a:ext cx="297271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C4F41"/>
                </a:solidFill>
              </a:rPr>
              <a:t>OR-Tools e OSRM otimizam a geometria. O e-SUS Território registra a visita, sem roteirizar nem verificar conformidade.</a:t>
            </a:r>
            <a:endParaRPr lang="en-US" sz="1250" dirty="0"/>
          </a:p>
        </p:txBody>
      </p:sp>
      <p:sp>
        <p:nvSpPr>
          <p:cNvPr id="13" name="fecho"/>
          <p:cNvSpPr/>
          <p:nvPr/>
        </p:nvSpPr>
        <p:spPr>
          <a:xfrm>
            <a:off x="685800" y="4352544"/>
            <a:ext cx="10820095" cy="713232"/>
          </a:xfrm>
          <a:prstGeom prst="roundRect">
            <a:avLst>
              <a:gd name="adj" fmla="val 11538"/>
            </a:avLst>
          </a:prstGeom>
          <a:solidFill>
            <a:srgbClr val="DDE7E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425696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i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literatura, a qualificação é uma etiqueta fixa. Na lei brasileira, ela é uma soma de condições que se gastam durante o turno. É nessa interseção que o projeto se posiciona.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2764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7A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20624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B35C38"/>
                </a:solidFill>
              </a:rPr>
              <a:t>POR QUE NÃO É TRIVIAL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4980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Dois recursos acoplam as paradas entre si</a:t>
            </a:r>
            <a:endParaRPr lang="en-US" sz="3400" dirty="0"/>
          </a:p>
        </p:txBody>
      </p:sp>
      <p:sp>
        <p:nvSpPr>
          <p:cNvPr id="4" name="rec1"/>
          <p:cNvSpPr/>
          <p:nvPr/>
        </p:nvSpPr>
        <p:spPr>
          <a:xfrm>
            <a:off x="685800" y="1828800"/>
            <a:ext cx="5047488" cy="1572768"/>
          </a:xfrm>
          <a:prstGeom prst="roundRect">
            <a:avLst>
              <a:gd name="adj" fmla="val 5814"/>
            </a:avLst>
          </a:prstGeom>
          <a:solidFill>
            <a:srgbClr val="FFFDF8"/>
          </a:solidFill>
          <a:ln w="9525">
            <a:solidFill>
              <a:srgbClr val="E6DCCB"/>
            </a:solidFill>
            <a:prstDash val="solid"/>
          </a:ln>
          <a:effectLst>
            <a:outerShdw sx="100000" sy="100000" kx="0" ky="0" algn="bl" rotWithShape="0" blurRad="127000" dist="25400" dir="5400000">
              <a:srgbClr val="33291F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23544" y="20299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B35C38"/>
                </a:solidFill>
              </a:rPr>
              <a:t>RECURSO 1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235915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Insumo consumível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816352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C4F41"/>
                </a:solidFill>
              </a:rPr>
              <a:t>A fita de glicemia só se repõe na unidade de saúde. Acabar no meio da rota obriga um desvio não previsto.</a:t>
            </a:r>
            <a:endParaRPr lang="en-US" sz="1350" dirty="0"/>
          </a:p>
        </p:txBody>
      </p:sp>
      <p:sp>
        <p:nvSpPr>
          <p:cNvPr id="8" name="rec2"/>
          <p:cNvSpPr/>
          <p:nvPr/>
        </p:nvSpPr>
        <p:spPr>
          <a:xfrm>
            <a:off x="5971032" y="1828800"/>
            <a:ext cx="5047488" cy="1572768"/>
          </a:xfrm>
          <a:prstGeom prst="roundRect">
            <a:avLst>
              <a:gd name="adj" fmla="val 5814"/>
            </a:avLst>
          </a:prstGeom>
          <a:solidFill>
            <a:srgbClr val="FFFDF8"/>
          </a:solidFill>
          <a:ln w="9525">
            <a:solidFill>
              <a:srgbClr val="E6DCCB"/>
            </a:solidFill>
            <a:prstDash val="solid"/>
          </a:ln>
          <a:effectLst>
            <a:outerShdw sx="100000" sy="100000" kx="0" ky="0" algn="bl" rotWithShape="0" blurRad="127000" dist="25400" dir="5400000">
              <a:srgbClr val="33291F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208776" y="20299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B35C38"/>
                </a:solidFill>
              </a:rPr>
              <a:t>RECURSO 2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208776" y="235915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Supervisão da equipe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208776" y="2816352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C4F41"/>
                </a:solidFill>
              </a:rPr>
              <a:t>O § 4º exige assistência de profissional de nível superior, e ela se encerra quando o agente deixa a residência.</a:t>
            </a:r>
            <a:endParaRPr lang="en-US" sz="1350" dirty="0"/>
          </a:p>
        </p:txBody>
      </p:sp>
      <p:sp>
        <p:nvSpPr>
          <p:cNvPr id="12" name="consequencia"/>
          <p:cNvSpPr/>
          <p:nvPr/>
        </p:nvSpPr>
        <p:spPr>
          <a:xfrm>
            <a:off x="685800" y="3675888"/>
            <a:ext cx="10820095" cy="1298448"/>
          </a:xfrm>
          <a:prstGeom prst="roundRect">
            <a:avLst>
              <a:gd name="adj" fmla="val 6338"/>
            </a:avLst>
          </a:prstGeom>
          <a:solidFill>
            <a:srgbClr val="FFFDF8"/>
          </a:solidFill>
          <a:ln w="9525">
            <a:solidFill>
              <a:srgbClr val="E6DCCB"/>
            </a:solidFill>
            <a:prstDash val="solid"/>
          </a:ln>
          <a:effectLst>
            <a:outerShdw sx="100000" sy="100000" kx="0" ky="0" algn="bl" rotWithShape="0" blurRad="127000" dist="25400" dir="5400000">
              <a:srgbClr val="33291F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978408" y="3840480"/>
            <a:ext cx="102348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decisão tomada na terceira parada pode inviabilizar a sétima.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978408" y="4279392"/>
            <a:ext cx="1023487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C4F41"/>
                </a:solidFill>
              </a:rPr>
              <a:t>O número de sequências candidatas cresce exponencialmente, e a interação entre decisões distantes na rota não é tratável por inspeção manual nem por planilha.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5175504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 esse acoplamento que torna o problema combinatório, e não a geometria da rota.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2764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7A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20624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B35C38"/>
                </a:solidFill>
              </a:rPr>
              <a:t>HIPÓTESE DE TRABALHO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4980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acreditamos, e os dois jeitos de estarmos errados</a:t>
            </a:r>
            <a:endParaRPr lang="en-US" sz="3400" dirty="0"/>
          </a:p>
        </p:txBody>
      </p:sp>
      <p:sp>
        <p:nvSpPr>
          <p:cNvPr id="4" name="hip"/>
          <p:cNvSpPr/>
          <p:nvPr/>
        </p:nvSpPr>
        <p:spPr>
          <a:xfrm>
            <a:off x="685800" y="1783080"/>
            <a:ext cx="10820095" cy="1371600"/>
          </a:xfrm>
          <a:prstGeom prst="roundRect">
            <a:avLst>
              <a:gd name="adj" fmla="val 6000"/>
            </a:avLst>
          </a:prstGeom>
          <a:solidFill>
            <a:srgbClr val="F3DFD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96696" y="1956816"/>
            <a:ext cx="10198303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9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representação declarativa das condições legais reduzirá a ocorrência de falsos negativos: turnos classificados como inexequíveis quando existe sequência válida.</a:t>
            </a:r>
            <a:endParaRPr lang="en-US" sz="1900" dirty="0"/>
          </a:p>
        </p:txBody>
      </p:sp>
      <p:sp>
        <p:nvSpPr>
          <p:cNvPr id="6" name="alt1"/>
          <p:cNvSpPr/>
          <p:nvPr/>
        </p:nvSpPr>
        <p:spPr>
          <a:xfrm>
            <a:off x="685800" y="3401568"/>
            <a:ext cx="5047488" cy="1572768"/>
          </a:xfrm>
          <a:prstGeom prst="roundRect">
            <a:avLst>
              <a:gd name="adj" fmla="val 5814"/>
            </a:avLst>
          </a:prstGeom>
          <a:solidFill>
            <a:srgbClr val="FFFDF8"/>
          </a:solidFill>
          <a:ln w="9525">
            <a:solidFill>
              <a:srgbClr val="E6DCCB"/>
            </a:solidFill>
            <a:prstDash val="solid"/>
          </a:ln>
          <a:effectLst>
            <a:outerShdw sx="100000" sy="100000" kx="0" ky="0" algn="bl" rotWithShape="0" blurRad="127000" dist="25400" dir="5400000">
              <a:srgbClr val="33291F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23544" y="36027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8A7A67"/>
                </a:solidFill>
              </a:rPr>
              <a:t>SE ESTIVERMOS ERRADOS, CAMINHO 1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923544" y="393192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planejador é redundante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923544" y="4389120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C4F41"/>
                </a:solidFill>
              </a:rPr>
              <a:t>Um executor procedural simples alcança desempenho equivalente.</a:t>
            </a:r>
            <a:endParaRPr lang="en-US" sz="1350" dirty="0"/>
          </a:p>
        </p:txBody>
      </p:sp>
      <p:sp>
        <p:nvSpPr>
          <p:cNvPr id="10" name="alt2"/>
          <p:cNvSpPr/>
          <p:nvPr/>
        </p:nvSpPr>
        <p:spPr>
          <a:xfrm>
            <a:off x="5971032" y="3401568"/>
            <a:ext cx="5047488" cy="1572768"/>
          </a:xfrm>
          <a:prstGeom prst="roundRect">
            <a:avLst>
              <a:gd name="adj" fmla="val 5814"/>
            </a:avLst>
          </a:prstGeom>
          <a:solidFill>
            <a:srgbClr val="FFFDF8"/>
          </a:solidFill>
          <a:ln w="9525">
            <a:solidFill>
              <a:srgbClr val="E6DCCB"/>
            </a:solidFill>
            <a:prstDash val="solid"/>
          </a:ln>
          <a:effectLst>
            <a:outerShdw sx="100000" sy="100000" kx="0" ky="0" algn="bl" rotWithShape="0" blurRad="127000" dist="25400" dir="5400000">
              <a:srgbClr val="33291F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208776" y="36027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8A7A67"/>
                </a:solidFill>
              </a:rPr>
              <a:t>SE ESTIVERMOS ERRADOS, CAMINHO 2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208776" y="393192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planejador não escala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208776" y="4389120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C4F41"/>
                </a:solidFill>
              </a:rPr>
              <a:t>O custo da busca cresce a ponto de inviabilizar microáreas reais.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5193792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validação foi desenhada para que qualquer um dos três desfechos possa aparecer.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2764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7A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20624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B35C38"/>
                </a:solidFill>
              </a:rPr>
              <a:t>PROPOSTA DE ABORDAGEM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4980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camadas, cada paradigma no seu lugar</a:t>
            </a:r>
            <a:endParaRPr lang="en-US" sz="3400" dirty="0"/>
          </a:p>
        </p:txBody>
      </p:sp>
      <p:sp>
        <p:nvSpPr>
          <p:cNvPr id="4" name="camada1"/>
          <p:cNvSpPr/>
          <p:nvPr/>
        </p:nvSpPr>
        <p:spPr>
          <a:xfrm>
            <a:off x="685800" y="1783080"/>
            <a:ext cx="10820095" cy="987552"/>
          </a:xfrm>
          <a:prstGeom prst="roundRect">
            <a:avLst>
              <a:gd name="adj" fmla="val 7407"/>
            </a:avLst>
          </a:prstGeom>
          <a:solidFill>
            <a:srgbClr val="FFFDF8"/>
          </a:solidFill>
          <a:ln w="9525">
            <a:solidFill>
              <a:srgbClr val="E6DCCB"/>
            </a:solidFill>
            <a:prstDash val="solid"/>
          </a:ln>
          <a:effectLst>
            <a:outerShdw sx="100000" sy="100000" kx="0" ky="0" algn="bl" rotWithShape="0" blurRad="127000" dist="25400" dir="5400000">
              <a:srgbClr val="33291F">
                <a:alpha val="10000"/>
              </a:srgbClr>
            </a:outerShdw>
          </a:effectLst>
        </p:spPr>
      </p:sp>
      <p:sp>
        <p:nvSpPr>
          <p:cNvPr id="5" name="num1"/>
          <p:cNvSpPr/>
          <p:nvPr/>
        </p:nvSpPr>
        <p:spPr>
          <a:xfrm>
            <a:off x="941832" y="2057400"/>
            <a:ext cx="438912" cy="438912"/>
          </a:xfrm>
          <a:prstGeom prst="ellipse">
            <a:avLst/>
          </a:prstGeom>
          <a:solidFill>
            <a:srgbClr val="B35C3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0574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9385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35C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Seleção</a:t>
            </a:r>
            <a:pPr indent="0" marL="0">
              <a:buNone/>
            </a:pPr>
            <a:r>
              <a:rPr lang="en-US" sz="1350" dirty="0">
                <a:solidFill>
                  <a:srgbClr val="5C4F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quem entra no turno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295144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C4F41"/>
                </a:solidFill>
              </a:rPr>
              <a:t>Prioridade clínica e atraso em relação ao intervalo máximo, sob orçamento de tempo.</a:t>
            </a:r>
            <a:endParaRPr lang="en-US" sz="1300" dirty="0"/>
          </a:p>
        </p:txBody>
      </p:sp>
      <p:sp>
        <p:nvSpPr>
          <p:cNvPr id="9" name="camada2"/>
          <p:cNvSpPr/>
          <p:nvPr/>
        </p:nvSpPr>
        <p:spPr>
          <a:xfrm>
            <a:off x="685800" y="2880360"/>
            <a:ext cx="10820095" cy="987552"/>
          </a:xfrm>
          <a:prstGeom prst="roundRect">
            <a:avLst>
              <a:gd name="adj" fmla="val 7407"/>
            </a:avLst>
          </a:prstGeom>
          <a:solidFill>
            <a:srgbClr val="FFFDF8"/>
          </a:solidFill>
          <a:ln w="9525">
            <a:solidFill>
              <a:srgbClr val="E6DCCB"/>
            </a:solidFill>
            <a:prstDash val="solid"/>
          </a:ln>
          <a:effectLst>
            <a:outerShdw sx="100000" sy="100000" kx="0" ky="0" algn="bl" rotWithShape="0" blurRad="127000" dist="25400" dir="5400000">
              <a:srgbClr val="33291F">
                <a:alpha val="10000"/>
              </a:srgbClr>
            </a:outerShdw>
          </a:effectLst>
        </p:spPr>
      </p:sp>
      <p:sp>
        <p:nvSpPr>
          <p:cNvPr id="10" name="num2"/>
          <p:cNvSpPr/>
          <p:nvPr/>
        </p:nvSpPr>
        <p:spPr>
          <a:xfrm>
            <a:off x="941832" y="3154680"/>
            <a:ext cx="438912" cy="438912"/>
          </a:xfrm>
          <a:prstGeom prst="ellipse">
            <a:avLst/>
          </a:prstGeom>
          <a:solidFill>
            <a:srgbClr val="B35C3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154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303580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35C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Roteamento</a:t>
            </a:r>
            <a:pPr indent="0" marL="0">
              <a:buNone/>
            </a:pPr>
            <a:r>
              <a:rPr lang="en-US" sz="1350" dirty="0">
                <a:solidFill>
                  <a:srgbClr val="5C4F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em que ordem visitar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3392424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C4F41"/>
                </a:solidFill>
              </a:rPr>
              <a:t>Heurística de grafos sobre a matriz de distâncias. Entrega a rota e o custo de desviar até a unidade.</a:t>
            </a:r>
            <a:endParaRPr lang="en-US" sz="1300" dirty="0"/>
          </a:p>
        </p:txBody>
      </p:sp>
      <p:sp>
        <p:nvSpPr>
          <p:cNvPr id="14" name="camada3"/>
          <p:cNvSpPr/>
          <p:nvPr/>
        </p:nvSpPr>
        <p:spPr>
          <a:xfrm>
            <a:off x="685800" y="3977640"/>
            <a:ext cx="10820095" cy="987552"/>
          </a:xfrm>
          <a:prstGeom prst="roundRect">
            <a:avLst>
              <a:gd name="adj" fmla="val 7407"/>
            </a:avLst>
          </a:prstGeom>
          <a:solidFill>
            <a:srgbClr val="FFFDF8"/>
          </a:solidFill>
          <a:ln w="9525">
            <a:solidFill>
              <a:srgbClr val="E6DCCB"/>
            </a:solidFill>
            <a:prstDash val="solid"/>
          </a:ln>
          <a:effectLst>
            <a:outerShdw sx="100000" sy="100000" kx="0" ky="0" algn="bl" rotWithShape="0" blurRad="127000" dist="25400" dir="5400000">
              <a:srgbClr val="33291F">
                <a:alpha val="10000"/>
              </a:srgbClr>
            </a:outerShdw>
          </a:effectLst>
        </p:spPr>
      </p:sp>
      <p:sp>
        <p:nvSpPr>
          <p:cNvPr id="15" name="num3"/>
          <p:cNvSpPr/>
          <p:nvPr/>
        </p:nvSpPr>
        <p:spPr>
          <a:xfrm>
            <a:off x="941832" y="4251960"/>
            <a:ext cx="438912" cy="438912"/>
          </a:xfrm>
          <a:prstGeom prst="ellipse">
            <a:avLst/>
          </a:prstGeom>
          <a:solidFill>
            <a:srgbClr val="4A6B5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41832" y="42519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1330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6B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Planejamento</a:t>
            </a:r>
            <a:pPr indent="0" marL="0">
              <a:buNone/>
            </a:pPr>
            <a:r>
              <a:rPr lang="en-US" sz="1350" dirty="0">
                <a:solidFill>
                  <a:srgbClr val="5C4F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o que fazer em cada parada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4489704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C4F41"/>
                </a:solidFill>
              </a:rPr>
              <a:t>Domínio PDDL com as condições legais e os recursos finitos. Decide as ações e os desvios de reposição.</a:t>
            </a:r>
            <a:endParaRPr lang="en-US" sz="1300" dirty="0"/>
          </a:p>
        </p:txBody>
      </p:sp>
      <p:sp>
        <p:nvSpPr>
          <p:cNvPr id="19" name="fecho"/>
          <p:cNvSpPr/>
          <p:nvPr/>
        </p:nvSpPr>
        <p:spPr>
          <a:xfrm>
            <a:off x="685800" y="5120640"/>
            <a:ext cx="10820095" cy="713232"/>
          </a:xfrm>
          <a:prstGeom prst="roundRect">
            <a:avLst>
              <a:gd name="adj" fmla="val 11538"/>
            </a:avLst>
          </a:prstGeom>
          <a:solidFill>
            <a:srgbClr val="DDE7E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60120" y="5193792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i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camada 3 nunca escolhe a rota: ela só anda pelas arestas que a camada 2 autorizou. Por isso trocar o roteirizador não muda uma linha do domínio.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2764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7A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20624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B35C38"/>
                </a:solidFill>
              </a:rPr>
              <a:t>PLANO DE VALIDAÇÃO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4980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Construímos o adversário antes de medir</a:t>
            </a:r>
            <a:endParaRPr lang="en-US" sz="3400" dirty="0"/>
          </a:p>
        </p:txBody>
      </p:sp>
      <p:sp>
        <p:nvSpPr>
          <p:cNvPr id="4" name="controle"/>
          <p:cNvSpPr/>
          <p:nvPr/>
        </p:nvSpPr>
        <p:spPr>
          <a:xfrm>
            <a:off x="685800" y="1737360"/>
            <a:ext cx="10820095" cy="1133856"/>
          </a:xfrm>
          <a:prstGeom prst="roundRect">
            <a:avLst>
              <a:gd name="adj" fmla="val 7258"/>
            </a:avLst>
          </a:prstGeom>
          <a:solidFill>
            <a:srgbClr val="DDE7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78408" y="1865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A6B5B"/>
                </a:solidFill>
              </a:rPr>
              <a:t>Grupo de comparação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978408" y="2176272"/>
            <a:ext cx="1023487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33291F"/>
                </a:solidFill>
              </a:rPr>
              <a:t>Um executor procedural percorre a mesma rota, cumpre os mesmos protocolos e lê a mesma tabela de custos do arquivo PDDL. O que ele não faz é antecipar: só descobre que falta recurso no momento de usá-lo.</a:t>
            </a:r>
            <a:endParaRPr lang="en-US" sz="1400" dirty="0"/>
          </a:p>
        </p:txBody>
      </p:sp>
      <p:sp>
        <p:nvSpPr>
          <p:cNvPr id="7" name="exp0"/>
          <p:cNvSpPr/>
          <p:nvPr/>
        </p:nvSpPr>
        <p:spPr>
          <a:xfrm>
            <a:off x="685800" y="3035808"/>
            <a:ext cx="3448202" cy="1975104"/>
          </a:xfrm>
          <a:prstGeom prst="roundRect">
            <a:avLst>
              <a:gd name="adj" fmla="val 4630"/>
            </a:avLst>
          </a:prstGeom>
          <a:solidFill>
            <a:srgbClr val="FFFDF8"/>
          </a:solidFill>
          <a:ln w="9525">
            <a:solidFill>
              <a:srgbClr val="E6DCCB"/>
            </a:solidFill>
            <a:prstDash val="solid"/>
          </a:ln>
          <a:effectLst>
            <a:outerShdw sx="100000" sy="100000" kx="0" ky="0" algn="bl" rotWithShape="0" blurRad="127000" dist="25400" dir="5400000">
              <a:srgbClr val="33291F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23544" y="3236976"/>
            <a:ext cx="29727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8A7A67"/>
                </a:solidFill>
              </a:rPr>
              <a:t>EXPERIMENTO 1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923544" y="3566160"/>
            <a:ext cx="29727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Escalabilidade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923544" y="4005072"/>
            <a:ext cx="297271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C4F41"/>
                </a:solidFill>
              </a:rPr>
              <a:t>Até que tamanho de microárea cada estratégia de busca ainda é viável.</a:t>
            </a:r>
            <a:endParaRPr lang="en-US" sz="1250" dirty="0"/>
          </a:p>
        </p:txBody>
      </p:sp>
      <p:sp>
        <p:nvSpPr>
          <p:cNvPr id="11" name="exp1"/>
          <p:cNvSpPr/>
          <p:nvPr/>
        </p:nvSpPr>
        <p:spPr>
          <a:xfrm>
            <a:off x="4371746" y="3035808"/>
            <a:ext cx="3448202" cy="1975104"/>
          </a:xfrm>
          <a:prstGeom prst="roundRect">
            <a:avLst>
              <a:gd name="adj" fmla="val 4630"/>
            </a:avLst>
          </a:prstGeom>
          <a:solidFill>
            <a:srgbClr val="FFFDF8"/>
          </a:solidFill>
          <a:ln w="9525">
            <a:solidFill>
              <a:srgbClr val="E6DCCB"/>
            </a:solidFill>
            <a:prstDash val="solid"/>
          </a:ln>
          <a:effectLst>
            <a:outerShdw sx="100000" sy="100000" kx="0" ky="0" algn="bl" rotWithShape="0" blurRad="127000" dist="25400" dir="5400000">
              <a:srgbClr val="33291F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609490" y="3236976"/>
            <a:ext cx="29727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8A7A67"/>
                </a:solidFill>
              </a:rPr>
              <a:t>EXPERIMENTO 2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609490" y="3566160"/>
            <a:ext cx="29727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Falsos negativos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609490" y="4005072"/>
            <a:ext cx="297271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C4F41"/>
                </a:solidFill>
              </a:rPr>
              <a:t>Com que frequência cada abordagem declara inexequível um turno que tem solução.</a:t>
            </a:r>
            <a:endParaRPr lang="en-US" sz="1250" dirty="0"/>
          </a:p>
        </p:txBody>
      </p:sp>
      <p:sp>
        <p:nvSpPr>
          <p:cNvPr id="15" name="exp2"/>
          <p:cNvSpPr/>
          <p:nvPr/>
        </p:nvSpPr>
        <p:spPr>
          <a:xfrm>
            <a:off x="8057693" y="3035808"/>
            <a:ext cx="3448202" cy="1975104"/>
          </a:xfrm>
          <a:prstGeom prst="roundRect">
            <a:avLst>
              <a:gd name="adj" fmla="val 4630"/>
            </a:avLst>
          </a:prstGeom>
          <a:solidFill>
            <a:srgbClr val="FFFDF8"/>
          </a:solidFill>
          <a:ln w="9525">
            <a:solidFill>
              <a:srgbClr val="E6DCCB"/>
            </a:solidFill>
            <a:prstDash val="solid"/>
          </a:ln>
          <a:effectLst>
            <a:outerShdw sx="100000" sy="100000" kx="0" ky="0" algn="bl" rotWithShape="0" blurRad="127000" dist="25400" dir="5400000">
              <a:srgbClr val="33291F">
                <a:alpha val="1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295437" y="3236976"/>
            <a:ext cx="29727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8A7A67"/>
                </a:solidFill>
              </a:rPr>
              <a:t>EXPERIMENTO 3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295437" y="3566160"/>
            <a:ext cx="29727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 de inviabilidade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95437" y="4005072"/>
            <a:ext cx="297271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C4F41"/>
                </a:solidFill>
              </a:rPr>
              <a:t>Instâncias sem solução, de dois tipos: falta condição legal, ou falta recurso.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5138928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variável isolada é uma só: a capacidade de antecipar conflitos de recursos.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2764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7A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20624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B35C38"/>
                </a:solidFill>
              </a:rPr>
              <a:t>RESULTADOS ESPERADOS E CRONOGRAMA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4980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será entregue, e até quando</a:t>
            </a:r>
            <a:endParaRPr lang="en-US" sz="3400" dirty="0"/>
          </a:p>
        </p:txBody>
      </p:sp>
      <p:sp>
        <p:nvSpPr>
          <p:cNvPr id="4" name="entrega"/>
          <p:cNvSpPr/>
          <p:nvPr/>
        </p:nvSpPr>
        <p:spPr>
          <a:xfrm>
            <a:off x="685800" y="1783080"/>
            <a:ext cx="4754880" cy="3108960"/>
          </a:xfrm>
          <a:prstGeom prst="roundRect">
            <a:avLst>
              <a:gd name="adj" fmla="val 2941"/>
            </a:avLst>
          </a:prstGeom>
          <a:solidFill>
            <a:srgbClr val="FFFDF8"/>
          </a:solidFill>
          <a:ln w="9525">
            <a:solidFill>
              <a:srgbClr val="E6DCCB"/>
            </a:solidFill>
            <a:prstDash val="solid"/>
          </a:ln>
          <a:effectLst>
            <a:outerShdw sx="100000" sy="100000" kx="0" ky="0" algn="bl" rotWithShape="0" blurRad="127000" dist="25400" dir="5400000">
              <a:srgbClr val="33291F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23544" y="1984248"/>
            <a:ext cx="4279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A6B5B"/>
                </a:solidFill>
              </a:rPr>
              <a:t>NÍVEL DE MATURIDADE TRL 3 A 4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2313432"/>
            <a:ext cx="4279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validado em laboratório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770632"/>
            <a:ext cx="4279392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4F41"/>
                </a:solidFill>
              </a:rPr>
              <a:t>Não é produto pronto para implantação em rede de saúde.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4F41"/>
                </a:solidFill>
              </a:rPr>
              <a:t>·  o sistema com as camadas integradas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4F41"/>
                </a:solidFill>
              </a:rPr>
              <a:t>·  o domínio PDDL mapeado dispositivo a dispositivo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4F41"/>
                </a:solidFill>
              </a:rPr>
              <a:t>·  a saída legível pelo agente de saúde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4F41"/>
                </a:solidFill>
              </a:rPr>
              <a:t>·  os experimentos reprodutíveis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4F41"/>
                </a:solidFill>
              </a:rPr>
              <a:t>·  o relatório técnico das medições</a:t>
            </a:r>
            <a:endParaRPr lang="en-US" sz="1300" dirty="0"/>
          </a:p>
        </p:txBody>
      </p:sp>
      <p:sp>
        <p:nvSpPr>
          <p:cNvPr id="8" name="marco0"/>
          <p:cNvSpPr/>
          <p:nvPr/>
        </p:nvSpPr>
        <p:spPr>
          <a:xfrm>
            <a:off x="5678424" y="1783080"/>
            <a:ext cx="5827471" cy="969264"/>
          </a:xfrm>
          <a:prstGeom prst="roundRect">
            <a:avLst>
              <a:gd name="adj" fmla="val 7547"/>
            </a:avLst>
          </a:prstGeom>
          <a:solidFill>
            <a:srgbClr val="DDE7E0"/>
          </a:solidFill>
          <a:ln w="9525">
            <a:solidFill>
              <a:srgbClr val="E6DCCB"/>
            </a:solidFill>
            <a:prstDash val="solid"/>
          </a:ln>
          <a:effectLst>
            <a:outerShdw sx="100000" sy="100000" kx="0" ky="0" algn="bl" rotWithShape="0" blurRad="127000" dist="25400" dir="5400000">
              <a:srgbClr val="33291F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5916168" y="194767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A6B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/ 09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192938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Concepção e verificação de viabilidade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7132320" y="2276856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5C4F41"/>
                </a:solidFill>
              </a:rPr>
              <a:t>Delimitação do problema, revisão bibliográfica e implementação exploratória.</a:t>
            </a:r>
            <a:endParaRPr lang="en-US" sz="1200" dirty="0"/>
          </a:p>
        </p:txBody>
      </p:sp>
      <p:sp>
        <p:nvSpPr>
          <p:cNvPr id="12" name="marco1"/>
          <p:cNvSpPr/>
          <p:nvPr/>
        </p:nvSpPr>
        <p:spPr>
          <a:xfrm>
            <a:off x="5678424" y="2852928"/>
            <a:ext cx="5827471" cy="969264"/>
          </a:xfrm>
          <a:prstGeom prst="roundRect">
            <a:avLst>
              <a:gd name="adj" fmla="val 7547"/>
            </a:avLst>
          </a:prstGeom>
          <a:solidFill>
            <a:srgbClr val="FFFDF8"/>
          </a:solidFill>
          <a:ln w="9525">
            <a:solidFill>
              <a:srgbClr val="E6DCCB"/>
            </a:solidFill>
            <a:prstDash val="solid"/>
          </a:ln>
          <a:effectLst>
            <a:outerShdw sx="100000" sy="100000" kx="0" ky="0" algn="bl" rotWithShape="0" blurRad="127000" dist="25400" dir="5400000">
              <a:srgbClr val="33291F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916168" y="301752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35C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 / 10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7132320" y="299923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Construção do sistema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7132320" y="3346704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5C4F41"/>
                </a:solidFill>
              </a:rPr>
              <a:t>Domínio completo, camada geométrica, política de seleção, saída operacional e experimentos.</a:t>
            </a:r>
            <a:endParaRPr lang="en-US" sz="1200" dirty="0"/>
          </a:p>
        </p:txBody>
      </p:sp>
      <p:sp>
        <p:nvSpPr>
          <p:cNvPr id="16" name="marco2"/>
          <p:cNvSpPr/>
          <p:nvPr/>
        </p:nvSpPr>
        <p:spPr>
          <a:xfrm>
            <a:off x="5678424" y="3922776"/>
            <a:ext cx="5827471" cy="969264"/>
          </a:xfrm>
          <a:prstGeom prst="roundRect">
            <a:avLst>
              <a:gd name="adj" fmla="val 7547"/>
            </a:avLst>
          </a:prstGeom>
          <a:solidFill>
            <a:srgbClr val="FFFDF8"/>
          </a:solidFill>
          <a:ln w="9525">
            <a:solidFill>
              <a:srgbClr val="E6DCCB"/>
            </a:solidFill>
            <a:prstDash val="solid"/>
          </a:ln>
          <a:effectLst>
            <a:outerShdw sx="100000" sy="100000" kx="0" ky="0" algn="bl" rotWithShape="0" blurRad="127000" dist="25400" dir="5400000">
              <a:srgbClr val="33291F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5916168" y="4087368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35C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 / 10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7132320" y="406908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Consolidação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7132320" y="4416552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5C4F41"/>
                </a:solidFill>
              </a:rPr>
              <a:t>Análise crítica, relatório final e apresentação.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5138928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desfecho contrário à hipótese também é resultado: delimitaria as condições em que o paradigma compensa.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2764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7A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20624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B35C38"/>
                </a:solidFill>
              </a:rPr>
              <a:t>IMPLEMENTAÇÃO EXPLORATÓRIA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4980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coisas que já aprendemos, uma delas contra nós</a:t>
            </a:r>
            <a:endParaRPr lang="en-US" sz="3400" dirty="0"/>
          </a:p>
        </p:txBody>
      </p:sp>
      <p:sp>
        <p:nvSpPr>
          <p:cNvPr id="4" name="achado0"/>
          <p:cNvSpPr/>
          <p:nvPr/>
        </p:nvSpPr>
        <p:spPr>
          <a:xfrm>
            <a:off x="685800" y="1810512"/>
            <a:ext cx="3448202" cy="2286000"/>
          </a:xfrm>
          <a:prstGeom prst="roundRect">
            <a:avLst>
              <a:gd name="adj" fmla="val 4000"/>
            </a:avLst>
          </a:prstGeom>
          <a:solidFill>
            <a:srgbClr val="FFFDF8"/>
          </a:solidFill>
          <a:ln w="9525">
            <a:solidFill>
              <a:srgbClr val="E6DCCB"/>
            </a:solidFill>
            <a:prstDash val="solid"/>
          </a:ln>
          <a:effectLst>
            <a:outerShdw sx="100000" sy="100000" kx="0" ky="0" algn="bl" rotWithShape="0" blurRad="127000" dist="25400" dir="5400000">
              <a:srgbClr val="33291F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23544" y="2011680"/>
            <a:ext cx="29727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A6B5B"/>
                </a:solidFill>
              </a:rPr>
              <a:t>A FAVOR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2340864"/>
            <a:ext cx="297271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busca trivial não escala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3017520"/>
            <a:ext cx="297271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5C4F41"/>
                </a:solidFill>
              </a:rPr>
              <a:t>Varrer o mesmo modelo declarativo sem heurística resolve até 5 ou 6 pacientes. Um turno real tem de 10 a 15.</a:t>
            </a:r>
            <a:endParaRPr lang="en-US" sz="1300" dirty="0"/>
          </a:p>
        </p:txBody>
      </p:sp>
      <p:sp>
        <p:nvSpPr>
          <p:cNvPr id="8" name="achado1"/>
          <p:cNvSpPr/>
          <p:nvPr/>
        </p:nvSpPr>
        <p:spPr>
          <a:xfrm>
            <a:off x="4371746" y="1810512"/>
            <a:ext cx="3448202" cy="2286000"/>
          </a:xfrm>
          <a:prstGeom prst="roundRect">
            <a:avLst>
              <a:gd name="adj" fmla="val 4000"/>
            </a:avLst>
          </a:prstGeom>
          <a:solidFill>
            <a:srgbClr val="FFFDF8"/>
          </a:solidFill>
          <a:ln w="9525">
            <a:solidFill>
              <a:srgbClr val="E6DCCB"/>
            </a:solidFill>
            <a:prstDash val="solid"/>
          </a:ln>
          <a:effectLst>
            <a:outerShdw sx="100000" sy="100000" kx="0" ky="0" algn="bl" rotWithShape="0" blurRad="127000" dist="25400" dir="5400000">
              <a:srgbClr val="33291F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609490" y="2011680"/>
            <a:ext cx="29727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A6B5B"/>
                </a:solidFill>
              </a:rPr>
              <a:t>A FAVOR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609490" y="2340864"/>
            <a:ext cx="297271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planejador está correto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609490" y="3017520"/>
            <a:ext cx="297271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5C4F41"/>
                </a:solidFill>
              </a:rPr>
              <a:t>Um planejador de referência independente concordou sobre viabilidade e plano mínimo em todas as instâncias testadas.</a:t>
            </a:r>
            <a:endParaRPr lang="en-US" sz="1300" dirty="0"/>
          </a:p>
        </p:txBody>
      </p:sp>
      <p:sp>
        <p:nvSpPr>
          <p:cNvPr id="12" name="achado2"/>
          <p:cNvSpPr/>
          <p:nvPr/>
        </p:nvSpPr>
        <p:spPr>
          <a:xfrm>
            <a:off x="8057693" y="1810512"/>
            <a:ext cx="3448202" cy="2286000"/>
          </a:xfrm>
          <a:prstGeom prst="roundRect">
            <a:avLst>
              <a:gd name="adj" fmla="val 4000"/>
            </a:avLst>
          </a:prstGeom>
          <a:solidFill>
            <a:srgbClr val="F3DFD3"/>
          </a:solidFill>
          <a:ln w="9525">
            <a:solidFill>
              <a:srgbClr val="E6DCCB"/>
            </a:solidFill>
            <a:prstDash val="solid"/>
          </a:ln>
          <a:effectLst>
            <a:outerShdw sx="100000" sy="100000" kx="0" ky="0" algn="bl" rotWithShape="0" blurRad="127000" dist="25400" dir="5400000">
              <a:srgbClr val="33291F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295437" y="2011680"/>
            <a:ext cx="29727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B35C38"/>
                </a:solidFill>
              </a:rPr>
              <a:t>CONTRA A HIPÓTESE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295437" y="2340864"/>
            <a:ext cx="297271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hipótese foi refutada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95437" y="3017520"/>
            <a:ext cx="297271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5C4F41"/>
                </a:solidFill>
              </a:rPr>
              <a:t>Uma correção manual no executor procedural zera os falsos negativos. Ele não era incapaz: faltava-lhe a regra.</a:t>
            </a:r>
            <a:endParaRPr lang="en-US" sz="1300" dirty="0"/>
          </a:p>
        </p:txBody>
      </p:sp>
      <p:sp>
        <p:nvSpPr>
          <p:cNvPr id="16" name="fecho"/>
          <p:cNvSpPr/>
          <p:nvPr/>
        </p:nvSpPr>
        <p:spPr>
          <a:xfrm>
            <a:off x="685800" y="4407408"/>
            <a:ext cx="10820095" cy="713232"/>
          </a:xfrm>
          <a:prstGeom prst="roundRect">
            <a:avLst>
              <a:gd name="adj" fmla="val 11538"/>
            </a:avLst>
          </a:prstGeom>
          <a:solidFill>
            <a:srgbClr val="F3DFD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4480560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i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caminho 1 de erro, previsto no slide da hipótese, foi o que se materializou. A pergunta de pesquisa precisa ser reformulada.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2764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7A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20624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B35C38"/>
                </a:solidFill>
              </a:rPr>
              <a:t>ONDE ISSO NOS DEIXA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4980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pergunta certa não é se encontra o plano</a:t>
            </a:r>
            <a:endParaRPr lang="en-US" sz="3400" dirty="0"/>
          </a:p>
        </p:txBody>
      </p:sp>
      <p:sp>
        <p:nvSpPr>
          <p:cNvPr id="4" name="tese"/>
          <p:cNvSpPr/>
          <p:nvPr/>
        </p:nvSpPr>
        <p:spPr>
          <a:xfrm>
            <a:off x="685800" y="1755648"/>
            <a:ext cx="10820095" cy="1417320"/>
          </a:xfrm>
          <a:prstGeom prst="roundRect">
            <a:avLst>
              <a:gd name="adj" fmla="val 5806"/>
            </a:avLst>
          </a:prstGeom>
          <a:solidFill>
            <a:srgbClr val="DDE7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96696" y="1938528"/>
            <a:ext cx="10198303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executor procedural depende de alguém descobrir cada interação entre regras antes de respeitá-la. O planejamento, não.</a:t>
            </a:r>
            <a:endParaRPr lang="en-US" sz="2000" dirty="0"/>
          </a:p>
        </p:txBody>
      </p:sp>
      <p:sp>
        <p:nvSpPr>
          <p:cNvPr id="6" name="sobrevive"/>
          <p:cNvSpPr/>
          <p:nvPr/>
        </p:nvSpPr>
        <p:spPr>
          <a:xfrm>
            <a:off x="685800" y="3419856"/>
            <a:ext cx="5047488" cy="1700784"/>
          </a:xfrm>
          <a:prstGeom prst="roundRect">
            <a:avLst>
              <a:gd name="adj" fmla="val 5376"/>
            </a:avLst>
          </a:prstGeom>
          <a:solidFill>
            <a:srgbClr val="FFFDF8"/>
          </a:solidFill>
          <a:ln w="9525">
            <a:solidFill>
              <a:srgbClr val="E6DCCB"/>
            </a:solidFill>
            <a:prstDash val="solid"/>
          </a:ln>
          <a:effectLst>
            <a:outerShdw sx="100000" sy="100000" kx="0" ky="0" algn="bl" rotWithShape="0" blurRad="127000" dist="25400" dir="5400000">
              <a:srgbClr val="33291F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23544" y="362102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A6B5B"/>
                </a:solidFill>
              </a:rPr>
              <a:t>O QUE SUSTENTAMOS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923544" y="395020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Declaratividade e prova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923544" y="440740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C4F41"/>
                </a:solidFill>
              </a:rPr>
              <a:t>Regra nova é absorvida sem tocar no código de busca, e a inviabilidade é demonstrada, não apenas constatada.</a:t>
            </a:r>
            <a:endParaRPr lang="en-US" sz="1350" dirty="0"/>
          </a:p>
        </p:txBody>
      </p:sp>
      <p:sp>
        <p:nvSpPr>
          <p:cNvPr id="10" name="caiu"/>
          <p:cNvSpPr/>
          <p:nvPr/>
        </p:nvSpPr>
        <p:spPr>
          <a:xfrm>
            <a:off x="5971032" y="3419856"/>
            <a:ext cx="5047488" cy="1700784"/>
          </a:xfrm>
          <a:prstGeom prst="roundRect">
            <a:avLst>
              <a:gd name="adj" fmla="val 5376"/>
            </a:avLst>
          </a:prstGeom>
          <a:solidFill>
            <a:srgbClr val="FFFDF8"/>
          </a:solidFill>
          <a:ln w="9525">
            <a:solidFill>
              <a:srgbClr val="E6DCCB"/>
            </a:solidFill>
            <a:prstDash val="solid"/>
          </a:ln>
          <a:effectLst>
            <a:outerShdw sx="100000" sy="100000" kx="0" ky="0" algn="bl" rotWithShape="0" blurRad="127000" dist="25400" dir="5400000">
              <a:srgbClr val="33291F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208776" y="362102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B35C38"/>
                </a:solidFill>
              </a:rPr>
              <a:t>O QUE NÃO SUSTENTAMOS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208776" y="395020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Economia e exclusividade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208776" y="440740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C4F41"/>
                </a:solidFill>
              </a:rPr>
              <a:t>Não economiza deslocamento, e não encontra planos que um programa corrigido não encontraria.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5340096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pergunta vira: o que mantém o sistema correto quando a norma muda, sem deixar de caber num turno real?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2764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7A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eme">
  <a:themeElements>
    <a:clrScheme name="Creme">
      <a:dk1>
        <a:srgbClr val="33291F"/>
      </a:dk1>
      <a:lt1>
        <a:srgbClr val="FEFCF7"/>
      </a:lt1>
      <a:dk2>
        <a:srgbClr val="5C4F41"/>
      </a:dk2>
      <a:lt2>
        <a:srgbClr val="F2E7D2"/>
      </a:lt2>
      <a:accent1>
        <a:srgbClr val="B35C38"/>
      </a:accent1>
      <a:accent2>
        <a:srgbClr val="4A6B5B"/>
      </a:accent2>
      <a:accent3>
        <a:srgbClr val="8A7A67"/>
      </a:accent3>
      <a:accent4>
        <a:srgbClr val="E8D8BC"/>
      </a:accent4>
      <a:accent5>
        <a:srgbClr val="F3DFD3"/>
      </a:accent5>
      <a:accent6>
        <a:srgbClr val="DDE7E0"/>
      </a:accent6>
      <a:hlink>
        <a:srgbClr val="B35C38"/>
      </a:hlink>
      <a:folHlink>
        <a:srgbClr val="8A7A67"/>
      </a:folHlink>
    </a:clrScheme>
    <a:fontScheme name="Crem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Protocolos legais em visitas domiciliares de ACS</dc:title>
  <dc:subject>PptxGenJS Presentation</dc:subject>
  <dc:creator>Grupo B</dc:creator>
  <cp:lastModifiedBy>Grupo B</cp:lastModifiedBy>
  <cp:revision>1</cp:revision>
  <dcterms:created xsi:type="dcterms:W3CDTF">2026-10-02T01:19:57Z</dcterms:created>
  <dcterms:modified xsi:type="dcterms:W3CDTF">2026-10-02T01:19:57Z</dcterms:modified>
</cp:coreProperties>
</file>