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embeddedFontLst>
    <p:embeddedFont>
      <p:font typeface="Lemonada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monad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Abertura. O enunciado do ciclo pede um artefato que facilite o planejamento das visitas dos ACS. Quase todo mundo vai atacar isso como problema de rota. Nos tambem, mas descobrimos que a rota e so metade do problema. Nao mencione PDDL ainda.</a:t>
            </a:r>
            <a:endParaRPr/>
          </a:p>
        </p:txBody>
      </p:sp>
      <p:sp>
        <p:nvSpPr>
          <p:cNvPr id="39" name="Google Shape;3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h2bbf99b40feeb504_0_17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h2bbf99b40feeb504_0_17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ACS visita as familias da microarea. O enunciado cita percurso, equipe, urgencia e intervalo. Nosso recorte: um agente, um turno, rota ja definida. A dor que nos interessou e que chegar na casa nao autoriza atender: a lei condiciona, e algumas condicoes acabam no meio do turno.</a:t>
            </a:r>
            <a:endParaRPr/>
          </a:p>
        </p:txBody>
      </p:sp>
      <p:sp>
        <p:nvSpPr>
          <p:cNvPr id="50" name="Google Shape;50;h2bbf99b40feeb504_0_17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Leia o trecho em voz alta: e a unica leitura literal que vale a pena no deck. Tres condicoes conjuntivas e um efeito obrigatorio: isso e exatamente um esquema de acao STRIPS, formalismo de 1971. STRIPS = pre-condicoes, o que passa a valer e o que deixa de valer. Se a norma mudar, edita-se a norma no dominio, nao o codigo de busca.</a:t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2bbf99b40feeb504_0_18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h2bbf99b40feeb504_0_18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a rota esta fixa e cada visita fosse independente, o problema se decomporia e um laco for bastaria. O que impede isso sao os recursos finitos. Observacao honesta: a lei exige assistencia e nao diz nada sobre forma ou frequencia. Representa-la como recurso finito por turno, e encerra-la ao sair da casa, sao decisoes de modelagem NOSSAS.</a:t>
            </a:r>
            <a:endParaRPr/>
          </a:p>
        </p:txBody>
      </p:sp>
      <p:sp>
        <p:nvSpPr>
          <p:cNvPr id="76" name="Google Shape;76;h2bbf99b40feeb504_0_18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2bbf99b40feeb504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h2bbf99b40feeb504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Nao leia os tres cartoes. Gaste o tempo no primeiro e no segundo. O ponto: a literatura JA sabe que qualificacao importa, mas trata como rotulo estatico, agente i atende paciente j. Gonzalez-Ferrer e o precedente que blinda a escolha: traduzir norma em dominio de planejamento nao e invencao nossa. Nas buscas realizadas nao achamos trabalho que junte as duas coisas.</a:t>
            </a:r>
            <a:endParaRPr/>
          </a:p>
        </p:txBody>
      </p:sp>
      <p:sp>
        <p:nvSpPr>
          <p:cNvPr id="95" name="Google Shape;95;h2bbf99b40feeb504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2bbf99b40feeb504_0_9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2bbf99b40feeb504_0_9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h2bbf99b40feeb504_0_9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h2bbf99b40feeb504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h2bbf99b40feeb504_0_9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h2bbf99b40feeb504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 a parte metodologica que vale sublinhar: a hipotese pode estar errada, e o desenho admite isso. Nao formulamos uma pergunta que so podia dar certo. Guarde esta frase, porque o slide 10 vai cobrar: um dos dois caminhos de erro realmente se materializou.</a:t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2bbf99b40feeb504_0_3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h2bbf99b40feeb504_0_3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responde a secao 4 do guia. Nao leia os tres cartoes: diga que os sete objetivos especificos se agrupam em formalizar a norma, construir o sistema e validar com medicao, e que a verificacao em planejador de referencia e objetivo declarado, nao detalhe. Se perguntarem quantos sao, sao sete, e estao listados no documento.</a:t>
            </a:r>
            <a:endParaRPr/>
          </a:p>
        </p:txBody>
      </p:sp>
      <p:sp>
        <p:nvSpPr>
          <p:cNvPr id="153" name="Google Shape;153;h2bbf99b40feeb504_0_3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2bbf99b40feeb504_0_5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h2bbf99b40feeb504_0_5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POR QUE sobra decisao para o planejador, senao a plateia conclui que ele e decorativo. A camada geometrica entrega a ordem congelada e o custo de desvio. O que sobra para o planejador: o que fazer em cada casa, quando acionar a supervisao, e em qual parada vale a pena sair da rota para repor. Se perguntarem por que nao OR-Tools: ele resolve a metade geometrica e nao a normativa.</a:t>
            </a:r>
            <a:endParaRPr/>
          </a:p>
        </p:txBody>
      </p:sp>
      <p:sp>
        <p:nvSpPr>
          <p:cNvPr id="184" name="Google Shape;184;h2bbf99b40feeb504_0_5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2bbf99b40feeb504_0_6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h2bbf99b40feeb504_0_6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as lacunas como lacunas conhecidas, nao como promessas. A mais visivel frente ao enunciado e prioridade e intervalo na selecao do turno. Se perguntarem sobre dados de pacientes: todos ficticios, so as coordenadas sao reais, para dar ordem de grandeza a matriz.</a:t>
            </a:r>
            <a:endParaRPr/>
          </a:p>
        </p:txBody>
      </p:sp>
      <p:sp>
        <p:nvSpPr>
          <p:cNvPr id="212" name="Google Shape;212;h2bbf99b40feeb504_0_6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2bbf99b40feeb504_0_1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h2bbf99b40feeb504_0_1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as lacunas como lacunas conhecidas, nao como promessas. A mais visivel frente ao enunciado e prioridade e intervalo na selecao do turno. Se perguntarem sobre dados de pacientes: todos ficticios, so as coordenadas sao reais, para dar ordem de grandeza a matriz.</a:t>
            </a:r>
            <a:endParaRPr/>
          </a:p>
        </p:txBody>
      </p:sp>
      <p:sp>
        <p:nvSpPr>
          <p:cNvPr id="231" name="Google Shape;231;h2bbf99b40feeb504_0_1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2bbf99b40feeb504_0_1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h2bbf99b40feeb504_0_1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fecha o circulo com o slide 6. Dissemos que a hipotese podia estar errada de dois jeitos, e um deles aconteceu. Abrir isso e mais forte do que esconder: mostra que o desenho experimental funcionou. Nao entre em numero de instancia aqui; se perguntarem, foram 40 microareas sorteadas.</a:t>
            </a:r>
            <a:endParaRPr/>
          </a:p>
        </p:txBody>
      </p:sp>
      <p:sp>
        <p:nvSpPr>
          <p:cNvPr id="263" name="Google Shape;263;h2bbf99b40feeb504_0_13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2bbf99b40feeb504_0_15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h2bbf99b40feeb504_0_15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Fecho. O trunfo do trabalho nao e ter usado Planning. E termos medido COMO ele ajuda neste problema, inclusive descobrindo que a resposta nao era a que esperavamos. Se a banca perguntar o que sobrou: declaratividade com efeito medido, e prova de inviabilidade. Se perguntar o que caiu: economia de tempo e exclusividade de capacidade.</a:t>
            </a:r>
            <a:endParaRPr/>
          </a:p>
        </p:txBody>
      </p:sp>
      <p:sp>
        <p:nvSpPr>
          <p:cNvPr id="290" name="Google Shape;290;h2bbf99b40feeb504_0_15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2bbf99b40feeb504_0_15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h2bbf99b40feeb504_0_15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Fecho. O trunfo do trabalho nao e ter usado Planning. E termos medido COMO ele ajuda neste problema, inclusive descobrindo que a resposta nao era a que esperavamos. Se a banca perguntar o que sobrou: declaratividade com efeito medido, e prova de inviabilidade. Se perguntar o que caiu: economia de tempo e exclusividade de capacidade.</a:t>
            </a:r>
            <a:endParaRPr/>
          </a:p>
        </p:txBody>
      </p:sp>
      <p:sp>
        <p:nvSpPr>
          <p:cNvPr id="307" name="Google Shape;307;h2bbf99b40feeb504_0_15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7"/>
          <p:cNvSpPr txBox="1"/>
          <p:nvPr/>
        </p:nvSpPr>
        <p:spPr>
          <a:xfrm>
            <a:off x="11064240" y="632764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7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 (h4ae0447d94099342_14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1">
  <p:cSld name="BASE (h2bbf99b40feeb504_78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2bbf99b40feeb504_27_0)">
  <p:cSld name="Generated (h2bbf99b40feeb504_27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2">
  <p:cSld name="BASE (h4ae0447d94099342_9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3">
  <p:cSld name="BASE (h4ae0447d94099342_115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4">
  <p:cSld name="BASE (h4ae0447d94099342_123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/>
        </p:nvSpPr>
        <p:spPr>
          <a:xfrm>
            <a:off x="914400" y="371204"/>
            <a:ext cx="1033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PROJETO EM CIÊNCIA E INOVAÇÃO · INF99003 · CICLO 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5"/>
          <p:cNvSpPr txBox="1"/>
          <p:nvPr/>
        </p:nvSpPr>
        <p:spPr>
          <a:xfrm>
            <a:off x="914400" y="1629530"/>
            <a:ext cx="87009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4000"/>
              <a:buFont typeface="Cambria"/>
              <a:buNone/>
            </a:pPr>
            <a:r>
              <a:rPr b="1" i="0" lang="en-US" sz="5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</a:t>
            </a:r>
            <a:r>
              <a:rPr b="1" lang="en-US" sz="5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5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Automatizado para o</a:t>
            </a:r>
            <a:r>
              <a:rPr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5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cumprimento de</a:t>
            </a:r>
            <a:r>
              <a:rPr b="1" lang="en-US" sz="5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5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protocolos legais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5"/>
          <p:cNvSpPr txBox="1"/>
          <p:nvPr/>
        </p:nvSpPr>
        <p:spPr>
          <a:xfrm>
            <a:off x="914400" y="4024830"/>
            <a:ext cx="932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650"/>
              <a:buFont typeface="Calibri"/>
              <a:buNone/>
            </a:pPr>
            <a:r>
              <a:rPr b="0" i="0" lang="en-US" sz="27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Visitas domiciliares de Agentes Comunitários de Saúde na Atenção Primária do SUS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5"/>
          <p:cNvSpPr/>
          <p:nvPr/>
        </p:nvSpPr>
        <p:spPr>
          <a:xfrm>
            <a:off x="914400" y="5516671"/>
            <a:ext cx="1920300" cy="22800"/>
          </a:xfrm>
          <a:prstGeom prst="rect">
            <a:avLst/>
          </a:prstGeom>
          <a:solidFill>
            <a:srgbClr val="D9C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15"/>
          <p:cNvSpPr txBox="1"/>
          <p:nvPr/>
        </p:nvSpPr>
        <p:spPr>
          <a:xfrm>
            <a:off x="929638" y="5780141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00"/>
              <a:buFont typeface="Cambria"/>
              <a:buNone/>
            </a:pPr>
            <a:r>
              <a:rPr b="1" i="0" lang="en-US" sz="2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Gabriel Pieruccini Knopp   ·   Arthur Andrade da Silva   ·   Izadora Candotti de Oliveira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5"/>
          <p:cNvSpPr txBox="1"/>
          <p:nvPr/>
        </p:nvSpPr>
        <p:spPr>
          <a:xfrm>
            <a:off x="929638" y="6173333"/>
            <a:ext cx="1033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Grupo B   ·   Instituto de Informática, UFRGS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15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CONTEXTUALIZAÇÃO</a:t>
            </a:r>
            <a:endParaRPr b="1" sz="3615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685800" y="1238250"/>
            <a:ext cx="5219700" cy="3048000"/>
          </a:xfrm>
          <a:prstGeom prst="roundRect">
            <a:avLst>
              <a:gd fmla="val 500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4" name="Google Shape;54;p16"/>
          <p:cNvSpPr txBox="1"/>
          <p:nvPr/>
        </p:nvSpPr>
        <p:spPr>
          <a:xfrm>
            <a:off x="952500" y="1476375"/>
            <a:ext cx="46863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ABORDAGEM TRADICIONAL</a:t>
            </a:r>
            <a:endParaRPr b="1" sz="1500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Isso costuma ser tratado como um problema de percurso</a:t>
            </a:r>
            <a:endParaRPr b="1" sz="24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Minimizar deslocamento, cobrir o território no prazo e respeitar a capacidade da equipe são coisas que </a:t>
            </a:r>
            <a:r>
              <a:rPr b="1" lang="en-US" sz="19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roteirizadores já resolvem bem</a:t>
            </a: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9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6"/>
          <p:cNvSpPr/>
          <p:nvPr/>
        </p:nvSpPr>
        <p:spPr>
          <a:xfrm>
            <a:off x="6286500" y="1238250"/>
            <a:ext cx="5219700" cy="3048000"/>
          </a:xfrm>
          <a:prstGeom prst="roundRect">
            <a:avLst>
              <a:gd fmla="val 5000" name="adj"/>
            </a:avLst>
          </a:prstGeom>
          <a:solidFill>
            <a:srgbClr val="FFFDF8"/>
          </a:solidFill>
          <a:ln cap="flat" cmpd="sng" w="14300">
            <a:solidFill>
              <a:srgbClr val="D9C4A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6" name="Google Shape;56;p16"/>
          <p:cNvSpPr txBox="1"/>
          <p:nvPr/>
        </p:nvSpPr>
        <p:spPr>
          <a:xfrm>
            <a:off x="6553200" y="1476375"/>
            <a:ext cx="46863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RESTRIÇÃO LEGAL &amp; DINÂMICA</a:t>
            </a:r>
            <a:endParaRPr b="1" sz="15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Essa formulação deixa de fora uma norma importante</a:t>
            </a:r>
            <a:endParaRPr b="1" sz="24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19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Lei 11.350/2006</a:t>
            </a: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condiciona o que o agente pode fazer em cada residência. Nem toda condição é estática: </a:t>
            </a:r>
            <a:r>
              <a:rPr b="1" lang="en-US" sz="19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insumo e supervisão se esgotam</a:t>
            </a: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ao longo do turno.</a:t>
            </a:r>
            <a:endParaRPr sz="19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6"/>
          <p:cNvSpPr/>
          <p:nvPr/>
        </p:nvSpPr>
        <p:spPr>
          <a:xfrm>
            <a:off x="685800" y="4656699"/>
            <a:ext cx="10820400" cy="1262100"/>
          </a:xfrm>
          <a:prstGeom prst="roundRect">
            <a:avLst>
              <a:gd fmla="val 10666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8" name="Google Shape;58;p16"/>
          <p:cNvSpPr txBox="1"/>
          <p:nvPr/>
        </p:nvSpPr>
        <p:spPr>
          <a:xfrm>
            <a:off x="990600" y="4552950"/>
            <a:ext cx="102108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1905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5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 pergunta não é qual o menor percurso, e sim se aquela sequência de atendimentos é </a:t>
            </a:r>
            <a:r>
              <a:rPr b="1" i="0" lang="en-US" sz="25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executável sem violar a norma</a:t>
            </a:r>
            <a:r>
              <a:rPr i="1" lang="en-US" sz="25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.”</a:t>
            </a:r>
            <a:endParaRPr i="1" sz="25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" name="Google Shape;59;p16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/>
        </p:nvSpPr>
        <p:spPr>
          <a:xfrm>
            <a:off x="685800" y="811928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685800" y="1235795"/>
            <a:ext cx="10820100" cy="2063400"/>
          </a:xfrm>
          <a:prstGeom prst="roundRect">
            <a:avLst>
              <a:gd fmla="val 5556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814850" y="1385545"/>
            <a:ext cx="105693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00"/>
              <a:buFont typeface="Cambria"/>
              <a:buNone/>
            </a:pP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“desde que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concluído curso técnico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e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disponíveis os equipamentos adequados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, são atividades do Agente […]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assistidas por profissional de saúde de nível superior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[…] a aferição da pressão arterial […],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encaminhando o paciente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para a unidade de referência”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7"/>
          <p:cNvSpPr txBox="1"/>
          <p:nvPr/>
        </p:nvSpPr>
        <p:spPr>
          <a:xfrm>
            <a:off x="826233" y="2926684"/>
            <a:ext cx="1023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Lei nº 11.350/2006, art. 3º § 4º, na redação da Lei nº 13.595/2018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689450" y="3626571"/>
            <a:ext cx="10820100" cy="2700900"/>
          </a:xfrm>
          <a:prstGeom prst="roundRect">
            <a:avLst>
              <a:gd fmla="val 494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978450" y="3808001"/>
            <a:ext cx="10234800" cy="23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300"/>
              <a:buFont typeface="Courier New"/>
              <a:buNone/>
            </a:pPr>
            <a:r>
              <a:rPr b="1" i="0" lang="en-US" sz="2300" u="none" cap="none" strike="noStrike">
                <a:solidFill>
                  <a:srgbClr val="4A6B5B"/>
                </a:solidFill>
                <a:latin typeface="Courier New"/>
                <a:ea typeface="Courier New"/>
                <a:cs typeface="Courier New"/>
                <a:sym typeface="Courier New"/>
              </a:rPr>
              <a:t>:precondition</a:t>
            </a: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(and (curso-tecnico-concluido ?ag)</a:t>
            </a:r>
            <a:b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(equipamento-disponivel ?ag)</a:t>
            </a:r>
            <a:b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(supervisao-ativa ?ag))</a:t>
            </a:r>
            <a:b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300" u="none" cap="none" strike="noStrike">
                <a:solidFill>
                  <a:srgbClr val="4A6B5B"/>
                </a:solidFill>
                <a:latin typeface="Courier New"/>
                <a:ea typeface="Courier New"/>
                <a:cs typeface="Courier New"/>
                <a:sym typeface="Courier New"/>
              </a:rPr>
              <a:t>:effect</a:t>
            </a: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(and (pa-ok ?p)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300"/>
              <a:buFont typeface="Courier New"/>
              <a:buNone/>
            </a:pP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(pendencia-encaminhamento ?p))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 txBox="1"/>
          <p:nvPr/>
        </p:nvSpPr>
        <p:spPr>
          <a:xfrm>
            <a:off x="492162" y="401820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PLANNING</a:t>
            </a:r>
            <a:endParaRPr b="1" sz="3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t/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2" name="Google Shape;72;p17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8"/>
          <p:cNvSpPr/>
          <p:nvPr/>
        </p:nvSpPr>
        <p:spPr>
          <a:xfrm>
            <a:off x="685800" y="1294158"/>
            <a:ext cx="5219700" cy="2143200"/>
          </a:xfrm>
          <a:prstGeom prst="roundRect">
            <a:avLst>
              <a:gd fmla="val 7111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0" name="Google Shape;80;p18"/>
          <p:cNvSpPr txBox="1"/>
          <p:nvPr/>
        </p:nvSpPr>
        <p:spPr>
          <a:xfrm>
            <a:off x="952500" y="1484658"/>
            <a:ext cx="46863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RECURSO 1</a:t>
            </a:r>
            <a:endParaRPr b="1" sz="16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952500" y="1770408"/>
            <a:ext cx="468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Insumo consumível</a:t>
            </a:r>
            <a:endParaRPr b="1" sz="25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952500" y="2199033"/>
            <a:ext cx="4686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fita de glicemia só se repõe na unidade de saúde. Acabar no meio da rota obriga um desvio não previsto.</a:t>
            </a:r>
            <a:endParaRPr b="0" sz="19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6286500" y="1294158"/>
            <a:ext cx="5219700" cy="2143200"/>
          </a:xfrm>
          <a:prstGeom prst="roundRect">
            <a:avLst>
              <a:gd fmla="val 7111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4" name="Google Shape;84;p18"/>
          <p:cNvSpPr txBox="1"/>
          <p:nvPr/>
        </p:nvSpPr>
        <p:spPr>
          <a:xfrm>
            <a:off x="6553200" y="1484658"/>
            <a:ext cx="46863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RECURSO 2</a:t>
            </a:r>
            <a:endParaRPr b="1" sz="16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6553200" y="1770408"/>
            <a:ext cx="4686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Supervisão da equipe</a:t>
            </a:r>
            <a:endParaRPr b="1" sz="25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6553200" y="2199033"/>
            <a:ext cx="4686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§ 4º exige assistência de profissional de nível superior, e ela se encerra quando o agente deixa a residência.</a:t>
            </a:r>
            <a:endParaRPr b="0" sz="19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685800" y="3723033"/>
            <a:ext cx="10820400" cy="1867800"/>
          </a:xfrm>
          <a:prstGeom prst="roundRect">
            <a:avLst>
              <a:gd fmla="val 6400" name="adj"/>
            </a:avLst>
          </a:prstGeom>
          <a:solidFill>
            <a:srgbClr val="F3DFD3"/>
          </a:solidFill>
          <a:ln>
            <a:noFill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8" name="Google Shape;88;p18"/>
          <p:cNvSpPr txBox="1"/>
          <p:nvPr/>
        </p:nvSpPr>
        <p:spPr>
          <a:xfrm>
            <a:off x="1028700" y="4001333"/>
            <a:ext cx="10096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Uma decisão tomada na terceira parada pode inviabilizar a sétima.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1028700" y="4594783"/>
            <a:ext cx="100965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número de sequências candidatas cresce exponencialmente, e a interação entre decisões distantes na rota se torna algo difícil de tratar por inspeção manual ou por planilhas.</a:t>
            </a:r>
            <a:endParaRPr b="0" sz="21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PLANNING</a:t>
            </a:r>
            <a:endParaRPr b="1" sz="3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p18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685800" y="420624"/>
            <a:ext cx="1082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685800" y="1219200"/>
            <a:ext cx="3390900" cy="46674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4400550" y="1219200"/>
            <a:ext cx="3390900" cy="46674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8115300" y="1219200"/>
            <a:ext cx="3390900" cy="46674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15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REVISÃO DE LITERATURA E MERCADO</a:t>
            </a:r>
            <a:endParaRPr b="1" sz="3615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914400" y="1447800"/>
            <a:ext cx="29337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Roteamento em saúde domiciliar</a:t>
            </a:r>
            <a:endParaRPr b="1" sz="20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914400" y="2483550"/>
            <a:ext cx="2933700" cy="21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Reconhece qualificação profissional como restrição, mas a modela como </a:t>
            </a:r>
            <a:r>
              <a:rPr b="1" lang="en-US" sz="20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etiqueta fixa de compatibilidade</a:t>
            </a:r>
            <a:r>
              <a:rPr b="0"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20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1" sz="16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Fikar &amp; Hirsch (2017)</a:t>
            </a:r>
            <a:endParaRPr b="0" sz="18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Cissé et al. (2017)</a:t>
            </a:r>
            <a:endParaRPr b="0" sz="18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4629150" y="1447800"/>
            <a:ext cx="29337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 em protocolos clínicos</a:t>
            </a:r>
            <a:endParaRPr b="1" sz="20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629150" y="2457600"/>
            <a:ext cx="29337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Traduz diretrizes clínicas para domínios de planejamento, mas </a:t>
            </a:r>
            <a:r>
              <a:rPr b="1" lang="en-US" sz="20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sem componente de roteamento</a:t>
            </a:r>
            <a:r>
              <a:rPr b="0"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20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1" sz="18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González-Ferrer et al. (2013)</a:t>
            </a:r>
            <a:endParaRPr b="0" sz="18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Bradbrook et al. (2005)</a:t>
            </a:r>
            <a:endParaRPr b="0" sz="18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8830500" y="1447800"/>
            <a:ext cx="1960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Ferramentas de mercado</a:t>
            </a:r>
            <a:endParaRPr b="1" sz="20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8343900" y="2353700"/>
            <a:ext cx="2933700" cy="257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OR-Tools e OSRM</a:t>
            </a:r>
            <a:r>
              <a:rPr b="0"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otimizam a geometria.</a:t>
            </a:r>
            <a:br>
              <a:rPr b="0"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lang="en-US" sz="20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e-SUS Território</a:t>
            </a:r>
            <a:r>
              <a:rPr b="0"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registra a visita, sem roteirizar nem verificar conformidade.</a:t>
            </a:r>
            <a:endParaRPr b="0" sz="20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/>
        </p:nvSpPr>
        <p:spPr>
          <a:xfrm>
            <a:off x="685800" y="4979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POSICIONAMENTO DO PROJETO</a:t>
            </a:r>
            <a:endParaRPr sz="3600"/>
          </a:p>
        </p:txBody>
      </p:sp>
      <p:grpSp>
        <p:nvGrpSpPr>
          <p:cNvPr id="118" name="Google Shape;118;p20"/>
          <p:cNvGrpSpPr/>
          <p:nvPr/>
        </p:nvGrpSpPr>
        <p:grpSpPr>
          <a:xfrm>
            <a:off x="685800" y="1387025"/>
            <a:ext cx="5219700" cy="2750458"/>
            <a:chOff x="0" y="0"/>
            <a:chExt cx="5219700" cy="3238500"/>
          </a:xfrm>
        </p:grpSpPr>
        <p:sp>
          <p:nvSpPr>
            <p:cNvPr id="119" name="Google Shape;119;p20"/>
            <p:cNvSpPr/>
            <p:nvPr/>
          </p:nvSpPr>
          <p:spPr>
            <a:xfrm>
              <a:off x="0" y="0"/>
              <a:ext cx="5219700" cy="3238500"/>
            </a:xfrm>
            <a:prstGeom prst="roundRect">
              <a:avLst>
                <a:gd fmla="val 4705" name="adj"/>
              </a:avLst>
            </a:prstGeom>
            <a:solidFill>
              <a:srgbClr val="FFFDF8"/>
            </a:solidFill>
            <a:ln cap="flat" cmpd="sng" w="9525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 txBox="1"/>
            <p:nvPr/>
          </p:nvSpPr>
          <p:spPr>
            <a:xfrm>
              <a:off x="304800" y="266700"/>
              <a:ext cx="46101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VISÃO DA LITERATURA</a:t>
              </a:r>
              <a:endParaRPr/>
            </a:p>
          </p:txBody>
        </p:sp>
        <p:sp>
          <p:nvSpPr>
            <p:cNvPr id="121" name="Google Shape;121;p20"/>
            <p:cNvSpPr txBox="1"/>
            <p:nvPr/>
          </p:nvSpPr>
          <p:spPr>
            <a:xfrm>
              <a:off x="304800" y="744827"/>
              <a:ext cx="4610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Etiqueta Fixa</a:t>
              </a:r>
              <a:endParaRPr/>
            </a:p>
          </p:txBody>
        </p:sp>
        <p:sp>
          <p:nvSpPr>
            <p:cNvPr id="122" name="Google Shape;122;p20"/>
            <p:cNvSpPr txBox="1"/>
            <p:nvPr/>
          </p:nvSpPr>
          <p:spPr>
            <a:xfrm>
              <a:off x="304800" y="1354427"/>
              <a:ext cx="46101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A </a:t>
              </a:r>
              <a:r>
                <a:rPr b="1" lang="en-US" sz="20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qualificação</a:t>
              </a:r>
              <a:r>
                <a:rPr lang="en-US" sz="20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 profissional é tratada como um atributo estático e permanente de compatibilidade entre o agente e a tarefa.</a:t>
              </a:r>
              <a:endParaRPr/>
            </a:p>
          </p:txBody>
        </p:sp>
      </p:grpSp>
      <p:sp>
        <p:nvSpPr>
          <p:cNvPr id="123" name="Google Shape;123;p20"/>
          <p:cNvSpPr/>
          <p:nvPr/>
        </p:nvSpPr>
        <p:spPr>
          <a:xfrm>
            <a:off x="6286500" y="1379674"/>
            <a:ext cx="5219700" cy="2750458"/>
          </a:xfrm>
          <a:prstGeom prst="roundRect">
            <a:avLst>
              <a:gd fmla="val 470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6591300" y="1606182"/>
            <a:ext cx="4610100" cy="2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VISÃO DA LEI BRASILEIRA</a:t>
            </a: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6591300" y="2028966"/>
            <a:ext cx="4610100" cy="1812066"/>
            <a:chOff x="6591300" y="1962124"/>
            <a:chExt cx="4610100" cy="1812066"/>
          </a:xfrm>
        </p:grpSpPr>
        <p:sp>
          <p:nvSpPr>
            <p:cNvPr id="126" name="Google Shape;126;p20"/>
            <p:cNvSpPr txBox="1"/>
            <p:nvPr/>
          </p:nvSpPr>
          <p:spPr>
            <a:xfrm>
              <a:off x="6591300" y="1962124"/>
              <a:ext cx="4610100" cy="38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Condições Dinâmicas</a:t>
              </a:r>
              <a:endParaRPr/>
            </a:p>
          </p:txBody>
        </p:sp>
        <p:sp>
          <p:nvSpPr>
            <p:cNvPr id="127" name="Google Shape;127;p20"/>
            <p:cNvSpPr txBox="1"/>
            <p:nvPr/>
          </p:nvSpPr>
          <p:spPr>
            <a:xfrm>
              <a:off x="6591300" y="2479857"/>
              <a:ext cx="4610100" cy="1294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A </a:t>
              </a:r>
              <a:r>
                <a:rPr b="1" lang="en-US" sz="20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qualificação</a:t>
              </a:r>
              <a:r>
                <a:rPr lang="en-US" sz="20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 é uma soma de condições e recursos consumíveis que s</a:t>
              </a:r>
              <a:r>
                <a:rPr lang="en-US" sz="20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ão gastos </a:t>
              </a:r>
              <a:r>
                <a:rPr lang="en-US" sz="20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ao longo do turno.</a:t>
              </a:r>
              <a:endParaRPr/>
            </a:p>
          </p:txBody>
        </p:sp>
      </p:grpSp>
      <p:grpSp>
        <p:nvGrpSpPr>
          <p:cNvPr id="128" name="Google Shape;128;p20"/>
          <p:cNvGrpSpPr/>
          <p:nvPr/>
        </p:nvGrpSpPr>
        <p:grpSpPr>
          <a:xfrm>
            <a:off x="1478875" y="4610100"/>
            <a:ext cx="9491655" cy="1428900"/>
            <a:chOff x="0" y="0"/>
            <a:chExt cx="10820400" cy="1428900"/>
          </a:xfrm>
        </p:grpSpPr>
        <p:sp>
          <p:nvSpPr>
            <p:cNvPr id="129" name="Google Shape;129;p20"/>
            <p:cNvSpPr/>
            <p:nvPr/>
          </p:nvSpPr>
          <p:spPr>
            <a:xfrm>
              <a:off x="0" y="0"/>
              <a:ext cx="10820400" cy="1428900"/>
            </a:xfrm>
            <a:prstGeom prst="roundRect">
              <a:avLst>
                <a:gd fmla="val 10666" name="adj"/>
              </a:avLst>
            </a:prstGeom>
            <a:solidFill>
              <a:srgbClr val="DDE7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 txBox="1"/>
            <p:nvPr/>
          </p:nvSpPr>
          <p:spPr>
            <a:xfrm>
              <a:off x="381000" y="190500"/>
              <a:ext cx="10058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É na </a:t>
              </a:r>
              <a:r>
                <a:rPr b="1" i="1" lang="en-US" sz="24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interseção</a:t>
              </a:r>
              <a:r>
                <a:rPr i="1" lang="en-US" sz="24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 entre a modelagem de rotas e o consumo dinâmico dessas condições legais que o projeto se posiciona.</a:t>
              </a:r>
              <a:endParaRPr i="1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31" name="Google Shape;131;p20"/>
          <p:cNvSpPr txBox="1"/>
          <p:nvPr/>
        </p:nvSpPr>
        <p:spPr>
          <a:xfrm>
            <a:off x="222975" y="6416445"/>
            <a:ext cx="233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/>
          </a:p>
        </p:txBody>
      </p:sp>
      <p:sp>
        <p:nvSpPr>
          <p:cNvPr id="132" name="Google Shape;132;p20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/>
          <p:nvPr/>
        </p:nvSpPr>
        <p:spPr>
          <a:xfrm>
            <a:off x="685800" y="1143000"/>
            <a:ext cx="10820400" cy="1809600"/>
          </a:xfrm>
          <a:prstGeom prst="roundRect">
            <a:avLst>
              <a:gd fmla="val 8421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1114350" y="1333350"/>
            <a:ext cx="99633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 representação declarativa das condições legais reduzirá a ocorrência de falsos negativos: turnos classificados como inexequíveis quando existe sequência válida.”</a:t>
            </a:r>
            <a:endParaRPr i="1" sz="24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685800" y="3238500"/>
            <a:ext cx="5219700" cy="2762400"/>
          </a:xfrm>
          <a:prstGeom prst="roundRect">
            <a:avLst>
              <a:gd fmla="val 551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990600" y="356946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1</a:t>
            </a:r>
            <a:endParaRPr b="1" i="0" sz="17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990600" y="4048626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é redundante</a:t>
            </a:r>
            <a:endParaRPr b="1" i="0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990600" y="4620126"/>
            <a:ext cx="46101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 executor procedural simples alcança desempenho equivalente.</a:t>
            </a:r>
            <a:endParaRPr b="0" i="0" sz="21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6286500" y="3238500"/>
            <a:ext cx="5219700" cy="2762400"/>
          </a:xfrm>
          <a:prstGeom prst="roundRect">
            <a:avLst>
              <a:gd fmla="val 551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6591300" y="3588753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2</a:t>
            </a:r>
            <a:endParaRPr b="1" i="0" sz="17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6591300" y="4065337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não escala</a:t>
            </a:r>
            <a:endParaRPr b="1" i="0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6591300" y="4653547"/>
            <a:ext cx="46101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custo da busca cresce a ponto de inviabilizar microáreas reais.</a:t>
            </a:r>
            <a:endParaRPr b="0" i="0" sz="21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685800" y="38100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HIPÓTESE</a:t>
            </a:r>
            <a:endParaRPr b="1" i="0" sz="3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21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100" u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685800" y="1095375"/>
            <a:ext cx="10820400" cy="1428900"/>
          </a:xfrm>
          <a:prstGeom prst="roundRect">
            <a:avLst>
              <a:gd fmla="val 8000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990600" y="1238250"/>
            <a:ext cx="1021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 b="1" i="0" sz="1480" u="none" strike="noStrike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990600" y="1509922"/>
            <a:ext cx="10393800" cy="8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6" u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Modelar, implementar e validar um sistema de apoio ao planejamento de turnos de visitas domiciliares, e mensurar em que dimensões o paradigma supera um executor procedural equivalente.</a:t>
            </a:r>
            <a:endParaRPr b="0" i="0" sz="1836" u="none" strike="noStrike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685800" y="2762250"/>
            <a:ext cx="3448200" cy="3333900"/>
          </a:xfrm>
          <a:prstGeom prst="roundRect">
            <a:avLst>
              <a:gd fmla="val 3428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923925" y="3448050"/>
            <a:ext cx="29718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Formalizar a norma em domínio PDDL</a:t>
            </a:r>
            <a:endParaRPr b="1" i="0" sz="2200" u="none" strike="noStrike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924075" y="4365222"/>
            <a:ext cx="2971800" cy="16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Traduzir os §§ 3º e 4º do art. 3º da Lei 11.350/2006 e as diretrizes da PNAB em ações, pré-condições e efeitos.</a:t>
            </a:r>
            <a:endParaRPr b="0" i="0" sz="1800" u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4371975" y="2762250"/>
            <a:ext cx="3448200" cy="3333900"/>
          </a:xfrm>
          <a:prstGeom prst="roundRect">
            <a:avLst>
              <a:gd fmla="val 3428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 txBox="1"/>
          <p:nvPr/>
        </p:nvSpPr>
        <p:spPr>
          <a:xfrm>
            <a:off x="4610100" y="3448050"/>
            <a:ext cx="29718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Construir o sistema e o ambiente de medição</a:t>
            </a:r>
            <a:endParaRPr b="1" i="0" sz="2200" u="none" strike="noStrike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4610176" y="4338104"/>
            <a:ext cx="2971800" cy="16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camada geométrica, o tradutor para PDDL, o executor procedural de referência e a saída legível pelo agente.</a:t>
            </a:r>
            <a:endParaRPr b="0" i="0" sz="1800" u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8058150" y="2762250"/>
            <a:ext cx="3448200" cy="3333900"/>
          </a:xfrm>
          <a:prstGeom prst="roundRect">
            <a:avLst>
              <a:gd fmla="val 3428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8296275" y="3448050"/>
            <a:ext cx="29718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3" u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Validar os experimentos e a independência</a:t>
            </a:r>
            <a:endParaRPr b="1" i="0" sz="2043" u="none" strike="noStrike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8296275" y="4303776"/>
            <a:ext cx="2971800" cy="16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Escalabilidade, qualidade de plano e reconhecimento de inviabilidade, com conferência em planejador de referência.</a:t>
            </a:r>
            <a:endParaRPr b="0" i="0" sz="1800" u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685800" y="38100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15" u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b="1" i="0" sz="3615" u="none" strike="noStrike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95350" y="2990850"/>
            <a:ext cx="342900" cy="3429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22"/>
          <p:cNvGrpSpPr/>
          <p:nvPr/>
        </p:nvGrpSpPr>
        <p:grpSpPr>
          <a:xfrm>
            <a:off x="895350" y="2990850"/>
            <a:ext cx="342900" cy="342900"/>
            <a:chOff x="0" y="0"/>
            <a:chExt cx="342900" cy="342900"/>
          </a:xfrm>
        </p:grpSpPr>
        <p:sp>
          <p:nvSpPr>
            <p:cNvPr id="171" name="Google Shape;171;p22"/>
            <p:cNvSpPr/>
            <p:nvPr/>
          </p:nvSpPr>
          <p:spPr>
            <a:xfrm>
              <a:off x="0" y="0"/>
              <a:ext cx="34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0" y="0"/>
              <a:ext cx="342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22"/>
          <p:cNvSpPr/>
          <p:nvPr/>
        </p:nvSpPr>
        <p:spPr>
          <a:xfrm>
            <a:off x="4581525" y="2990850"/>
            <a:ext cx="342900" cy="3429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4960975" y="299085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4581525" y="299085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5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8267700" y="2990850"/>
            <a:ext cx="342900" cy="342900"/>
          </a:xfrm>
          <a:prstGeom prst="ellipse">
            <a:avLst/>
          </a:prstGeom>
          <a:solidFill>
            <a:srgbClr val="4A6B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8267700" y="299085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35C38"/>
              </a:solidFill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8267700" y="2990850"/>
            <a:ext cx="342900" cy="3429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8267700" y="299085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5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100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685800" y="38100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METODOLOGIA - PIPELINE</a:t>
            </a:r>
            <a:endParaRPr b="1" i="0" sz="3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685800" y="1143057"/>
            <a:ext cx="3333900" cy="3314700"/>
          </a:xfrm>
          <a:prstGeom prst="roundRect">
            <a:avLst>
              <a:gd fmla="val 4307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2143125" y="1408216"/>
            <a:ext cx="419100" cy="4488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685800" y="1408214"/>
            <a:ext cx="3333900" cy="44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914400" y="2040522"/>
            <a:ext cx="2876700" cy="21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Seleção</a:t>
            </a:r>
            <a:endParaRPr b="1" i="0" sz="23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1900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Quem entra no turno</a:t>
            </a:r>
            <a:endParaRPr b="1" i="0" sz="19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Prioridade clínica e atraso em relação ao intervalo máximo, sob orçamento de tempo.</a:t>
            </a:r>
            <a:endParaRPr b="1" i="0" sz="19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4076700" y="2734010"/>
            <a:ext cx="285900" cy="1224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2000" y="0"/>
                </a:moveTo>
                <a:lnTo>
                  <a:pt x="120000" y="60000"/>
                </a:lnTo>
                <a:lnTo>
                  <a:pt x="92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B35C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23"/>
          <p:cNvGrpSpPr/>
          <p:nvPr/>
        </p:nvGrpSpPr>
        <p:grpSpPr>
          <a:xfrm>
            <a:off x="4429125" y="1143057"/>
            <a:ext cx="3333900" cy="3314566"/>
            <a:chOff x="0" y="0"/>
            <a:chExt cx="3333900" cy="3095700"/>
          </a:xfrm>
        </p:grpSpPr>
        <p:sp>
          <p:nvSpPr>
            <p:cNvPr id="194" name="Google Shape;194;p23"/>
            <p:cNvSpPr/>
            <p:nvPr/>
          </p:nvSpPr>
          <p:spPr>
            <a:xfrm>
              <a:off x="0" y="0"/>
              <a:ext cx="3333900" cy="3095700"/>
            </a:xfrm>
            <a:prstGeom prst="roundRect">
              <a:avLst>
                <a:gd fmla="val 4307" name="adj"/>
              </a:avLst>
            </a:prstGeom>
            <a:solidFill>
              <a:srgbClr val="FFFDF8"/>
            </a:solidFill>
            <a:ln cap="flat" cmpd="sng" w="14300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1457325" y="247650"/>
              <a:ext cx="419100" cy="419100"/>
            </a:xfrm>
            <a:prstGeom prst="ellipse">
              <a:avLst/>
            </a:prstGeom>
            <a:solidFill>
              <a:srgbClr val="B35C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3"/>
            <p:cNvSpPr txBox="1"/>
            <p:nvPr/>
          </p:nvSpPr>
          <p:spPr>
            <a:xfrm>
              <a:off x="0" y="247650"/>
              <a:ext cx="33339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i="0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3"/>
            <p:cNvSpPr txBox="1"/>
            <p:nvPr/>
          </p:nvSpPr>
          <p:spPr>
            <a:xfrm>
              <a:off x="228600" y="838200"/>
              <a:ext cx="2876700" cy="20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>
                  <a:solidFill>
                    <a:srgbClr val="B35C38"/>
                  </a:solidFill>
                  <a:latin typeface="Cambria"/>
                  <a:ea typeface="Cambria"/>
                  <a:cs typeface="Cambria"/>
                  <a:sym typeface="Cambria"/>
                </a:rPr>
                <a:t>Roteamento</a:t>
              </a:r>
              <a:endParaRPr b="1" i="0" sz="23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-US" sz="1900">
                  <a:solidFill>
                    <a:srgbClr val="5C4F41"/>
                  </a:solidFill>
                  <a:latin typeface="Cambria"/>
                  <a:ea typeface="Cambria"/>
                  <a:cs typeface="Cambria"/>
                  <a:sym typeface="Cambria"/>
                </a:rPr>
                <a:t>Em que ordem visitar</a:t>
              </a:r>
              <a:endParaRPr b="1" i="0" sz="19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9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Heurística de grafos sobre a matriz de distâncias. Entrega a rota e o custo de desviar até a unidade.</a:t>
              </a:r>
              <a:endParaRPr b="1" i="0" sz="19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98" name="Google Shape;198;p23"/>
          <p:cNvSpPr/>
          <p:nvPr/>
        </p:nvSpPr>
        <p:spPr>
          <a:xfrm>
            <a:off x="7820025" y="2734010"/>
            <a:ext cx="285900" cy="1224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2000" y="0"/>
                </a:moveTo>
                <a:lnTo>
                  <a:pt x="120000" y="60000"/>
                </a:lnTo>
                <a:lnTo>
                  <a:pt x="92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4A6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/>
          <p:nvPr/>
        </p:nvSpPr>
        <p:spPr>
          <a:xfrm>
            <a:off x="8172450" y="1143057"/>
            <a:ext cx="3333900" cy="3314566"/>
          </a:xfrm>
          <a:prstGeom prst="roundRect">
            <a:avLst>
              <a:gd fmla="val 4307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/>
          <p:nvPr/>
        </p:nvSpPr>
        <p:spPr>
          <a:xfrm>
            <a:off x="9629775" y="1408216"/>
            <a:ext cx="419100" cy="448730"/>
          </a:xfrm>
          <a:prstGeom prst="ellipse">
            <a:avLst/>
          </a:prstGeom>
          <a:solidFill>
            <a:srgbClr val="4A6B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8172450" y="1408216"/>
            <a:ext cx="3333900" cy="44873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8401050" y="2040525"/>
            <a:ext cx="2983200" cy="21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Planejamento</a:t>
            </a:r>
            <a:endParaRPr b="1" i="0" sz="23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1900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O que fazer em cada parada</a:t>
            </a:r>
            <a:endParaRPr b="1" i="0" sz="19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Domínio PDDL com as condições legais e os recursos finitos. Decide as ações e os desvios de reposição.</a:t>
            </a:r>
            <a:endParaRPr b="1" i="0" sz="19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685800" y="4699992"/>
            <a:ext cx="10820400" cy="1086900"/>
          </a:xfrm>
          <a:prstGeom prst="roundRect">
            <a:avLst>
              <a:gd fmla="val 8750" name="adj"/>
            </a:avLst>
          </a:prstGeom>
          <a:solidFill>
            <a:srgbClr val="DDE7E0"/>
          </a:solidFill>
          <a:ln cap="flat" cmpd="sng" w="9525">
            <a:solidFill>
              <a:srgbClr val="C4D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23"/>
          <p:cNvGrpSpPr/>
          <p:nvPr/>
        </p:nvGrpSpPr>
        <p:grpSpPr>
          <a:xfrm>
            <a:off x="948819" y="5018033"/>
            <a:ext cx="365700" cy="437100"/>
            <a:chOff x="948819" y="4733519"/>
            <a:chExt cx="365700" cy="437100"/>
          </a:xfrm>
        </p:grpSpPr>
        <p:sp>
          <p:nvSpPr>
            <p:cNvPr id="205" name="Google Shape;205;p23"/>
            <p:cNvSpPr/>
            <p:nvPr/>
          </p:nvSpPr>
          <p:spPr>
            <a:xfrm>
              <a:off x="988568" y="4733519"/>
              <a:ext cx="286200" cy="437100"/>
            </a:xfrm>
            <a:prstGeom prst="roundRect">
              <a:avLst>
                <a:gd fmla="val 21428" name="adj"/>
              </a:avLst>
            </a:prstGeom>
            <a:solidFill>
              <a:srgbClr val="4A6B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 txBox="1"/>
            <p:nvPr/>
          </p:nvSpPr>
          <p:spPr>
            <a:xfrm>
              <a:off x="948819" y="4831251"/>
              <a:ext cx="365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0">
                  <a:solidFill>
                    <a:srgbClr val="FFFFFF"/>
                  </a:solidFill>
                  <a:latin typeface="Lemonada"/>
                  <a:ea typeface="Lemonada"/>
                  <a:cs typeface="Lemonada"/>
                  <a:sym typeface="Lemonada"/>
                </a:rPr>
                <a:t>!</a:t>
              </a:r>
              <a:endParaRPr b="1" i="0" sz="1680">
                <a:solidFill>
                  <a:srgbClr val="FFFFFF"/>
                </a:solidFill>
                <a:latin typeface="Lemonada"/>
                <a:ea typeface="Lemonada"/>
                <a:cs typeface="Lemonada"/>
                <a:sym typeface="Lemonada"/>
              </a:endParaRPr>
            </a:p>
          </p:txBody>
        </p:sp>
      </p:grpSp>
      <p:sp>
        <p:nvSpPr>
          <p:cNvPr id="207" name="Google Shape;207;p23"/>
          <p:cNvSpPr txBox="1"/>
          <p:nvPr/>
        </p:nvSpPr>
        <p:spPr>
          <a:xfrm>
            <a:off x="1540726" y="4845996"/>
            <a:ext cx="9765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A camada 3 nunca escolhe a rota, ela só anda pelas arestas que a camada 2 autorizou. </a:t>
            </a:r>
            <a:r>
              <a:rPr b="1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Por isso trocar o roteirizador não muda uma linha do domínio</a:t>
            </a:r>
            <a:r>
              <a:rPr b="0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2200">
              <a:solidFill>
                <a:srgbClr val="2233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8" name="Google Shape;208;p23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1170600" y="1569800"/>
            <a:ext cx="9850800" cy="1212900"/>
          </a:xfrm>
          <a:prstGeom prst="roundRect">
            <a:avLst>
              <a:gd fmla="val 7547" name="adj"/>
            </a:avLst>
          </a:prstGeom>
          <a:solidFill>
            <a:srgbClr val="DDE7E0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1555110" y="2029998"/>
            <a:ext cx="183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450"/>
              <a:buFont typeface="Cambria"/>
              <a:buNone/>
            </a:pPr>
            <a:r>
              <a:rPr b="1" i="0" lang="en-US" sz="2250" u="none" cap="none" strike="noStrike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25 / 09</a:t>
            </a:r>
            <a:endParaRPr b="1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3155153" y="1841348"/>
            <a:ext cx="734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50"/>
              <a:buFont typeface="Cambria"/>
              <a:buNone/>
            </a:pPr>
            <a:r>
              <a:rPr b="1" i="0" lang="en-US" sz="19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Concepção e verificação de viabilidade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3155153" y="2201793"/>
            <a:ext cx="734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Delimitação do problema, revisão bibliográfica e implementação exploratória.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1170600" y="2894112"/>
            <a:ext cx="9850800" cy="1313400"/>
          </a:xfrm>
          <a:prstGeom prst="roundRect">
            <a:avLst>
              <a:gd fmla="val 7547" name="adj"/>
            </a:avLst>
          </a:prstGeom>
          <a:solidFill>
            <a:srgbClr val="F0F4F9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1482985" y="3282756"/>
            <a:ext cx="183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450"/>
              <a:buFont typeface="Cambria"/>
              <a:buNone/>
            </a:pPr>
            <a:r>
              <a:rPr b="1" i="0" lang="en-US" sz="2250" u="none" cap="none" strike="noStrike">
                <a:solidFill>
                  <a:srgbClr val="BF9000"/>
                </a:solidFill>
                <a:latin typeface="Cambria"/>
                <a:ea typeface="Cambria"/>
                <a:cs typeface="Cambria"/>
                <a:sym typeface="Cambria"/>
              </a:rPr>
              <a:t>02 / 10</a:t>
            </a:r>
            <a:endParaRPr b="1" i="0" sz="2250" u="none" cap="none" strike="noStrike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3189963" y="2999913"/>
            <a:ext cx="585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50"/>
              <a:buFont typeface="Cambria"/>
              <a:buNone/>
            </a:pPr>
            <a:r>
              <a:rPr b="1" i="0" lang="en-US" sz="19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Construção do sistema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3225342" y="3472188"/>
            <a:ext cx="72438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Domínio completo, camada geométrica, política de seleção, saída operacional e experimentos.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1170600" y="4318900"/>
            <a:ext cx="9850800" cy="969300"/>
          </a:xfrm>
          <a:prstGeom prst="roundRect">
            <a:avLst>
              <a:gd fmla="val 754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1482979" y="4657300"/>
            <a:ext cx="183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450"/>
              <a:buFont typeface="Cambria"/>
              <a:buNone/>
            </a:pPr>
            <a:r>
              <a:rPr b="1" i="0" lang="en-US" sz="225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09 / 10</a:t>
            </a:r>
            <a:endParaRPr b="1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3225353" y="4444670"/>
            <a:ext cx="734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50"/>
              <a:buFont typeface="Cambria"/>
              <a:buNone/>
            </a:pPr>
            <a:r>
              <a:rPr b="1" i="0" lang="en-US" sz="19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Consolidação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3225353" y="4760129"/>
            <a:ext cx="734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Análise crítica, relatório final e apresentação.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915650" y="445750"/>
            <a:ext cx="118278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CRONOGRAMA</a:t>
            </a:r>
            <a:endParaRPr b="1" sz="3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7" name="Google Shape;227;p24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/>
        </p:nvSpPr>
        <p:spPr>
          <a:xfrm>
            <a:off x="685800" y="1285875"/>
            <a:ext cx="6667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Sistema validado em laboratório</a:t>
            </a:r>
            <a:endParaRPr b="1" sz="2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34" name="Google Shape;234;p25"/>
          <p:cNvGrpSpPr/>
          <p:nvPr/>
        </p:nvGrpSpPr>
        <p:grpSpPr>
          <a:xfrm>
            <a:off x="742950" y="5255366"/>
            <a:ext cx="10641520" cy="705000"/>
            <a:chOff x="0" y="0"/>
            <a:chExt cx="4953000" cy="705000"/>
          </a:xfrm>
        </p:grpSpPr>
        <p:sp>
          <p:nvSpPr>
            <p:cNvPr id="235" name="Google Shape;235;p25"/>
            <p:cNvSpPr/>
            <p:nvPr/>
          </p:nvSpPr>
          <p:spPr>
            <a:xfrm>
              <a:off x="0" y="0"/>
              <a:ext cx="4953000" cy="705000"/>
            </a:xfrm>
            <a:prstGeom prst="roundRect">
              <a:avLst>
                <a:gd fmla="val 13513" name="adj"/>
              </a:avLst>
            </a:prstGeom>
            <a:solidFill>
              <a:srgbClr val="F0F4F9"/>
            </a:solidFill>
            <a:ln cap="flat" cmpd="sng" w="9525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5"/>
            <p:cNvSpPr txBox="1"/>
            <p:nvPr/>
          </p:nvSpPr>
          <p:spPr>
            <a:xfrm>
              <a:off x="190500" y="0"/>
              <a:ext cx="4572000" cy="7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5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Não é produto pronto para implantação em rede de saúde.</a:t>
              </a:r>
              <a:endParaRPr b="1" sz="185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25"/>
          <p:cNvSpPr txBox="1"/>
          <p:nvPr/>
        </p:nvSpPr>
        <p:spPr>
          <a:xfrm>
            <a:off x="685800" y="1885950"/>
            <a:ext cx="10820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OBJETIVOS DE ENTREGA DO SISTEMA</a:t>
            </a:r>
            <a:endParaRPr b="1" sz="1300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685800" y="2381250"/>
            <a:ext cx="2019300" cy="2643300"/>
          </a:xfrm>
          <a:prstGeom prst="roundRect">
            <a:avLst>
              <a:gd fmla="val 566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876300" y="2590094"/>
            <a:ext cx="419100" cy="459600"/>
          </a:xfrm>
          <a:prstGeom prst="roundRect">
            <a:avLst>
              <a:gd fmla="val 18181" name="adj"/>
            </a:avLst>
          </a:prstGeom>
          <a:solidFill>
            <a:srgbClr val="DDE7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876300" y="2590094"/>
            <a:ext cx="419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1" sz="14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876300" y="3237508"/>
            <a:ext cx="1638300" cy="187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Integração</a:t>
            </a:r>
            <a:endParaRPr b="1" sz="21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lang="en-US" sz="195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istema com as camadas integradas</a:t>
            </a:r>
            <a:endParaRPr b="1" sz="23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653513" y="421575"/>
            <a:ext cx="108204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4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RESULTADOS ESPERADOS</a:t>
            </a:r>
            <a:endParaRPr b="1" sz="374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2886075" y="2381250"/>
            <a:ext cx="2019300" cy="2643300"/>
          </a:xfrm>
          <a:prstGeom prst="roundRect">
            <a:avLst>
              <a:gd fmla="val 566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3076575" y="2590094"/>
            <a:ext cx="419100" cy="459600"/>
          </a:xfrm>
          <a:prstGeom prst="roundRect">
            <a:avLst>
              <a:gd fmla="val 18181" name="adj"/>
            </a:avLst>
          </a:prstGeom>
          <a:solidFill>
            <a:srgbClr val="DDE7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3076575" y="2590094"/>
            <a:ext cx="419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1" sz="14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3076575" y="3237508"/>
            <a:ext cx="1638300" cy="187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Mapeamento</a:t>
            </a:r>
            <a:endParaRPr b="1" sz="21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lang="en-US" sz="195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omínio PDDL mapeado dispositivo a dispositivo</a:t>
            </a:r>
            <a:endParaRPr b="1" sz="23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086350" y="2381250"/>
            <a:ext cx="2019300" cy="2643300"/>
          </a:xfrm>
          <a:prstGeom prst="roundRect">
            <a:avLst>
              <a:gd fmla="val 566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5276850" y="2590094"/>
            <a:ext cx="419100" cy="459600"/>
          </a:xfrm>
          <a:prstGeom prst="roundRect">
            <a:avLst>
              <a:gd fmla="val 18181" name="adj"/>
            </a:avLst>
          </a:prstGeom>
          <a:solidFill>
            <a:srgbClr val="FFF3D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5276850" y="2590094"/>
            <a:ext cx="419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F9000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1" sz="1400">
              <a:solidFill>
                <a:srgbClr val="BF9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5276850" y="3237508"/>
            <a:ext cx="1638300" cy="187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b="1" sz="21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lang="en-US" sz="195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aída legível pelo agente de saúde</a:t>
            </a:r>
            <a:endParaRPr b="1" sz="23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7286625" y="2381250"/>
            <a:ext cx="2019300" cy="2643300"/>
          </a:xfrm>
          <a:prstGeom prst="roundRect">
            <a:avLst>
              <a:gd fmla="val 566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7477125" y="2590094"/>
            <a:ext cx="419100" cy="459600"/>
          </a:xfrm>
          <a:prstGeom prst="roundRect">
            <a:avLst>
              <a:gd fmla="val 18181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7477125" y="2590094"/>
            <a:ext cx="419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1" sz="14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7477125" y="3237508"/>
            <a:ext cx="1638300" cy="187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Validação</a:t>
            </a:r>
            <a:endParaRPr b="1" sz="21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lang="en-US" sz="195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xperimentos reprodutíveis</a:t>
            </a:r>
            <a:endParaRPr b="1" sz="23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9486900" y="2381250"/>
            <a:ext cx="2019300" cy="2643300"/>
          </a:xfrm>
          <a:prstGeom prst="roundRect">
            <a:avLst>
              <a:gd fmla="val 566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9677400" y="2590094"/>
            <a:ext cx="419100" cy="459600"/>
          </a:xfrm>
          <a:prstGeom prst="roundRect">
            <a:avLst>
              <a:gd fmla="val 18181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9677400" y="2590094"/>
            <a:ext cx="419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1" sz="14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9677400" y="3237500"/>
            <a:ext cx="1707000" cy="187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Documentação</a:t>
            </a:r>
            <a:endParaRPr b="1" sz="19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34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lang="en-US" sz="1834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elatório técnico das medições</a:t>
            </a:r>
            <a:endParaRPr b="1" sz="2158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9" name="Google Shape;259;p25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163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 txBox="1"/>
          <p:nvPr/>
        </p:nvSpPr>
        <p:spPr>
          <a:xfrm>
            <a:off x="685800" y="381000"/>
            <a:ext cx="108204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78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RESULTADOS JÁ OBTIDOS</a:t>
            </a:r>
            <a:endParaRPr b="1" i="0" sz="3678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67" name="Google Shape;267;p26"/>
          <p:cNvGrpSpPr/>
          <p:nvPr/>
        </p:nvGrpSpPr>
        <p:grpSpPr>
          <a:xfrm>
            <a:off x="685800" y="1238250"/>
            <a:ext cx="3429000" cy="3714900"/>
            <a:chOff x="0" y="0"/>
            <a:chExt cx="3429000" cy="3714900"/>
          </a:xfrm>
        </p:grpSpPr>
        <p:sp>
          <p:nvSpPr>
            <p:cNvPr id="268" name="Google Shape;268;p26"/>
            <p:cNvSpPr/>
            <p:nvPr/>
          </p:nvSpPr>
          <p:spPr>
            <a:xfrm>
              <a:off x="0" y="0"/>
              <a:ext cx="3429000" cy="3714900"/>
            </a:xfrm>
            <a:prstGeom prst="roundRect">
              <a:avLst>
                <a:gd fmla="val 4444" name="adj"/>
              </a:avLst>
            </a:prstGeom>
            <a:solidFill>
              <a:srgbClr val="FFFDF8"/>
            </a:solidFill>
            <a:ln cap="flat" cmpd="sng" w="14300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266700" y="266700"/>
              <a:ext cx="990600" cy="304800"/>
            </a:xfrm>
            <a:prstGeom prst="roundRect">
              <a:avLst>
                <a:gd fmla="val 25000" name="adj"/>
              </a:avLst>
            </a:prstGeom>
            <a:solidFill>
              <a:srgbClr val="DDE7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6"/>
            <p:cNvSpPr txBox="1"/>
            <p:nvPr/>
          </p:nvSpPr>
          <p:spPr>
            <a:xfrm>
              <a:off x="266700" y="266700"/>
              <a:ext cx="9906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4A6B5B"/>
                  </a:solidFill>
                  <a:latin typeface="Calibri"/>
                  <a:ea typeface="Calibri"/>
                  <a:cs typeface="Calibri"/>
                  <a:sym typeface="Calibri"/>
                </a:rPr>
                <a:t>A FAVOR</a:t>
              </a:r>
              <a:endParaRPr b="1" i="0" sz="16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26"/>
            <p:cNvSpPr txBox="1"/>
            <p:nvPr/>
          </p:nvSpPr>
          <p:spPr>
            <a:xfrm>
              <a:off x="266700" y="742950"/>
              <a:ext cx="2895600" cy="270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A busca trivial não escala</a:t>
              </a:r>
              <a:endParaRPr b="1" i="0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just">
                <a:spcBef>
                  <a:spcPts val="1050"/>
                </a:spcBef>
                <a:spcAft>
                  <a:spcPts val="1050"/>
                </a:spcAft>
                <a:buNone/>
              </a:pPr>
              <a:r>
                <a:rPr b="0" i="0" lang="en-US" sz="20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Varrer o mesmo modelo declarativo sem heurística resolve até 5 ou 6 pacientes. Um turno real tem de 10 a 15.</a:t>
              </a:r>
              <a:endParaRPr b="1" i="0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72" name="Google Shape;272;p26"/>
          <p:cNvGrpSpPr/>
          <p:nvPr/>
        </p:nvGrpSpPr>
        <p:grpSpPr>
          <a:xfrm>
            <a:off x="4343400" y="1238250"/>
            <a:ext cx="3429000" cy="3714900"/>
            <a:chOff x="0" y="0"/>
            <a:chExt cx="3429000" cy="3714900"/>
          </a:xfrm>
        </p:grpSpPr>
        <p:sp>
          <p:nvSpPr>
            <p:cNvPr id="273" name="Google Shape;273;p26"/>
            <p:cNvSpPr/>
            <p:nvPr/>
          </p:nvSpPr>
          <p:spPr>
            <a:xfrm>
              <a:off x="0" y="0"/>
              <a:ext cx="3429000" cy="3714900"/>
            </a:xfrm>
            <a:prstGeom prst="roundRect">
              <a:avLst>
                <a:gd fmla="val 4444" name="adj"/>
              </a:avLst>
            </a:prstGeom>
            <a:solidFill>
              <a:srgbClr val="FFFDF8"/>
            </a:solidFill>
            <a:ln cap="flat" cmpd="sng" w="14300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266700" y="266700"/>
              <a:ext cx="990600" cy="304800"/>
            </a:xfrm>
            <a:prstGeom prst="roundRect">
              <a:avLst>
                <a:gd fmla="val 25000" name="adj"/>
              </a:avLst>
            </a:prstGeom>
            <a:solidFill>
              <a:srgbClr val="DDE7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6"/>
            <p:cNvSpPr txBox="1"/>
            <p:nvPr/>
          </p:nvSpPr>
          <p:spPr>
            <a:xfrm>
              <a:off x="266700" y="266700"/>
              <a:ext cx="9906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4A6B5B"/>
                  </a:solidFill>
                  <a:latin typeface="Calibri"/>
                  <a:ea typeface="Calibri"/>
                  <a:cs typeface="Calibri"/>
                  <a:sym typeface="Calibri"/>
                </a:rPr>
                <a:t>A FAVOR</a:t>
              </a:r>
              <a:endParaRPr b="1" i="0" sz="16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26"/>
            <p:cNvSpPr txBox="1"/>
            <p:nvPr/>
          </p:nvSpPr>
          <p:spPr>
            <a:xfrm>
              <a:off x="266700" y="742950"/>
              <a:ext cx="2895600" cy="270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O planejador está correto</a:t>
              </a:r>
              <a:endParaRPr b="1" i="0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just">
                <a:spcBef>
                  <a:spcPts val="1050"/>
                </a:spcBef>
                <a:spcAft>
                  <a:spcPts val="1050"/>
                </a:spcAft>
                <a:buNone/>
              </a:pPr>
              <a:r>
                <a:rPr b="0" i="0" lang="en-US" sz="19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Um planejador de referência independente concordou sobre viabilidade e plano mínimo em todas as instâncias testadas.</a:t>
              </a:r>
              <a:endParaRPr b="1" i="0" sz="19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77" name="Google Shape;277;p26"/>
          <p:cNvGrpSpPr/>
          <p:nvPr/>
        </p:nvGrpSpPr>
        <p:grpSpPr>
          <a:xfrm>
            <a:off x="8001000" y="1238250"/>
            <a:ext cx="3429000" cy="3714900"/>
            <a:chOff x="0" y="0"/>
            <a:chExt cx="3429000" cy="3714900"/>
          </a:xfrm>
        </p:grpSpPr>
        <p:sp>
          <p:nvSpPr>
            <p:cNvPr id="278" name="Google Shape;278;p26"/>
            <p:cNvSpPr/>
            <p:nvPr/>
          </p:nvSpPr>
          <p:spPr>
            <a:xfrm>
              <a:off x="0" y="0"/>
              <a:ext cx="3429000" cy="3714900"/>
            </a:xfrm>
            <a:prstGeom prst="roundRect">
              <a:avLst>
                <a:gd fmla="val 4444" name="adj"/>
              </a:avLst>
            </a:prstGeom>
            <a:solidFill>
              <a:srgbClr val="FFFDF8"/>
            </a:solidFill>
            <a:ln cap="flat" cmpd="sng" w="14300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266700" y="266700"/>
              <a:ext cx="943200" cy="304800"/>
            </a:xfrm>
            <a:prstGeom prst="roundRect">
              <a:avLst>
                <a:gd fmla="val 25000" name="adj"/>
              </a:avLst>
            </a:prstGeom>
            <a:solidFill>
              <a:srgbClr val="F3DF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6"/>
            <p:cNvSpPr txBox="1"/>
            <p:nvPr/>
          </p:nvSpPr>
          <p:spPr>
            <a:xfrm>
              <a:off x="392310" y="266700"/>
              <a:ext cx="8490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60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CONTRA </a:t>
              </a:r>
              <a:endParaRPr b="1" i="0" sz="156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26"/>
            <p:cNvSpPr txBox="1"/>
            <p:nvPr/>
          </p:nvSpPr>
          <p:spPr>
            <a:xfrm>
              <a:off x="266700" y="742950"/>
              <a:ext cx="2895600" cy="270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A hipótese foi “refutada”</a:t>
              </a:r>
              <a:endParaRPr b="1" i="0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just">
                <a:spcBef>
                  <a:spcPts val="1050"/>
                </a:spcBef>
                <a:spcAft>
                  <a:spcPts val="1050"/>
                </a:spcAft>
                <a:buNone/>
              </a:pPr>
              <a:r>
                <a:rPr b="0" i="0" lang="en-US" sz="19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Uma correção manual no executor procedural zera os falsos negativos. Ele não era incapaz: faltava</a:t>
              </a:r>
              <a:r>
                <a:rPr b="0" i="0" lang="en-US" sz="19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-lhe</a:t>
              </a:r>
              <a:r>
                <a:rPr b="0" i="0" lang="en-US" sz="19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 a regra.</a:t>
              </a:r>
              <a:endParaRPr b="1" i="0" sz="19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282" name="Google Shape;282;p26"/>
          <p:cNvSpPr/>
          <p:nvPr/>
        </p:nvSpPr>
        <p:spPr>
          <a:xfrm>
            <a:off x="685800" y="5140650"/>
            <a:ext cx="10744200" cy="857400"/>
          </a:xfrm>
          <a:prstGeom prst="roundRect">
            <a:avLst>
              <a:gd fmla="val 15555" name="adj"/>
            </a:avLst>
          </a:prstGeom>
          <a:solidFill>
            <a:srgbClr val="F3DFD3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1040086" y="5397825"/>
            <a:ext cx="342900" cy="342900"/>
          </a:xfrm>
          <a:prstGeom prst="roundRect">
            <a:avLst>
              <a:gd fmla="val 22222" name="adj"/>
            </a:avLst>
          </a:prstGeom>
          <a:solidFill>
            <a:srgbClr val="B35C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1040102" y="539790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1" i="0" sz="2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1668775" y="5271298"/>
            <a:ext cx="971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caminho 1 de erro, previsto no slide da hipótese, foi o que se materializou.</a:t>
            </a:r>
            <a:endParaRPr b="0" i="1" sz="22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6" name="Google Shape;286;p26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/>
          <p:nvPr/>
        </p:nvSpPr>
        <p:spPr>
          <a:xfrm>
            <a:off x="685800" y="1254815"/>
            <a:ext cx="10820400" cy="1381200"/>
          </a:xfrm>
          <a:prstGeom prst="roundRect">
            <a:avLst>
              <a:gd fmla="val 9655" name="adj"/>
            </a:avLst>
          </a:prstGeom>
          <a:solidFill>
            <a:srgbClr val="E2ECE6"/>
          </a:solidFill>
          <a:ln cap="flat" cmpd="sng" w="9525">
            <a:solidFill>
              <a:srgbClr val="C0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990600" y="1397690"/>
            <a:ext cx="10210800" cy="10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“Manter a norma como especificação declarativa (usar Planning) preserva a corretude do sistema diante de regras novas, a um custo de busca que ainda cabe num turno real.”</a:t>
            </a:r>
            <a:endParaRPr b="1" i="1" sz="2200">
              <a:solidFill>
                <a:srgbClr val="2233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685800" y="2874065"/>
            <a:ext cx="5257800" cy="2861700"/>
          </a:xfrm>
          <a:prstGeom prst="roundRect">
            <a:avLst>
              <a:gd fmla="val 4571" name="adj"/>
            </a:avLst>
          </a:prstGeom>
          <a:solidFill>
            <a:srgbClr val="FFFDF8"/>
          </a:solidFill>
          <a:ln cap="flat" cmpd="sng" w="14300">
            <a:solidFill>
              <a:srgbClr val="D0DF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990600" y="3140765"/>
            <a:ext cx="2000100" cy="342900"/>
          </a:xfrm>
          <a:prstGeom prst="rect">
            <a:avLst/>
          </a:prstGeom>
          <a:solidFill>
            <a:srgbClr val="3B7A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O QUE MANTIVEMOS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990600" y="3636065"/>
            <a:ext cx="46482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Declaratividade e prova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990600" y="4207565"/>
            <a:ext cx="46482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Regra nova é absorvida sem tocar no código de busca, e a inviabilidade é demonstrada, não apenas constatada.</a:t>
            </a:r>
            <a:endParaRPr b="0" sz="22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6248400" y="2874065"/>
            <a:ext cx="5257800" cy="2861700"/>
          </a:xfrm>
          <a:prstGeom prst="roundRect">
            <a:avLst>
              <a:gd fmla="val 4571" name="adj"/>
            </a:avLst>
          </a:prstGeom>
          <a:solidFill>
            <a:srgbClr val="FFFDF8"/>
          </a:solidFill>
          <a:ln cap="flat" cmpd="sng" w="14300">
            <a:solidFill>
              <a:srgbClr val="EACEC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6553200" y="3140765"/>
            <a:ext cx="2286000" cy="3429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O QUE NÃO MANTIVEMOS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6553200" y="3636065"/>
            <a:ext cx="46482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Economia e exclusividade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6553200" y="4207565"/>
            <a:ext cx="46482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Não economiza deslocamento, e não encontra planos que um programa corrigido não encontraria.</a:t>
            </a:r>
            <a:endParaRPr b="0" sz="22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>
            <a:off x="685800" y="540375"/>
            <a:ext cx="10820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5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REFORMULAÇÃO DA HIPÓTESE</a:t>
            </a:r>
            <a:endParaRPr b="1" sz="3545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3" name="Google Shape;303;p27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/>
          <p:nvPr/>
        </p:nvSpPr>
        <p:spPr>
          <a:xfrm>
            <a:off x="2095500" y="1952625"/>
            <a:ext cx="8001000" cy="2571900"/>
          </a:xfrm>
          <a:prstGeom prst="roundRect">
            <a:avLst>
              <a:gd fmla="val 5925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2476500" y="2762250"/>
            <a:ext cx="7239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AGRADECEMOS PELA ATENÇÃO</a:t>
            </a:r>
            <a:endParaRPr b="1" i="0" sz="3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1" name="Google Shape;311;p28"/>
          <p:cNvSpPr txBox="1"/>
          <p:nvPr/>
        </p:nvSpPr>
        <p:spPr>
          <a:xfrm>
            <a:off x="2476500" y="357187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sz="16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