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Abertura. O enunciado do ciclo pede um artefato que facilite o planejamento das visitas dos ACS. Quase todo mundo vai atacar isso como problema de rota. Nos tambem, mas descobrimos que a rota e so metade do problema. Nao mencione PDDL ainda.</a:t>
            </a:r>
            <a:endParaRPr/>
          </a:p>
        </p:txBody>
      </p:sp>
      <p:sp>
        <p:nvSpPr>
          <p:cNvPr id="20" name="Google Shape;2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ACS visita as familias da microarea. O enunciado cita percurso, equipe, urgencia e intervalo. Nosso recorte: um agente, um turno, rota ja definida. A dor que nos interessou e que chegar na casa nao autoriza atender: a lei condiciona, e algumas condicoes acabam no meio do turno.</a:t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Leia o trecho em voz alta: e a unica leitura literal que vale a pena no deck. Tres condicoes conjuntivas e um efeito obrigatorio: isso e exatamente um esquema de acao STRIPS, formalismo de 1971. STRIPS = pre-condicoes, o que passa a valer e o que deixa de valer. Se a norma mudar, edita-se a norma no dominio, nao o codigo de busca.</a:t>
            </a:r>
            <a:endParaRPr/>
          </a:p>
        </p:txBody>
      </p:sp>
      <p:sp>
        <p:nvSpPr>
          <p:cNvPr id="46" name="Google Shape;4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a rota esta fixa e cada visita fosse independente, o problema se decomporia e um laco for bastaria. O que impede isso sao os recursos finitos. Observacao honesta: a lei exige assistencia e nao diz nada sobre forma ou frequencia. Representa-la como recurso finito por turno, e encerra-la ao sair da casa, sao decisoes de modelagem NOSSAS.</a:t>
            </a:r>
            <a:endParaRPr/>
          </a:p>
        </p:txBody>
      </p:sp>
      <p:sp>
        <p:nvSpPr>
          <p:cNvPr id="59" name="Google Shape;5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Nao leia os tres cartoes. Gaste o tempo no primeiro e no segundo. O ponto: a literatura JA sabe que qualificacao importa, mas trata como rotulo estatico, agente i atende paciente j. Gonzalez-Ferrer e o precedente que blinda a escolha: traduzir norma em dominio de planejamento nao e invencao nossa. Nas buscas realizadas nao achamos trabalho que junte as duas coisas.</a:t>
            </a:r>
            <a:endParaRPr/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 e a parte metodologica que vale sublinhar: a hipotese pode estar errada, e o desenho admite isso. Nao formulamos uma pergunta que so podia dar certo. Guarde esta frase, porque o slide 10 vai cobrar: um dos dois caminhos de erro realmente se materializou.</a:t>
            </a:r>
            <a:endParaRPr/>
          </a:p>
        </p:txBody>
      </p:sp>
      <p:sp>
        <p:nvSpPr>
          <p:cNvPr id="96" name="Google Shape;9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Explique POR QUE sobra decisao para o planejador, senao a plateia conclui que ele e decorativo. A camada geometrica entrega a ordem congelada e o custo de desvio. O que sobra para o planejador: o que fazer em cada casa, quando acionar a supervisao, e em qual parada vale a pena sair da rota para repor. Se perguntarem por que nao OR-Tools: ele resolve a metade geometrica e nao a normativa.</a:t>
            </a:r>
            <a:endParaRPr/>
          </a:p>
        </p:txBody>
      </p:sp>
      <p:sp>
        <p:nvSpPr>
          <p:cNvPr id="113" name="Google Shape;11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Apresente as lacunas como lacunas conhecidas, nao como promessas. A mais visivel frente ao enunciado e prioridade e intervalo na selecao do turno. Se perguntarem sobre dados de pacientes: todos ficticios, so as coordenadas sao reais, para dar ordem de grandeza a matriz.</a:t>
            </a:r>
            <a:endParaRPr/>
          </a:p>
        </p:txBody>
      </p:sp>
      <p:sp>
        <p:nvSpPr>
          <p:cNvPr id="137" name="Google Shape;13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Este slide fecha o circulo com o slide 6. Dissemos que a hipotese podia estar errada de dois jeitos, e um deles aconteceu. Abrir isso e mais forte do que esconder: mostra que o desenho experimental funcionou. Nao entre em numero de instancia aqui; se perguntarem, foram 40 microareas sorteadas.</a:t>
            </a:r>
            <a:endParaRPr/>
          </a:p>
        </p:txBody>
      </p:sp>
      <p:sp>
        <p:nvSpPr>
          <p:cNvPr id="159" name="Google Shape;1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Fecho. O trunfo do trabalho nao e ter usado Planning. E termos medido COMO ele ajuda neste problema, inclusive descobrindo que a resposta nao era a que esperavamos. Se a banca perguntar o que sobrou: declaratividade com efeito medido, e prova de inviabilidade. Se perguntar o que caiu: economia de tempo e exclusividade de capacidade.</a:t>
            </a:r>
            <a:endParaRPr/>
          </a:p>
        </p:txBody>
      </p:sp>
      <p:sp>
        <p:nvSpPr>
          <p:cNvPr id="180" name="Google Shape;180;p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A">
  <p:cSld name="CAPA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E">
  <p:cSld name="BAS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INF99003 · Ciclo 2 · Grupo 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 txBox="1"/>
          <p:nvPr/>
        </p:nvSpPr>
        <p:spPr>
          <a:xfrm>
            <a:off x="11064240" y="63276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/>
        </p:nvSpPr>
        <p:spPr>
          <a:xfrm>
            <a:off x="914400" y="246965"/>
            <a:ext cx="1033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150"/>
              <a:buFont typeface="Calibri"/>
              <a:buNone/>
            </a:pPr>
            <a:r>
              <a:rPr b="1" i="0" lang="en-US" sz="1650" u="none" cap="none" strike="noStrike">
                <a:solidFill>
                  <a:srgbClr val="B35C38"/>
                </a:solidFill>
                <a:latin typeface="Calibri"/>
                <a:ea typeface="Calibri"/>
                <a:cs typeface="Calibri"/>
                <a:sym typeface="Calibri"/>
              </a:rPr>
              <a:t>PROJETO EM CIÊNCIA E INOVAÇÃO · INF99003 · CICLO 2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5"/>
          <p:cNvSpPr txBox="1"/>
          <p:nvPr/>
        </p:nvSpPr>
        <p:spPr>
          <a:xfrm>
            <a:off x="914400" y="1691650"/>
            <a:ext cx="87009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4000"/>
              <a:buFont typeface="Cambria"/>
              <a:buNone/>
            </a:pPr>
            <a:r>
              <a:rPr b="1" i="0" lang="en-US" sz="52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Planejamento</a:t>
            </a:r>
            <a:r>
              <a:rPr b="1" lang="en-US" sz="52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1" i="0" lang="en-US" sz="52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Automatizado para o</a:t>
            </a:r>
            <a:r>
              <a:rPr lang="en-US" sz="5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52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cumprimento de</a:t>
            </a:r>
            <a:r>
              <a:rPr b="1" lang="en-US" sz="52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1" i="0" lang="en-US" sz="52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protocolos legais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5"/>
          <p:cNvSpPr txBox="1"/>
          <p:nvPr/>
        </p:nvSpPr>
        <p:spPr>
          <a:xfrm>
            <a:off x="914400" y="4294025"/>
            <a:ext cx="9327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650"/>
              <a:buFont typeface="Calibri"/>
              <a:buNone/>
            </a:pPr>
            <a:r>
              <a:rPr b="0" i="0" lang="en-US" sz="28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Visitas domiciliares de Agentes Comunitários de Saúde na Atenção Primária do SUS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5"/>
          <p:cNvSpPr/>
          <p:nvPr/>
        </p:nvSpPr>
        <p:spPr>
          <a:xfrm>
            <a:off x="914400" y="5640910"/>
            <a:ext cx="1920300" cy="22800"/>
          </a:xfrm>
          <a:prstGeom prst="rect">
            <a:avLst/>
          </a:prstGeom>
          <a:solidFill>
            <a:srgbClr val="D9C4A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26" name="Google Shape;26;p5"/>
          <p:cNvSpPr txBox="1"/>
          <p:nvPr/>
        </p:nvSpPr>
        <p:spPr>
          <a:xfrm>
            <a:off x="929638" y="5904380"/>
            <a:ext cx="10332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00"/>
              <a:buFont typeface="Cambria"/>
              <a:buNone/>
            </a:pPr>
            <a:r>
              <a:rPr b="1" i="0" lang="en-US" sz="2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Gabriel Pieruccini Knopp   ·   Arthur Andrade da Silva   ·   Izadora Candotti de Oliveira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5"/>
          <p:cNvSpPr txBox="1"/>
          <p:nvPr/>
        </p:nvSpPr>
        <p:spPr>
          <a:xfrm>
            <a:off x="929638" y="6297572"/>
            <a:ext cx="1033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7"/>
              </a:buClr>
              <a:buSzPts val="1250"/>
              <a:buFont typeface="Calibri"/>
              <a:buNone/>
            </a:pPr>
            <a:r>
              <a:rPr b="0" i="0" lang="en-US" sz="175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Grupo B   ·   Instituto de Informática, UFRGS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CONTEXTUALIZAÇÃO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6"/>
          <p:cNvSpPr/>
          <p:nvPr/>
        </p:nvSpPr>
        <p:spPr>
          <a:xfrm>
            <a:off x="685800" y="1828800"/>
            <a:ext cx="5303400" cy="2633400"/>
          </a:xfrm>
          <a:prstGeom prst="roundRect">
            <a:avLst>
              <a:gd fmla="val 4255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6"/>
          <p:cNvSpPr txBox="1"/>
          <p:nvPr/>
        </p:nvSpPr>
        <p:spPr>
          <a:xfrm>
            <a:off x="923550" y="2025400"/>
            <a:ext cx="4698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lang="en-US" sz="20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O problema costuma ser tratado como um </a:t>
            </a:r>
            <a:r>
              <a:rPr b="1" i="0" lang="en-US" sz="2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problema de percurso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6"/>
          <p:cNvSpPr txBox="1"/>
          <p:nvPr/>
        </p:nvSpPr>
        <p:spPr>
          <a:xfrm>
            <a:off x="923482" y="2697002"/>
            <a:ext cx="4827900" cy="9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22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Minimizar deslocamento, cobrir o território no prazo e respeitar a capacidade da equipe</a:t>
            </a:r>
            <a:r>
              <a:rPr lang="en-US" sz="2200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 são coisas que </a:t>
            </a:r>
            <a:r>
              <a:rPr b="0" i="0" lang="en-US" sz="22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roteirizadores já resolvem bem.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6"/>
          <p:cNvSpPr/>
          <p:nvPr/>
        </p:nvSpPr>
        <p:spPr>
          <a:xfrm>
            <a:off x="6199625" y="1828800"/>
            <a:ext cx="5303400" cy="2633400"/>
          </a:xfrm>
          <a:prstGeom prst="roundRect">
            <a:avLst>
              <a:gd fmla="val 4255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6"/>
          <p:cNvSpPr txBox="1"/>
          <p:nvPr/>
        </p:nvSpPr>
        <p:spPr>
          <a:xfrm>
            <a:off x="6437375" y="2025400"/>
            <a:ext cx="4827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lang="en-US" sz="20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Essa formulação deixa de fora uma norma importante</a:t>
            </a:r>
            <a:endParaRPr b="1" sz="20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9" name="Google Shape;39;p6"/>
          <p:cNvSpPr txBox="1"/>
          <p:nvPr/>
        </p:nvSpPr>
        <p:spPr>
          <a:xfrm>
            <a:off x="6437376" y="2751244"/>
            <a:ext cx="4827900" cy="9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22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A Lei 11.350/2006 condiciona o que o agente pode fazer em cada residência. Nem toda condição é estática: insumo e supervisão se esgotam ao longo do turno.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6"/>
          <p:cNvSpPr/>
          <p:nvPr/>
        </p:nvSpPr>
        <p:spPr>
          <a:xfrm>
            <a:off x="685950" y="4690008"/>
            <a:ext cx="10820100" cy="1478700"/>
          </a:xfrm>
          <a:prstGeom prst="roundRect">
            <a:avLst>
              <a:gd fmla="val 11538" name="adj"/>
            </a:avLst>
          </a:prstGeom>
          <a:solidFill>
            <a:srgbClr val="F3D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 txBox="1"/>
          <p:nvPr/>
        </p:nvSpPr>
        <p:spPr>
          <a:xfrm>
            <a:off x="960275" y="4744257"/>
            <a:ext cx="10271400" cy="13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258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0" i="1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 pergunta não é qual o menor percurso, e sim se aquela sequência de atendimentos é executável sem violar a norma.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/>
        </p:nvSpPr>
        <p:spPr>
          <a:xfrm>
            <a:off x="685800" y="749808"/>
            <a:ext cx="10820095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t/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7"/>
          <p:cNvSpPr/>
          <p:nvPr/>
        </p:nvSpPr>
        <p:spPr>
          <a:xfrm>
            <a:off x="685800" y="1173675"/>
            <a:ext cx="10820100" cy="2063400"/>
          </a:xfrm>
          <a:prstGeom prst="roundRect">
            <a:avLst>
              <a:gd fmla="val 5556" name="adj"/>
            </a:avLst>
          </a:prstGeom>
          <a:solidFill>
            <a:srgbClr val="F3D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7"/>
          <p:cNvSpPr txBox="1"/>
          <p:nvPr/>
        </p:nvSpPr>
        <p:spPr>
          <a:xfrm>
            <a:off x="814850" y="1323425"/>
            <a:ext cx="10569300" cy="14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00"/>
              <a:buFont typeface="Cambria"/>
              <a:buNone/>
            </a:pPr>
            <a:r>
              <a:rPr b="0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“desde que </a:t>
            </a:r>
            <a:r>
              <a:rPr b="1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tenha concluído curso técnico</a:t>
            </a:r>
            <a:r>
              <a:rPr b="0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e </a:t>
            </a:r>
            <a:r>
              <a:rPr b="1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tenha disponíveis os equipamentos adequados</a:t>
            </a:r>
            <a:r>
              <a:rPr b="0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, são atividades do Agente […] </a:t>
            </a:r>
            <a:r>
              <a:rPr b="1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assistidas por profissional de saúde de nível superior</a:t>
            </a:r>
            <a:r>
              <a:rPr b="0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[…] a aferição da pressão arterial […], </a:t>
            </a:r>
            <a:r>
              <a:rPr b="1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encaminhando o paciente</a:t>
            </a:r>
            <a:r>
              <a:rPr b="0" i="1" lang="en-US" sz="21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para a unidade de referência”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826233" y="2864565"/>
            <a:ext cx="10234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8A7A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Lei nº 11.350/2006, art. 3º § 4º, na redação da Lei nº 13.595/2018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7"/>
          <p:cNvSpPr/>
          <p:nvPr/>
        </p:nvSpPr>
        <p:spPr>
          <a:xfrm>
            <a:off x="689450" y="3626571"/>
            <a:ext cx="10820100" cy="2700900"/>
          </a:xfrm>
          <a:prstGeom prst="roundRect">
            <a:avLst>
              <a:gd fmla="val 4945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7"/>
          <p:cNvSpPr txBox="1"/>
          <p:nvPr/>
        </p:nvSpPr>
        <p:spPr>
          <a:xfrm>
            <a:off x="978450" y="3808001"/>
            <a:ext cx="10234800" cy="23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4A6B5B"/>
              </a:buClr>
              <a:buSzPts val="1300"/>
              <a:buFont typeface="Courier New"/>
              <a:buNone/>
            </a:pPr>
            <a:r>
              <a:rPr b="1" i="0" lang="en-US" sz="2300" u="none" cap="none" strike="noStrike">
                <a:solidFill>
                  <a:srgbClr val="4A6B5B"/>
                </a:solidFill>
                <a:latin typeface="Courier New"/>
                <a:ea typeface="Courier New"/>
                <a:cs typeface="Courier New"/>
                <a:sym typeface="Courier New"/>
              </a:rPr>
              <a:t>:precondition</a:t>
            </a:r>
            <a: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  <a:t> (and (curso-tecnico-concluido ?ag)</a:t>
            </a:r>
            <a:b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(equipamento-disponivel ?ag)</a:t>
            </a:r>
            <a:b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(supervisao-ativa ?ag))</a:t>
            </a:r>
            <a:b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300" u="none" cap="none" strike="noStrike">
                <a:solidFill>
                  <a:srgbClr val="4A6B5B"/>
                </a:solidFill>
                <a:latin typeface="Courier New"/>
                <a:ea typeface="Courier New"/>
                <a:cs typeface="Courier New"/>
                <a:sym typeface="Courier New"/>
              </a:rPr>
              <a:t>:effect</a:t>
            </a:r>
            <a: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  <a:t>       (and (pa-ok ?p)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300"/>
              <a:buFont typeface="Courier New"/>
              <a:buNone/>
            </a:pPr>
            <a:r>
              <a:rPr b="0" i="0" lang="en-US" sz="2300" u="none" cap="none" strike="noStrike">
                <a:solidFill>
                  <a:srgbClr val="33291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(pendencia-encaminhamento ?p))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7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7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JUSTIFICATIVA - PLANNING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t/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8"/>
          <p:cNvSpPr/>
          <p:nvPr/>
        </p:nvSpPr>
        <p:spPr>
          <a:xfrm>
            <a:off x="685800" y="1173678"/>
            <a:ext cx="5047500" cy="2227800"/>
          </a:xfrm>
          <a:prstGeom prst="roundRect">
            <a:avLst>
              <a:gd fmla="val 5814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8"/>
          <p:cNvSpPr txBox="1"/>
          <p:nvPr/>
        </p:nvSpPr>
        <p:spPr>
          <a:xfrm>
            <a:off x="836734" y="1324640"/>
            <a:ext cx="457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250"/>
              <a:buFont typeface="Calibri"/>
              <a:buNone/>
            </a:pPr>
            <a:r>
              <a:rPr b="1" i="0" lang="en-US" sz="2200" u="none" cap="none" strike="noStrike">
                <a:solidFill>
                  <a:srgbClr val="B35C38"/>
                </a:solidFill>
                <a:latin typeface="Calibri"/>
                <a:ea typeface="Calibri"/>
                <a:cs typeface="Calibri"/>
                <a:sym typeface="Calibri"/>
              </a:rPr>
              <a:t>RECURSO 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8"/>
          <p:cNvSpPr txBox="1"/>
          <p:nvPr/>
        </p:nvSpPr>
        <p:spPr>
          <a:xfrm>
            <a:off x="847585" y="1642967"/>
            <a:ext cx="4572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Insumo consumível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"/>
          <p:cNvSpPr txBox="1"/>
          <p:nvPr/>
        </p:nvSpPr>
        <p:spPr>
          <a:xfrm>
            <a:off x="836572" y="2068900"/>
            <a:ext cx="4752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24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A fita de glicemia só se repõe na unidade de saúde. Acabar no meio da rota obriga um desvio não previsto.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5971025" y="1173778"/>
            <a:ext cx="5047500" cy="2227800"/>
          </a:xfrm>
          <a:prstGeom prst="roundRect">
            <a:avLst>
              <a:gd fmla="val 5814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8"/>
          <p:cNvSpPr txBox="1"/>
          <p:nvPr/>
        </p:nvSpPr>
        <p:spPr>
          <a:xfrm>
            <a:off x="6077726" y="1324581"/>
            <a:ext cx="457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250"/>
              <a:buFont typeface="Calibri"/>
              <a:buNone/>
            </a:pPr>
            <a:r>
              <a:rPr b="1" i="0" lang="en-US" sz="2200" u="none" cap="none" strike="noStrike">
                <a:solidFill>
                  <a:srgbClr val="B35C38"/>
                </a:solidFill>
                <a:latin typeface="Calibri"/>
                <a:ea typeface="Calibri"/>
                <a:cs typeface="Calibri"/>
                <a:sym typeface="Calibri"/>
              </a:rPr>
              <a:t>RECURSO 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8"/>
          <p:cNvSpPr txBox="1"/>
          <p:nvPr/>
        </p:nvSpPr>
        <p:spPr>
          <a:xfrm>
            <a:off x="6077726" y="1642952"/>
            <a:ext cx="4572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Supervisão da equipe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8"/>
          <p:cNvSpPr txBox="1"/>
          <p:nvPr/>
        </p:nvSpPr>
        <p:spPr>
          <a:xfrm>
            <a:off x="6077725" y="2071125"/>
            <a:ext cx="4752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23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O § 4º exige assistência de profissional de nível superior, e ela se encerra quando o agente deixa a residência.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8"/>
          <p:cNvSpPr/>
          <p:nvPr/>
        </p:nvSpPr>
        <p:spPr>
          <a:xfrm>
            <a:off x="218050" y="3675900"/>
            <a:ext cx="11676000" cy="2357700"/>
          </a:xfrm>
          <a:prstGeom prst="roundRect">
            <a:avLst>
              <a:gd fmla="val 6338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8"/>
          <p:cNvSpPr txBox="1"/>
          <p:nvPr/>
        </p:nvSpPr>
        <p:spPr>
          <a:xfrm>
            <a:off x="428275" y="3840500"/>
            <a:ext cx="11338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900"/>
              <a:buFont typeface="Cambria"/>
              <a:buNone/>
            </a:pPr>
            <a:r>
              <a:rPr b="1" i="0" lang="en-US" sz="29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Uma decisão tomada na terceira parada pode inviabilizar a sétima.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8"/>
          <p:cNvSpPr txBox="1"/>
          <p:nvPr/>
        </p:nvSpPr>
        <p:spPr>
          <a:xfrm>
            <a:off x="444925" y="4869566"/>
            <a:ext cx="1130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31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O número de sequências candidatas cresce exponencialmente, e a interação entre decisões distantes na rota </a:t>
            </a:r>
            <a:r>
              <a:rPr lang="en-US" sz="3100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se torna não</a:t>
            </a:r>
            <a:r>
              <a:rPr b="0" i="0" lang="en-US" sz="31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 facilmente tratável por inspeção manual nem por planilha.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8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8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JUSTIFICATIVA - </a:t>
            </a:r>
            <a:r>
              <a:rPr b="1" lang="en-US" sz="48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PLANNING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9"/>
          <p:cNvSpPr txBox="1"/>
          <p:nvPr/>
        </p:nvSpPr>
        <p:spPr>
          <a:xfrm>
            <a:off x="685800" y="420624"/>
            <a:ext cx="108200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9"/>
          <p:cNvSpPr/>
          <p:nvPr/>
        </p:nvSpPr>
        <p:spPr>
          <a:xfrm>
            <a:off x="685800" y="1173676"/>
            <a:ext cx="3448200" cy="3501900"/>
          </a:xfrm>
          <a:prstGeom prst="roundRect">
            <a:avLst>
              <a:gd fmla="val 4132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9"/>
          <p:cNvSpPr txBox="1"/>
          <p:nvPr/>
        </p:nvSpPr>
        <p:spPr>
          <a:xfrm>
            <a:off x="814650" y="1340002"/>
            <a:ext cx="31905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5483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1" i="0" lang="en-US" sz="21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Roteamento em saúde</a:t>
            </a:r>
            <a:r>
              <a:rPr b="1" lang="en-US" sz="215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1" i="0" lang="en-US" sz="21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domiciliar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 txBox="1"/>
          <p:nvPr/>
        </p:nvSpPr>
        <p:spPr>
          <a:xfrm>
            <a:off x="814650" y="2159307"/>
            <a:ext cx="3190500" cy="22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19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Reconhece qualificação profissional como restrição, mas a modela como etiqueta fixa de compatibilidade.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Calibri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19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Fikar &amp; Hirsch (2017)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19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Cissé et al. (2017)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4371750" y="1173676"/>
            <a:ext cx="3448200" cy="3501900"/>
          </a:xfrm>
          <a:prstGeom prst="roundRect">
            <a:avLst>
              <a:gd fmla="val 4132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9"/>
          <p:cNvSpPr txBox="1"/>
          <p:nvPr/>
        </p:nvSpPr>
        <p:spPr>
          <a:xfrm>
            <a:off x="4492475" y="1340093"/>
            <a:ext cx="31905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5483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1" i="0" lang="en-US" sz="21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Planejamento em protocolos clínicos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9"/>
          <p:cNvSpPr txBox="1"/>
          <p:nvPr/>
        </p:nvSpPr>
        <p:spPr>
          <a:xfrm>
            <a:off x="4485450" y="2213764"/>
            <a:ext cx="3220800" cy="22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19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Traduz diretrizes clínicas para domínios de planejamento, mas sem componente de roteamento.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Calibri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19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González-Ferrer et al. (2013)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19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Bradbrook et al. (2005)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9"/>
          <p:cNvSpPr/>
          <p:nvPr/>
        </p:nvSpPr>
        <p:spPr>
          <a:xfrm>
            <a:off x="8057700" y="1173676"/>
            <a:ext cx="3448200" cy="3501900"/>
          </a:xfrm>
          <a:prstGeom prst="roundRect">
            <a:avLst>
              <a:gd fmla="val 4132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9"/>
          <p:cNvSpPr txBox="1"/>
          <p:nvPr/>
        </p:nvSpPr>
        <p:spPr>
          <a:xfrm>
            <a:off x="8295437" y="1419578"/>
            <a:ext cx="29727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5483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1" i="0" lang="en-US" sz="21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Ferramentas de mercado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"/>
          <p:cNvSpPr txBox="1"/>
          <p:nvPr/>
        </p:nvSpPr>
        <p:spPr>
          <a:xfrm>
            <a:off x="8262900" y="2311225"/>
            <a:ext cx="3037800" cy="23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50"/>
              <a:buFont typeface="Calibri"/>
              <a:buNone/>
            </a:pPr>
            <a:r>
              <a:rPr b="0" i="0" lang="en-US" sz="22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OR-Tools e OSRM otimizam a geometria. O e-SUS Território registra a visita, sem roteirizar nem verificar conformidade.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9"/>
          <p:cNvSpPr/>
          <p:nvPr/>
        </p:nvSpPr>
        <p:spPr>
          <a:xfrm>
            <a:off x="685800" y="4831075"/>
            <a:ext cx="10820100" cy="1496400"/>
          </a:xfrm>
          <a:prstGeom prst="roundRect">
            <a:avLst>
              <a:gd fmla="val 11538" name="adj"/>
            </a:avLst>
          </a:prstGeom>
          <a:solidFill>
            <a:srgbClr val="DDE7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9"/>
          <p:cNvSpPr txBox="1"/>
          <p:nvPr/>
        </p:nvSpPr>
        <p:spPr>
          <a:xfrm>
            <a:off x="923550" y="4983475"/>
            <a:ext cx="104607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258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0" i="1" lang="en-US" sz="26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Na literatura, a qualificação é uma etiqueta fixa. Na lei brasileira, ela é</a:t>
            </a:r>
            <a:r>
              <a:rPr i="1" lang="en-US" sz="265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0" i="1" lang="en-US" sz="26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uma soma de condições que se gastam durante o turno. É nessa</a:t>
            </a:r>
            <a:r>
              <a:rPr i="1" lang="en-US" sz="265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0" i="1" lang="en-US" sz="26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interseção que o projeto se posiciona.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9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9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REVISÃO DE LITERATURA E MERCADO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0"/>
          <p:cNvSpPr/>
          <p:nvPr/>
        </p:nvSpPr>
        <p:spPr>
          <a:xfrm>
            <a:off x="685800" y="1173673"/>
            <a:ext cx="10820100" cy="1980900"/>
          </a:xfrm>
          <a:prstGeom prst="roundRect">
            <a:avLst>
              <a:gd fmla="val 6000" name="adj"/>
            </a:avLst>
          </a:prstGeom>
          <a:solidFill>
            <a:srgbClr val="F3D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0"/>
          <p:cNvSpPr txBox="1"/>
          <p:nvPr/>
        </p:nvSpPr>
        <p:spPr>
          <a:xfrm>
            <a:off x="869125" y="1315250"/>
            <a:ext cx="10515300" cy="166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900"/>
              <a:buFont typeface="Cambria"/>
              <a:buNone/>
            </a:pPr>
            <a:r>
              <a:rPr b="1" i="1" lang="en-US" sz="30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“</a:t>
            </a:r>
            <a:r>
              <a:rPr b="1" i="1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 representação declarativa das condições legais reduzirá a ocorrência de falsos negativos: turnos classificados como inexequíveis quando existe sequência válida.</a:t>
            </a:r>
            <a:r>
              <a:rPr b="1" i="1" lang="en-US" sz="30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”</a:t>
            </a:r>
            <a:endParaRPr b="0" i="1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0"/>
          <p:cNvSpPr/>
          <p:nvPr/>
        </p:nvSpPr>
        <p:spPr>
          <a:xfrm>
            <a:off x="685800" y="3401580"/>
            <a:ext cx="5047500" cy="2753400"/>
          </a:xfrm>
          <a:prstGeom prst="roundRect">
            <a:avLst>
              <a:gd fmla="val 5814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0"/>
          <p:cNvSpPr txBox="1"/>
          <p:nvPr/>
        </p:nvSpPr>
        <p:spPr>
          <a:xfrm>
            <a:off x="890990" y="3570182"/>
            <a:ext cx="457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8A7A67"/>
              </a:buClr>
              <a:buSzPts val="1250"/>
              <a:buFont typeface="Calibri"/>
              <a:buNone/>
            </a:pPr>
            <a:r>
              <a:rPr b="1" i="0" lang="en-US" sz="2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SE ESTIVERMOS ERRADOS, CAMINHO 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0"/>
          <p:cNvSpPr txBox="1"/>
          <p:nvPr/>
        </p:nvSpPr>
        <p:spPr>
          <a:xfrm>
            <a:off x="860393" y="4062154"/>
            <a:ext cx="4698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O planejador é redundante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0"/>
          <p:cNvSpPr txBox="1"/>
          <p:nvPr/>
        </p:nvSpPr>
        <p:spPr>
          <a:xfrm>
            <a:off x="923550" y="4668293"/>
            <a:ext cx="4572000" cy="11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26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Um executor procedural simples alcança desempenho equivalente.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0"/>
          <p:cNvSpPr/>
          <p:nvPr/>
        </p:nvSpPr>
        <p:spPr>
          <a:xfrm>
            <a:off x="5971025" y="3401580"/>
            <a:ext cx="5047500" cy="2753400"/>
          </a:xfrm>
          <a:prstGeom prst="roundRect">
            <a:avLst>
              <a:gd fmla="val 5814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 txBox="1"/>
          <p:nvPr/>
        </p:nvSpPr>
        <p:spPr>
          <a:xfrm>
            <a:off x="6165371" y="3548480"/>
            <a:ext cx="457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8A7A67"/>
              </a:buClr>
              <a:buSzPts val="1250"/>
              <a:buFont typeface="Calibri"/>
              <a:buNone/>
            </a:pPr>
            <a:r>
              <a:rPr b="1" i="0" lang="en-US" sz="2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SE ESTIVERMOS ERRADOS, CAMINHO 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0"/>
          <p:cNvSpPr txBox="1"/>
          <p:nvPr/>
        </p:nvSpPr>
        <p:spPr>
          <a:xfrm>
            <a:off x="6208775" y="4062154"/>
            <a:ext cx="4572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O planejador não escala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0"/>
          <p:cNvSpPr txBox="1"/>
          <p:nvPr/>
        </p:nvSpPr>
        <p:spPr>
          <a:xfrm>
            <a:off x="6165376" y="4685633"/>
            <a:ext cx="45720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26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O custo da busca cresce a ponto de inviabilizar microáreas reais.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0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0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HIPÓTESE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685950" y="1173680"/>
            <a:ext cx="10820100" cy="987600"/>
          </a:xfrm>
          <a:prstGeom prst="roundRect">
            <a:avLst>
              <a:gd fmla="val 7407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941982" y="1448000"/>
            <a:ext cx="438900" cy="438900"/>
          </a:xfrm>
          <a:prstGeom prst="ellipse">
            <a:avLst/>
          </a:prstGeom>
          <a:solidFill>
            <a:srgbClr val="B35C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1"/>
          <p:cNvSpPr txBox="1"/>
          <p:nvPr/>
        </p:nvSpPr>
        <p:spPr>
          <a:xfrm>
            <a:off x="941982" y="1448000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1"/>
          <p:cNvSpPr txBox="1"/>
          <p:nvPr/>
        </p:nvSpPr>
        <p:spPr>
          <a:xfrm>
            <a:off x="1554623" y="1329125"/>
            <a:ext cx="5771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B35C38"/>
                </a:solidFill>
                <a:latin typeface="Cambria"/>
                <a:ea typeface="Cambria"/>
                <a:cs typeface="Cambria"/>
                <a:sym typeface="Cambria"/>
              </a:rPr>
              <a:t>Seleção:</a:t>
            </a:r>
            <a:r>
              <a:rPr b="0" i="0" lang="en-US" sz="3000" u="none" cap="none" strike="noStrike">
                <a:solidFill>
                  <a:srgbClr val="5C4F41"/>
                </a:solidFill>
                <a:latin typeface="Cambria"/>
                <a:ea typeface="Cambria"/>
                <a:cs typeface="Cambria"/>
                <a:sym typeface="Cambria"/>
              </a:rPr>
              <a:t>  quem entra no turno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1"/>
          <p:cNvSpPr txBox="1"/>
          <p:nvPr/>
        </p:nvSpPr>
        <p:spPr>
          <a:xfrm>
            <a:off x="1554625" y="1685750"/>
            <a:ext cx="9720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22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Prioridade clínica e atraso em relação ao intervalo máximo, sob orçamento de tempo.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1"/>
          <p:cNvSpPr/>
          <p:nvPr/>
        </p:nvSpPr>
        <p:spPr>
          <a:xfrm>
            <a:off x="631525" y="2333323"/>
            <a:ext cx="10820100" cy="987600"/>
          </a:xfrm>
          <a:prstGeom prst="roundRect">
            <a:avLst>
              <a:gd fmla="val 7407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1"/>
          <p:cNvSpPr/>
          <p:nvPr/>
        </p:nvSpPr>
        <p:spPr>
          <a:xfrm>
            <a:off x="887557" y="2607643"/>
            <a:ext cx="438900" cy="438900"/>
          </a:xfrm>
          <a:prstGeom prst="ellipse">
            <a:avLst/>
          </a:prstGeom>
          <a:solidFill>
            <a:srgbClr val="B35C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1"/>
          <p:cNvSpPr txBox="1"/>
          <p:nvPr/>
        </p:nvSpPr>
        <p:spPr>
          <a:xfrm>
            <a:off x="887557" y="2607643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1"/>
          <p:cNvSpPr txBox="1"/>
          <p:nvPr/>
        </p:nvSpPr>
        <p:spPr>
          <a:xfrm>
            <a:off x="1500193" y="2488775"/>
            <a:ext cx="9720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B35C38"/>
                </a:solidFill>
                <a:latin typeface="Cambria"/>
                <a:ea typeface="Cambria"/>
                <a:cs typeface="Cambria"/>
                <a:sym typeface="Cambria"/>
              </a:rPr>
              <a:t>Roteamento</a:t>
            </a:r>
            <a:r>
              <a:rPr b="0" i="0" lang="en-US" sz="3000" u="none" cap="none" strike="noStrike">
                <a:solidFill>
                  <a:srgbClr val="5C4F41"/>
                </a:solidFill>
                <a:latin typeface="Cambria"/>
                <a:ea typeface="Cambria"/>
                <a:cs typeface="Cambria"/>
                <a:sym typeface="Cambria"/>
              </a:rPr>
              <a:t>   em que ordem visitar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1"/>
          <p:cNvSpPr txBox="1"/>
          <p:nvPr/>
        </p:nvSpPr>
        <p:spPr>
          <a:xfrm>
            <a:off x="1500200" y="2845375"/>
            <a:ext cx="9720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Heurística de grafos sobre a matriz de distâncias. Entrega a rota e o custo de desviar até a unidade.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1"/>
          <p:cNvSpPr/>
          <p:nvPr/>
        </p:nvSpPr>
        <p:spPr>
          <a:xfrm>
            <a:off x="631525" y="3484603"/>
            <a:ext cx="10820100" cy="987600"/>
          </a:xfrm>
          <a:prstGeom prst="roundRect">
            <a:avLst>
              <a:gd fmla="val 7407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1"/>
          <p:cNvSpPr/>
          <p:nvPr/>
        </p:nvSpPr>
        <p:spPr>
          <a:xfrm>
            <a:off x="887557" y="3758923"/>
            <a:ext cx="438900" cy="438900"/>
          </a:xfrm>
          <a:prstGeom prst="ellipse">
            <a:avLst/>
          </a:prstGeom>
          <a:solidFill>
            <a:srgbClr val="4A6B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1"/>
          <p:cNvSpPr txBox="1"/>
          <p:nvPr/>
        </p:nvSpPr>
        <p:spPr>
          <a:xfrm>
            <a:off x="887557" y="3758923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1"/>
          <p:cNvSpPr txBox="1"/>
          <p:nvPr/>
        </p:nvSpPr>
        <p:spPr>
          <a:xfrm>
            <a:off x="1500193" y="3640050"/>
            <a:ext cx="9666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B5B"/>
              </a:buClr>
              <a:buSzPts val="1700"/>
              <a:buFont typeface="Cambria"/>
              <a:buNone/>
            </a:pPr>
            <a:r>
              <a:rPr b="1" i="0" lang="en-US" sz="3000" u="none" cap="none" strike="noStrike">
                <a:solidFill>
                  <a:srgbClr val="4A6B5B"/>
                </a:solidFill>
                <a:latin typeface="Cambria"/>
                <a:ea typeface="Cambria"/>
                <a:cs typeface="Cambria"/>
                <a:sym typeface="Cambria"/>
              </a:rPr>
              <a:t>Planejamento</a:t>
            </a:r>
            <a:r>
              <a:rPr b="0" i="0" lang="en-US" sz="3000" u="none" cap="none" strike="noStrike">
                <a:solidFill>
                  <a:srgbClr val="5C4F41"/>
                </a:solidFill>
                <a:latin typeface="Cambria"/>
                <a:ea typeface="Cambria"/>
                <a:cs typeface="Cambria"/>
                <a:sym typeface="Cambria"/>
              </a:rPr>
              <a:t>   o que fazer em cada parada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1"/>
          <p:cNvSpPr txBox="1"/>
          <p:nvPr/>
        </p:nvSpPr>
        <p:spPr>
          <a:xfrm>
            <a:off x="1500200" y="3996675"/>
            <a:ext cx="9720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8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Domínio PDDL com as condições legais e os recursos finitos. Decide as ações e os desvios de reposição.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1"/>
          <p:cNvSpPr/>
          <p:nvPr/>
        </p:nvSpPr>
        <p:spPr>
          <a:xfrm>
            <a:off x="685800" y="4685374"/>
            <a:ext cx="10820100" cy="1556400"/>
          </a:xfrm>
          <a:prstGeom prst="roundRect">
            <a:avLst>
              <a:gd fmla="val 11538" name="adj"/>
            </a:avLst>
          </a:prstGeom>
          <a:solidFill>
            <a:srgbClr val="DDE7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1"/>
          <p:cNvSpPr txBox="1"/>
          <p:nvPr/>
        </p:nvSpPr>
        <p:spPr>
          <a:xfrm>
            <a:off x="960120" y="5193792"/>
            <a:ext cx="1027145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258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0" lang="en-US" sz="28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 camada 3 nunca escolhe a rota: ela só anda pelas arestas que a camada 2 autorizou. Por isso trocar o roteirizador não muda uma linha do domínio.</a:t>
            </a:r>
            <a:endParaRPr b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1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1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METODOLOGIA - PIPELINE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2"/>
          <p:cNvSpPr/>
          <p:nvPr/>
        </p:nvSpPr>
        <p:spPr>
          <a:xfrm>
            <a:off x="323175" y="1529700"/>
            <a:ext cx="5309700" cy="3798600"/>
          </a:xfrm>
          <a:prstGeom prst="roundRect">
            <a:avLst>
              <a:gd fmla="val 2941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2"/>
          <p:cNvSpPr txBox="1"/>
          <p:nvPr/>
        </p:nvSpPr>
        <p:spPr>
          <a:xfrm>
            <a:off x="431862" y="1660275"/>
            <a:ext cx="4926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26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Sistema validado em laboratór</a:t>
            </a:r>
            <a:r>
              <a:rPr b="1" i="0" lang="en-US" sz="26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io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2"/>
          <p:cNvSpPr txBox="1"/>
          <p:nvPr/>
        </p:nvSpPr>
        <p:spPr>
          <a:xfrm>
            <a:off x="431875" y="2139100"/>
            <a:ext cx="5103300" cy="290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Não é produto pronto para implantação em rede de saúde. </a:t>
            </a:r>
            <a:r>
              <a:rPr lang="en-US" sz="1900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Objetivo de entrega: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·  o sistema com as camadas integradas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·  o domínio PDDL mapeado dispositivo a dispositivo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·  a saída legível pelo agente de saúde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·  os experimentos reprodutíveis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19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·  o relatório técnico das medições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2"/>
          <p:cNvSpPr/>
          <p:nvPr/>
        </p:nvSpPr>
        <p:spPr>
          <a:xfrm>
            <a:off x="5740138" y="1529701"/>
            <a:ext cx="6128700" cy="1212900"/>
          </a:xfrm>
          <a:prstGeom prst="roundRect">
            <a:avLst>
              <a:gd fmla="val 7547" name="adj"/>
            </a:avLst>
          </a:prstGeom>
          <a:solidFill>
            <a:srgbClr val="DDE7E0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2"/>
          <p:cNvSpPr txBox="1"/>
          <p:nvPr/>
        </p:nvSpPr>
        <p:spPr>
          <a:xfrm>
            <a:off x="5934475" y="1716823"/>
            <a:ext cx="114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4A6B5B"/>
              </a:buClr>
              <a:buSzPts val="1450"/>
              <a:buFont typeface="Cambria"/>
              <a:buNone/>
            </a:pPr>
            <a:r>
              <a:rPr b="1" i="0" lang="en-US" sz="2250" u="none" cap="none" strike="noStrike">
                <a:solidFill>
                  <a:srgbClr val="4A6B5B"/>
                </a:solidFill>
                <a:latin typeface="Cambria"/>
                <a:ea typeface="Cambria"/>
                <a:cs typeface="Cambria"/>
                <a:sym typeface="Cambria"/>
              </a:rPr>
              <a:t>25 / 09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2"/>
          <p:cNvSpPr txBox="1"/>
          <p:nvPr/>
        </p:nvSpPr>
        <p:spPr>
          <a:xfrm>
            <a:off x="7194033" y="1668372"/>
            <a:ext cx="4572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450"/>
              <a:buFont typeface="Cambria"/>
              <a:buNone/>
            </a:pPr>
            <a:r>
              <a:rPr b="1" i="0" lang="en-US" sz="19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Concepção e verificação de viabilidade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2"/>
          <p:cNvSpPr txBox="1"/>
          <p:nvPr/>
        </p:nvSpPr>
        <p:spPr>
          <a:xfrm>
            <a:off x="7194033" y="2117831"/>
            <a:ext cx="457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00"/>
              <a:buFont typeface="Calibri"/>
              <a:buNone/>
            </a:pPr>
            <a:r>
              <a:rPr b="0" i="0" lang="en-US" sz="18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Delimitação do problema, revisão bibliográfica e implementação exploratória.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2"/>
          <p:cNvSpPr/>
          <p:nvPr/>
        </p:nvSpPr>
        <p:spPr>
          <a:xfrm>
            <a:off x="5740138" y="2864888"/>
            <a:ext cx="6128700" cy="1313400"/>
          </a:xfrm>
          <a:prstGeom prst="roundRect">
            <a:avLst>
              <a:gd fmla="val 7547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2"/>
          <p:cNvSpPr txBox="1"/>
          <p:nvPr/>
        </p:nvSpPr>
        <p:spPr>
          <a:xfrm>
            <a:off x="5934475" y="3069206"/>
            <a:ext cx="114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450"/>
              <a:buFont typeface="Cambria"/>
              <a:buNone/>
            </a:pPr>
            <a:r>
              <a:rPr b="1" i="0" lang="en-US" sz="2250" u="none" cap="none" strike="noStrike">
                <a:solidFill>
                  <a:srgbClr val="B35C38"/>
                </a:solidFill>
                <a:latin typeface="Cambria"/>
                <a:ea typeface="Cambria"/>
                <a:cs typeface="Cambria"/>
                <a:sym typeface="Cambria"/>
              </a:rPr>
              <a:t>02 / 10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2"/>
          <p:cNvSpPr txBox="1"/>
          <p:nvPr/>
        </p:nvSpPr>
        <p:spPr>
          <a:xfrm>
            <a:off x="7194033" y="2973545"/>
            <a:ext cx="4572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450"/>
              <a:buFont typeface="Cambria"/>
              <a:buNone/>
            </a:pPr>
            <a:r>
              <a:rPr b="1" i="0" lang="en-US" sz="19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Construção do sistema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2"/>
          <p:cNvSpPr txBox="1"/>
          <p:nvPr/>
        </p:nvSpPr>
        <p:spPr>
          <a:xfrm>
            <a:off x="7194033" y="3352934"/>
            <a:ext cx="457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00"/>
              <a:buFont typeface="Calibri"/>
              <a:buNone/>
            </a:pPr>
            <a:r>
              <a:rPr b="0" i="0" lang="en-US" sz="18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Domínio completo, camada geométrica, política de seleção, saída operacional e experimentos.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2"/>
          <p:cNvSpPr/>
          <p:nvPr/>
        </p:nvSpPr>
        <p:spPr>
          <a:xfrm>
            <a:off x="5740138" y="4278800"/>
            <a:ext cx="6128700" cy="969300"/>
          </a:xfrm>
          <a:prstGeom prst="roundRect">
            <a:avLst>
              <a:gd fmla="val 7547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2"/>
          <p:cNvSpPr txBox="1"/>
          <p:nvPr/>
        </p:nvSpPr>
        <p:spPr>
          <a:xfrm>
            <a:off x="5934488" y="4432550"/>
            <a:ext cx="114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450"/>
              <a:buFont typeface="Cambria"/>
              <a:buNone/>
            </a:pPr>
            <a:r>
              <a:rPr b="1" i="0" lang="en-US" sz="2250" u="none" cap="none" strike="noStrike">
                <a:solidFill>
                  <a:srgbClr val="B35C38"/>
                </a:solidFill>
                <a:latin typeface="Cambria"/>
                <a:ea typeface="Cambria"/>
                <a:cs typeface="Cambria"/>
                <a:sym typeface="Cambria"/>
              </a:rPr>
              <a:t>09 / 10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2"/>
          <p:cNvSpPr txBox="1"/>
          <p:nvPr/>
        </p:nvSpPr>
        <p:spPr>
          <a:xfrm>
            <a:off x="7194033" y="4319993"/>
            <a:ext cx="4572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450"/>
              <a:buFont typeface="Cambria"/>
              <a:buNone/>
            </a:pPr>
            <a:r>
              <a:rPr b="1" i="0" lang="en-US" sz="195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Consolidação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2"/>
          <p:cNvSpPr txBox="1"/>
          <p:nvPr/>
        </p:nvSpPr>
        <p:spPr>
          <a:xfrm>
            <a:off x="7194033" y="4635452"/>
            <a:ext cx="457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200"/>
              <a:buFont typeface="Calibri"/>
              <a:buNone/>
            </a:pPr>
            <a:r>
              <a:rPr b="0" i="0" lang="en-US" sz="18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Análise crítica, relatório final e apresentação.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2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2"/>
          <p:cNvSpPr txBox="1"/>
          <p:nvPr/>
        </p:nvSpPr>
        <p:spPr>
          <a:xfrm>
            <a:off x="174650" y="304875"/>
            <a:ext cx="11827800" cy="6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7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RESULTADOS ESPERADOS E CRONOGRAMA</a:t>
            </a:r>
            <a:endParaRPr b="1" sz="47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3"/>
          <p:cNvSpPr/>
          <p:nvPr/>
        </p:nvSpPr>
        <p:spPr>
          <a:xfrm>
            <a:off x="411475" y="1380351"/>
            <a:ext cx="3722400" cy="3900600"/>
          </a:xfrm>
          <a:prstGeom prst="roundRect">
            <a:avLst>
              <a:gd fmla="val 4000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3"/>
          <p:cNvSpPr txBox="1"/>
          <p:nvPr/>
        </p:nvSpPr>
        <p:spPr>
          <a:xfrm>
            <a:off x="576319" y="1534230"/>
            <a:ext cx="297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4A6B5B"/>
              </a:buClr>
              <a:buSzPts val="1250"/>
              <a:buFont typeface="Calibri"/>
              <a:buNone/>
            </a:pPr>
            <a:r>
              <a:rPr b="1" i="0" lang="en-US" sz="2050" u="none" cap="none" strike="noStrike">
                <a:solidFill>
                  <a:srgbClr val="4A6B5B"/>
                </a:solidFill>
                <a:latin typeface="Calibri"/>
                <a:ea typeface="Calibri"/>
                <a:cs typeface="Calibri"/>
                <a:sym typeface="Calibri"/>
              </a:rPr>
              <a:t>A FAVOR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3"/>
          <p:cNvSpPr txBox="1"/>
          <p:nvPr/>
        </p:nvSpPr>
        <p:spPr>
          <a:xfrm>
            <a:off x="558176" y="2088313"/>
            <a:ext cx="33198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6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 busca trivial não escala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3"/>
          <p:cNvSpPr txBox="1"/>
          <p:nvPr/>
        </p:nvSpPr>
        <p:spPr>
          <a:xfrm>
            <a:off x="563726" y="2984971"/>
            <a:ext cx="3417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24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Varrer o mesmo modelo declarativo sem heurística resolve até 5 ou 6 pacientes. Um turno real tem de 10 a 15.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3"/>
          <p:cNvSpPr/>
          <p:nvPr/>
        </p:nvSpPr>
        <p:spPr>
          <a:xfrm>
            <a:off x="4329450" y="1380400"/>
            <a:ext cx="3514500" cy="3900600"/>
          </a:xfrm>
          <a:prstGeom prst="roundRect">
            <a:avLst>
              <a:gd fmla="val 4000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3"/>
          <p:cNvSpPr txBox="1"/>
          <p:nvPr/>
        </p:nvSpPr>
        <p:spPr>
          <a:xfrm>
            <a:off x="4457565" y="1534168"/>
            <a:ext cx="297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4A6B5B"/>
              </a:buClr>
              <a:buSzPts val="1250"/>
              <a:buFont typeface="Calibri"/>
              <a:buNone/>
            </a:pPr>
            <a:r>
              <a:rPr b="1" i="0" lang="en-US" sz="2050" u="none" cap="none" strike="noStrike">
                <a:solidFill>
                  <a:srgbClr val="4A6B5B"/>
                </a:solidFill>
                <a:latin typeface="Calibri"/>
                <a:ea typeface="Calibri"/>
                <a:cs typeface="Calibri"/>
                <a:sym typeface="Calibri"/>
              </a:rPr>
              <a:t>A FAVOR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3"/>
          <p:cNvSpPr txBox="1"/>
          <p:nvPr/>
        </p:nvSpPr>
        <p:spPr>
          <a:xfrm>
            <a:off x="4460351" y="2011675"/>
            <a:ext cx="32355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6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O planejador está correto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3"/>
          <p:cNvSpPr txBox="1"/>
          <p:nvPr/>
        </p:nvSpPr>
        <p:spPr>
          <a:xfrm>
            <a:off x="4457575" y="3017525"/>
            <a:ext cx="3235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22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Um planejador de referência independente concordou sobre viabilidade e plano mínimo em todas as instâncias testadas.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3"/>
          <p:cNvSpPr/>
          <p:nvPr/>
        </p:nvSpPr>
        <p:spPr>
          <a:xfrm>
            <a:off x="8015400" y="1380301"/>
            <a:ext cx="3490500" cy="3900600"/>
          </a:xfrm>
          <a:prstGeom prst="roundRect">
            <a:avLst>
              <a:gd fmla="val 4000" name="adj"/>
            </a:avLst>
          </a:prstGeom>
          <a:solidFill>
            <a:srgbClr val="F3DFD3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3"/>
          <p:cNvSpPr txBox="1"/>
          <p:nvPr/>
        </p:nvSpPr>
        <p:spPr>
          <a:xfrm>
            <a:off x="8089262" y="1523316"/>
            <a:ext cx="297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250"/>
              <a:buFont typeface="Calibri"/>
              <a:buNone/>
            </a:pPr>
            <a:r>
              <a:rPr b="1" i="0" lang="en-US" sz="2050" u="none" cap="none" strike="noStrike">
                <a:solidFill>
                  <a:srgbClr val="B35C38"/>
                </a:solidFill>
                <a:latin typeface="Calibri"/>
                <a:ea typeface="Calibri"/>
                <a:cs typeface="Calibri"/>
                <a:sym typeface="Calibri"/>
              </a:rPr>
              <a:t>CONTRA A HIPÓTESE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3"/>
          <p:cNvSpPr txBox="1"/>
          <p:nvPr/>
        </p:nvSpPr>
        <p:spPr>
          <a:xfrm>
            <a:off x="8089250" y="2011725"/>
            <a:ext cx="32355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600"/>
              <a:buFont typeface="Cambria"/>
              <a:buNone/>
            </a:pP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 hipótese foi </a:t>
            </a:r>
            <a:r>
              <a:rPr b="1" lang="en-US" sz="30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“</a:t>
            </a:r>
            <a:r>
              <a:rPr b="1" i="0" lang="en-US" sz="3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refutada</a:t>
            </a:r>
            <a:r>
              <a:rPr b="1" lang="en-US" sz="30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”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3"/>
          <p:cNvSpPr txBox="1"/>
          <p:nvPr/>
        </p:nvSpPr>
        <p:spPr>
          <a:xfrm>
            <a:off x="8089250" y="2984971"/>
            <a:ext cx="3235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00"/>
              <a:buFont typeface="Calibri"/>
              <a:buNone/>
            </a:pPr>
            <a:r>
              <a:rPr b="0" i="0" lang="en-US" sz="240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Uma correção manual no executor procedural zera os falsos negativos. Ele não era incapaz: faltava-lhe a regra.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3"/>
          <p:cNvSpPr/>
          <p:nvPr/>
        </p:nvSpPr>
        <p:spPr>
          <a:xfrm>
            <a:off x="685950" y="5503383"/>
            <a:ext cx="10820100" cy="713100"/>
          </a:xfrm>
          <a:prstGeom prst="roundRect">
            <a:avLst>
              <a:gd fmla="val 11538" name="adj"/>
            </a:avLst>
          </a:prstGeom>
          <a:solidFill>
            <a:srgbClr val="F3D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"/>
          <p:cNvSpPr txBox="1"/>
          <p:nvPr/>
        </p:nvSpPr>
        <p:spPr>
          <a:xfrm>
            <a:off x="960270" y="5576535"/>
            <a:ext cx="10271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258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550"/>
              <a:buFont typeface="Cambria"/>
              <a:buNone/>
            </a:pPr>
            <a:r>
              <a:rPr b="0" i="1" lang="en-US" sz="24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O caminho 1 de erro, previsto no slide da hipótese, foi o que se materializou.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3"/>
          <p:cNvSpPr txBox="1"/>
          <p:nvPr>
            <p:ph idx="4294967295" type="sldNum"/>
          </p:nvPr>
        </p:nvSpPr>
        <p:spPr>
          <a:xfrm>
            <a:off x="11384280" y="632764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3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RESULTADOS JÁ OBTIDOS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"/>
          <p:cNvSpPr/>
          <p:nvPr/>
        </p:nvSpPr>
        <p:spPr>
          <a:xfrm>
            <a:off x="685800" y="1755648"/>
            <a:ext cx="10820100" cy="1417200"/>
          </a:xfrm>
          <a:prstGeom prst="roundRect">
            <a:avLst>
              <a:gd fmla="val 5806" name="adj"/>
            </a:avLst>
          </a:prstGeom>
          <a:solidFill>
            <a:srgbClr val="DDE7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4"/>
          <p:cNvSpPr txBox="1"/>
          <p:nvPr/>
        </p:nvSpPr>
        <p:spPr>
          <a:xfrm>
            <a:off x="996696" y="1938528"/>
            <a:ext cx="101982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O executor procedural depende de alguém descobrir cada interação entre regras antes de respeitá-la. O planejamento, não.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4"/>
          <p:cNvSpPr/>
          <p:nvPr/>
        </p:nvSpPr>
        <p:spPr>
          <a:xfrm>
            <a:off x="685800" y="3419856"/>
            <a:ext cx="5047500" cy="1700700"/>
          </a:xfrm>
          <a:prstGeom prst="roundRect">
            <a:avLst>
              <a:gd fmla="val 5376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4"/>
          <p:cNvSpPr txBox="1"/>
          <p:nvPr/>
        </p:nvSpPr>
        <p:spPr>
          <a:xfrm>
            <a:off x="923544" y="3621024"/>
            <a:ext cx="457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B5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A6B5B"/>
                </a:solidFill>
                <a:latin typeface="Calibri"/>
                <a:ea typeface="Calibri"/>
                <a:cs typeface="Calibri"/>
                <a:sym typeface="Calibri"/>
              </a:rPr>
              <a:t>O QUE SUSTENTAMOS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4"/>
          <p:cNvSpPr txBox="1"/>
          <p:nvPr/>
        </p:nvSpPr>
        <p:spPr>
          <a:xfrm>
            <a:off x="923544" y="3950208"/>
            <a:ext cx="4572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Declaratividade e prova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923544" y="4407408"/>
            <a:ext cx="4572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Regra nova é absorvida sem tocar no código de busca, e a inviabilidade é demonstrada, não apenas constatada.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4"/>
          <p:cNvSpPr/>
          <p:nvPr/>
        </p:nvSpPr>
        <p:spPr>
          <a:xfrm>
            <a:off x="5971032" y="3419856"/>
            <a:ext cx="5047500" cy="1700700"/>
          </a:xfrm>
          <a:prstGeom prst="roundRect">
            <a:avLst>
              <a:gd fmla="val 5376" name="adj"/>
            </a:avLst>
          </a:prstGeom>
          <a:solidFill>
            <a:srgbClr val="FFFDF8"/>
          </a:solidFill>
          <a:ln cap="flat" cmpd="sng" w="9525">
            <a:solidFill>
              <a:srgbClr val="E6DCC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33291F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4"/>
          <p:cNvSpPr txBox="1"/>
          <p:nvPr/>
        </p:nvSpPr>
        <p:spPr>
          <a:xfrm>
            <a:off x="6208776" y="3621024"/>
            <a:ext cx="457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5C3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B35C38"/>
                </a:solidFill>
                <a:latin typeface="Calibri"/>
                <a:ea typeface="Calibri"/>
                <a:cs typeface="Calibri"/>
                <a:sym typeface="Calibri"/>
              </a:rPr>
              <a:t>O QUE NÃO SUSTENTAMOS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4"/>
          <p:cNvSpPr txBox="1"/>
          <p:nvPr/>
        </p:nvSpPr>
        <p:spPr>
          <a:xfrm>
            <a:off x="6208776" y="3950208"/>
            <a:ext cx="4572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Economia e exclusividade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4"/>
          <p:cNvSpPr txBox="1"/>
          <p:nvPr/>
        </p:nvSpPr>
        <p:spPr>
          <a:xfrm>
            <a:off x="6208776" y="4407408"/>
            <a:ext cx="4572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5C4F41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4F41"/>
                </a:solidFill>
                <a:latin typeface="Calibri"/>
                <a:ea typeface="Calibri"/>
                <a:cs typeface="Calibri"/>
                <a:sym typeface="Calibri"/>
              </a:rPr>
              <a:t>Não economiza deslocamento, e não encontra planos que um programa corrigido não encontraria.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4"/>
          <p:cNvSpPr txBox="1"/>
          <p:nvPr/>
        </p:nvSpPr>
        <p:spPr>
          <a:xfrm>
            <a:off x="685800" y="5340096"/>
            <a:ext cx="10820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A pergunta vira: o que mantém o sistema correto quando a norma muda, sem deixar de caber num turno real?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4"/>
          <p:cNvSpPr txBox="1"/>
          <p:nvPr>
            <p:ph idx="4294967295" type="sldNum"/>
          </p:nvPr>
        </p:nvSpPr>
        <p:spPr>
          <a:xfrm>
            <a:off x="11384280" y="6327648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8A7A67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8A7A6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4"/>
          <p:cNvSpPr txBox="1"/>
          <p:nvPr/>
        </p:nvSpPr>
        <p:spPr>
          <a:xfrm>
            <a:off x="411475" y="304883"/>
            <a:ext cx="10820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11764"/>
              </a:lnSpc>
              <a:spcBef>
                <a:spcPts val="0"/>
              </a:spcBef>
              <a:spcAft>
                <a:spcPts val="0"/>
              </a:spcAft>
              <a:buClr>
                <a:srgbClr val="33291F"/>
              </a:buClr>
              <a:buSzPts val="3400"/>
              <a:buFont typeface="Cambria"/>
              <a:buNone/>
            </a:pPr>
            <a:r>
              <a:rPr b="1" lang="en-US" sz="4800">
                <a:solidFill>
                  <a:srgbClr val="33291F"/>
                </a:solidFill>
                <a:latin typeface="Cambria"/>
                <a:ea typeface="Cambria"/>
                <a:cs typeface="Cambria"/>
                <a:sym typeface="Cambria"/>
              </a:rPr>
              <a:t>REFORMULAÇÃO DA HIPÓTESE</a:t>
            </a:r>
            <a:endParaRPr b="1" sz="4800">
              <a:solidFill>
                <a:srgbClr val="33291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reme">
  <a:themeElements>
    <a:clrScheme name="Creme">
      <a:dk1>
        <a:srgbClr val="33291F"/>
      </a:dk1>
      <a:lt1>
        <a:srgbClr val="FEFCF7"/>
      </a:lt1>
      <a:dk2>
        <a:srgbClr val="5C4F41"/>
      </a:dk2>
      <a:lt2>
        <a:srgbClr val="F2E7D2"/>
      </a:lt2>
      <a:accent1>
        <a:srgbClr val="B35C38"/>
      </a:accent1>
      <a:accent2>
        <a:srgbClr val="4A6B5B"/>
      </a:accent2>
      <a:accent3>
        <a:srgbClr val="8A7A67"/>
      </a:accent3>
      <a:accent4>
        <a:srgbClr val="E8D8BC"/>
      </a:accent4>
      <a:accent5>
        <a:srgbClr val="F3DFD3"/>
      </a:accent5>
      <a:accent6>
        <a:srgbClr val="DDE7E0"/>
      </a:accent6>
      <a:hlink>
        <a:srgbClr val="B35C38"/>
      </a:hlink>
      <a:folHlink>
        <a:srgbClr val="8A7A6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reme">
  <a:themeElements>
    <a:clrScheme name="Creme">
      <a:dk1>
        <a:srgbClr val="33291F"/>
      </a:dk1>
      <a:lt1>
        <a:srgbClr val="FEFCF7"/>
      </a:lt1>
      <a:dk2>
        <a:srgbClr val="5C4F41"/>
      </a:dk2>
      <a:lt2>
        <a:srgbClr val="F2E7D2"/>
      </a:lt2>
      <a:accent1>
        <a:srgbClr val="B35C38"/>
      </a:accent1>
      <a:accent2>
        <a:srgbClr val="4A6B5B"/>
      </a:accent2>
      <a:accent3>
        <a:srgbClr val="8A7A67"/>
      </a:accent3>
      <a:accent4>
        <a:srgbClr val="E8D8BC"/>
      </a:accent4>
      <a:accent5>
        <a:srgbClr val="F3DFD3"/>
      </a:accent5>
      <a:accent6>
        <a:srgbClr val="DDE7E0"/>
      </a:accent6>
      <a:hlink>
        <a:srgbClr val="B35C38"/>
      </a:hlink>
      <a:folHlink>
        <a:srgbClr val="8A7A6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