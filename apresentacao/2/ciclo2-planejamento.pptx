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6" r:id="rId15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O enunciado do ciclo pede um artefato que facilite o planejamento das visitas dos ACS. Quase todo mundo vai atacar isso como problema de rota. Nos tambem, mas descobrimos que a rota e so metade do problema. Nao mencione PDDL ainda.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fecha o circulo com o slide 6. Dissemos que a hipotese podia estar errada de dois jeitos, e um deles aconteceu. Abrir isso e mais forte do que esconder: mostra que o desenho experimental funcionou. Nao entre em numero de instancia aqui; se perguntarem, foram 40 microareas sorteadas.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Fecho. A hipotese do slide 6 caiu justamente na metade que dizia que o planejador encontraria planos que o programa nao encontra. O que sobrou, e que os experimentos sustentam, e esta frase: declaratividade mais busca heuristica. Mostre que ela e falseavel nos dois sentidos, como a anterior: tire uma metade e o sistema erra, tire a outra e ele nao termina a tempo. O trunfo do trabalho nao e ter usado Planning, e termos medido COMO ele ajuda, inclusive descobrindo que a resposta nao era a que esperavamos.</a:t>
            </a:r>
          </a:p>
        </p:txBody>
      </p:sp>
      <p:sp>
        <p:nvSpPr>
          <p:cNvPr id="180" name="Google Shape;180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Nao leia os seis objetivos um a um: eles cabem em tres verbos. Formalizar e o unico que depende da lei, e e o que trava o resto, porque sem o dominio escrito nao ha o que planejar. Construir e engenharia, e onde esta a maior parte do esforco. Validar e o que separa este trabalho de uma demonstracao. Se perguntarem por que o executor procedural de referencia esta entre os objetivos: porque sem ele a hipotese do slide anterior nao seria testavel.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/>
        </p:nvSpPr>
        <p:spPr>
          <a:xfrm>
            <a:off x="914400" y="246965"/>
            <a:ext cx="1033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PROJETO EM CIÊNCIA E INOVAÇÃO · INF99003 · CICLO 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914400" y="1691650"/>
            <a:ext cx="8700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000"/>
              <a:buFont typeface="Cambria"/>
              <a:buNone/>
            </a:pP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r>
              <a:rPr b="1" lang="en-US" sz="5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Automatizado para o</a:t>
            </a:r>
            <a:r>
              <a:rPr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cumprimento de</a:t>
            </a:r>
            <a:r>
              <a:rPr b="1" lang="en-US" sz="5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protocolos legais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914400" y="4294025"/>
            <a:ext cx="93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650"/>
              <a:buFont typeface="Calibri"/>
              <a:buNone/>
            </a:pPr>
            <a:r>
              <a:rPr b="0" i="0" lang="en-US" sz="28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Visitas domiciliares de Agentes Comunitários de Saúde na Atenção Primária do SUS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914400" y="5640910"/>
            <a:ext cx="1920300" cy="22800"/>
          </a:xfrm>
          <a:prstGeom prst="rect">
            <a:avLst/>
          </a:prstGeom>
          <a:solidFill>
            <a:srgbClr val="D9C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6" name="Google Shape;26;p5"/>
          <p:cNvSpPr txBox="1"/>
          <p:nvPr/>
        </p:nvSpPr>
        <p:spPr>
          <a:xfrm>
            <a:off x="929638" y="5904380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1" i="0" lang="en-US" sz="2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Gabriel Pieruccini Knopp   ·   Arthur Andrade da Silva   ·   Izadora Candotti de Oliveira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929638" y="6297572"/>
            <a:ext cx="1033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Grupo B   ·   Instituto de Informática, UFRGS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CONTEXTUALIZAÇÃO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685800" y="1828800"/>
            <a:ext cx="5303400" cy="2633400"/>
          </a:xfrm>
          <a:prstGeom prst="roundRect">
            <a:avLst>
              <a:gd fmla="val 425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923550" y="2025400"/>
            <a:ext cx="469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problema costuma ser tratado como um </a:t>
            </a:r>
            <a:r>
              <a:rPr b="1" i="0" lang="en-US" sz="2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problema de percurso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923482" y="2697002"/>
            <a:ext cx="48279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Minimizar deslocamento, cobrir o território no prazo e respeitar a capacidade da equipe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são coisas que 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roteirizadores já resolvem bem.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6199625" y="1828800"/>
            <a:ext cx="5303400" cy="2633400"/>
          </a:xfrm>
          <a:prstGeom prst="roundRect">
            <a:avLst>
              <a:gd fmla="val 425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6437375" y="2025400"/>
            <a:ext cx="4827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Essa formulação deixa de fora uma norma importante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6437376" y="2751244"/>
            <a:ext cx="48279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Lei 11.350/2006 condiciona o que o agente pode fazer em cada residência. Nem toda condição é estática: insumo e supervisão se esgotam ao longo do turno.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685950" y="4690008"/>
            <a:ext cx="10820100" cy="1478700"/>
          </a:xfrm>
          <a:prstGeom prst="roundRect">
            <a:avLst>
              <a:gd fmla="val 11538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960275" y="4744257"/>
            <a:ext cx="10271400" cy="13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pergunta não é qual o menor percurso, e sim se aquela sequência de atendimentos é executável sem violar a norma.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685800" y="1173675"/>
            <a:ext cx="10820100" cy="2063400"/>
          </a:xfrm>
          <a:prstGeom prst="roundRect">
            <a:avLst>
              <a:gd fmla="val 555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814850" y="1323425"/>
            <a:ext cx="105693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“desde que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concluído curso técnico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disponíveis os equipamentos adequados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são atividades do Agente […]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assistidas por profissional de saúde de nível superior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[…] a aferição da pressão arterial […], </a:t>
            </a:r>
            <a:r>
              <a:rPr b="1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encaminhando o paciente</a:t>
            </a:r>
            <a:r>
              <a:rPr b="0" i="1" lang="en-US" sz="21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para a unidade de referência”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826233" y="2864565"/>
            <a:ext cx="102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Lei nº 11.350/2006, art. 3º § 4º, na redação da Lei nº 13.595/2018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689450" y="3626571"/>
            <a:ext cx="10820100" cy="2700900"/>
          </a:xfrm>
          <a:prstGeom prst="roundRect">
            <a:avLst>
              <a:gd fmla="val 494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/>
        </p:nvSpPr>
        <p:spPr>
          <a:xfrm>
            <a:off x="978450" y="3808001"/>
            <a:ext cx="10234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ourier New"/>
              <a:buNone/>
            </a:pP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:precondition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(and (curso-tecnico-concluido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(equipamento-disponivel ?ag)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(supervisao-ativa ?ag))</a:t>
            </a:r>
            <a:b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3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:effect</a:t>
            </a: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(and (pa-ok ?p)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300"/>
              <a:buFont typeface="Courier New"/>
              <a:buNone/>
            </a:pPr>
            <a:r>
              <a:rPr b="0" i="0" lang="en-US" sz="23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(pendencia-encaminhamento ?p))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685800" y="1173678"/>
            <a:ext cx="5047500" cy="22278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/>
        </p:nvSpPr>
        <p:spPr>
          <a:xfrm>
            <a:off x="836734" y="13246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847585" y="1642967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Insumo consumível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836572" y="2068900"/>
            <a:ext cx="47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fita de glicemia só se repõe na unidade de saúde. Acabar no meio da rota obriga um desvio não previsto.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5971025" y="1173778"/>
            <a:ext cx="5047500" cy="22278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/>
        </p:nvSpPr>
        <p:spPr>
          <a:xfrm>
            <a:off x="6077726" y="132458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2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RECURSO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6077726" y="164295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Supervisão da equipe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6077725" y="2071125"/>
            <a:ext cx="47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§ 4º exige assistência de profissional de nível superior, e ela se encerra quando o agente deixa a residência.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8050" y="3675900"/>
            <a:ext cx="11676000" cy="2357700"/>
          </a:xfrm>
          <a:prstGeom prst="roundRect">
            <a:avLst>
              <a:gd fmla="val 6338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428275" y="3840500"/>
            <a:ext cx="1133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900"/>
              <a:buFont typeface="Cambria"/>
              <a:buNone/>
            </a:pPr>
            <a:r>
              <a:rPr b="1" i="0" lang="en-US" sz="29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decisão tomada na terceira parada pode inviabilizar a sétima.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444925" y="4869566"/>
            <a:ext cx="1130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3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número de sequências candidatas cresce exponencialmente, e a interação entre decisões distantes na rota </a:t>
            </a:r>
            <a:r>
              <a:rPr lang="en-US" sz="3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se torna não</a:t>
            </a:r>
            <a:r>
              <a:rPr b="0" i="0" lang="en-US" sz="3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facilmente tratável por inspeção manual nem por planilha.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</a:t>
            </a:r>
            <a:r>
              <a:rPr b="1" lang="en-US" sz="4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68580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814650" y="1340002"/>
            <a:ext cx="31905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 em saúde</a:t>
            </a:r>
            <a:r>
              <a:rPr b="1" lang="en-US" sz="21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domiciliar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814650" y="2159307"/>
            <a:ext cx="3190500" cy="22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Reconhece qualificação profissional como restrição, mas a modela como etiqueta fixa de compatibilidade.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Fikar &amp; Hirsch (2017)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Cissé et al. (2017)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437175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 txBox="1"/>
          <p:nvPr/>
        </p:nvSpPr>
        <p:spPr>
          <a:xfrm>
            <a:off x="4492475" y="1340093"/>
            <a:ext cx="31905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em protocolos clínicos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485450" y="2213764"/>
            <a:ext cx="3220800" cy="22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 diretrizes clínicas para domínios de planejamento, mas sem componente de roteamento.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González-Ferrer et al. (2013)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9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Bradbrook et al. (2005)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057700" y="1173676"/>
            <a:ext cx="3448200" cy="350190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8295437" y="1419578"/>
            <a:ext cx="2972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1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Ferramentas de mercado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8262900" y="2311225"/>
            <a:ext cx="3037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225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OR-Tools e OSRM otimizam a geometria. O e-SUS Território registra a visita, sem roteirizar nem verificar conformidade.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685800" y="4831075"/>
            <a:ext cx="10820100" cy="1496400"/>
          </a:xfrm>
          <a:prstGeom prst="roundRect">
            <a:avLst>
              <a:gd fmla="val 11538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 txBox="1"/>
          <p:nvPr/>
        </p:nvSpPr>
        <p:spPr>
          <a:xfrm>
            <a:off x="923550" y="4983475"/>
            <a:ext cx="104607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Na literatura, a qualificação é uma etiqueta fixa. Na lei brasileira, ela é</a:t>
            </a:r>
            <a:r>
              <a:rPr i="1" lang="en-US" sz="26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soma de condições que se gastam durante o turno. É nessa</a:t>
            </a:r>
            <a:r>
              <a:rPr i="1" lang="en-US" sz="265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1" lang="en-US" sz="26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interseção que o projeto se posiciona.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REVISÃO DE LITERATURA E MERCADO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685800" y="1173673"/>
            <a:ext cx="10820100" cy="1980900"/>
          </a:xfrm>
          <a:prstGeom prst="roundRect">
            <a:avLst>
              <a:gd fmla="val 6000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869125" y="1315250"/>
            <a:ext cx="10515300" cy="16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900"/>
              <a:buFont typeface="Cambria"/>
              <a:buNone/>
            </a:pPr>
            <a:r>
              <a:rPr b="1" i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i="1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representação declarativa das condições legais reduzirá a ocorrência de falsos negativos: turnos classificados como inexequíveis quando existe sequência válida.</a:t>
            </a:r>
            <a:r>
              <a:rPr b="1" i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0" i="1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85800" y="3401580"/>
            <a:ext cx="5047500" cy="27534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890990" y="357018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860393" y="4062154"/>
            <a:ext cx="469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é redundante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923550" y="4668293"/>
            <a:ext cx="45720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executor procedural simples alcança desempenho equivalente.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971025" y="3401580"/>
            <a:ext cx="5047500" cy="2753400"/>
          </a:xfrm>
          <a:prstGeom prst="roundRect">
            <a:avLst>
              <a:gd fmla="val 581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6165371" y="354848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6208775" y="4062154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não escala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6165376" y="4685633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custo da busca cresce a ponto de inviabilizar microáreas reais.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HIPÓTESE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685800" y="2724912"/>
            <a:ext cx="3447288" cy="283464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813816" y="3310128"/>
            <a:ext cx="319125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norma vira domínio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813816" y="4334256"/>
            <a:ext cx="319125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Os §§ 3º e 4º do art. 3º da Lei 11.350/2006 e as diretrizes da PNAB em ações, pré-condições e efeitos.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4370832" y="2724912"/>
            <a:ext cx="3447288" cy="283464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 txBox="1"/>
          <p:nvPr/>
        </p:nvSpPr>
        <p:spPr>
          <a:xfrm>
            <a:off x="4498848" y="3310128"/>
            <a:ext cx="319125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sistema em três camadas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498848" y="4334256"/>
            <a:ext cx="319125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Roteirização, tradução para PDDL, planejador, executor procedural de referência e roteiro legível.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055864" y="2724912"/>
            <a:ext cx="3447288" cy="2834640"/>
          </a:xfrm>
          <a:prstGeom prst="roundRect">
            <a:avLst>
              <a:gd fmla="val 4132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8183880" y="3310128"/>
            <a:ext cx="319125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1" i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comparação medida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8183880" y="4334256"/>
            <a:ext cx="319125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Experimentos controlados de escalabilidade, qualidade do plano e reconhecimento de inviabilidade.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685800" y="1152144"/>
            <a:ext cx="10817352" cy="1463040"/>
          </a:xfrm>
          <a:prstGeom prst="roundRect">
            <a:avLst>
              <a:gd fmla="val 11538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 txBox="1"/>
          <p:nvPr/>
        </p:nvSpPr>
        <p:spPr>
          <a:xfrm>
            <a:off x="960120" y="1225296"/>
            <a:ext cx="1026871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Modelar, implementar e validar um sistema que decide as ações e os desvios de reposição de um turno de visitas, e medir onde esse paradigma supera um executor procedural equivalente.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novo"/>
          <p:cNvSpPr txBox="1"/>
          <p:nvPr/>
        </p:nvSpPr>
        <p:spPr>
          <a:xfrm>
            <a:off x="813816" y="2852928"/>
            <a:ext cx="31912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1. FORMALIZAR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novo"/>
          <p:cNvSpPr txBox="1"/>
          <p:nvPr/>
        </p:nvSpPr>
        <p:spPr>
          <a:xfrm>
            <a:off x="4498848" y="2852928"/>
            <a:ext cx="31912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2. CONSTRUIR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novo"/>
          <p:cNvSpPr txBox="1"/>
          <p:nvPr/>
        </p:nvSpPr>
        <p:spPr>
          <a:xfrm>
            <a:off x="8183880" y="2852928"/>
            <a:ext cx="31912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3. VALIDAR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novo"/>
          <p:cNvSpPr txBox="1"/>
          <p:nvPr/>
        </p:nvSpPr>
        <p:spPr>
          <a:xfrm>
            <a:off x="685800" y="568756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Três verbos, seis objetivos, e a ordem entre eles é a ordem do trabalho.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685950" y="1173680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941982" y="1448000"/>
            <a:ext cx="438900" cy="438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941982" y="14480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1554623" y="1329125"/>
            <a:ext cx="577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Seleção: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quem entra no turno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1554625" y="1685750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Prioridade clínica e atraso em relação ao intervalo máximo, sob orçamento de tempo.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31525" y="2333323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887557" y="2607643"/>
            <a:ext cx="438900" cy="4389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 txBox="1"/>
          <p:nvPr/>
        </p:nvSpPr>
        <p:spPr>
          <a:xfrm>
            <a:off x="887557" y="2607643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1500193" y="2488775"/>
            <a:ext cx="972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Roteamento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 em que ordem visitar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1500200" y="2845375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Heurística de grafos sobre a matriz de distâncias. Entrega a rota e o custo de desviar até a unidade.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631525" y="3484603"/>
            <a:ext cx="10820100" cy="987600"/>
          </a:xfrm>
          <a:prstGeom prst="roundRect">
            <a:avLst>
              <a:gd fmla="val 740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/>
          <p:nvPr/>
        </p:nvSpPr>
        <p:spPr>
          <a:xfrm>
            <a:off x="887557" y="3758923"/>
            <a:ext cx="438900" cy="43890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887557" y="3758923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1500193" y="3640050"/>
            <a:ext cx="9666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r>
              <a:rPr b="0" i="0" lang="en-US" sz="3000" u="none" cap="none" strike="noStrike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   o que fazer em cada parada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1500200" y="3996675"/>
            <a:ext cx="972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PDDL com as condições legais e os recursos finitos. Decide as ações e os desvios de reposição.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685800" y="4685374"/>
            <a:ext cx="10820100" cy="1556400"/>
          </a:xfrm>
          <a:prstGeom prst="roundRect">
            <a:avLst>
              <a:gd fmla="val 11538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960120" y="5193792"/>
            <a:ext cx="10271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camada 3 nunca escolhe a rota: ela só anda pelas arestas que a camada 2 autorizou. Por isso trocar o roteirizador não muda uma linha do domínio.</a:t>
            </a:r>
            <a:endParaRPr b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METODOLOGIA - PIPELINE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323175" y="1529700"/>
            <a:ext cx="5309700" cy="3798600"/>
          </a:xfrm>
          <a:prstGeom prst="roundRect">
            <a:avLst>
              <a:gd fmla="val 294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 txBox="1"/>
          <p:nvPr/>
        </p:nvSpPr>
        <p:spPr>
          <a:xfrm>
            <a:off x="431862" y="1660275"/>
            <a:ext cx="492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Sistema validado em laboratór</a:t>
            </a:r>
            <a:r>
              <a:rPr b="1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431875" y="2139100"/>
            <a:ext cx="51033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Não é produto pronto para implantação em rede de saúde. 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Objetivo de entrega: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sistema com as camadas integradas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domínio PDDL mapeado dispositivo a dispositivo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a saída legível pelo agente de saúde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os experimentos reprodutíveis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·  o relatório técnico das medições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5740138" y="1529701"/>
            <a:ext cx="6128700" cy="1212900"/>
          </a:xfrm>
          <a:prstGeom prst="roundRect">
            <a:avLst>
              <a:gd fmla="val 7547" name="adj"/>
            </a:avLst>
          </a:prstGeom>
          <a:solidFill>
            <a:srgbClr val="DDE7E0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 txBox="1"/>
          <p:nvPr/>
        </p:nvSpPr>
        <p:spPr>
          <a:xfrm>
            <a:off x="5934475" y="1716823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25 / 09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7194033" y="1668372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Concepção e verificação de viabilidade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7194033" y="2117831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Delimitação do problema, revisão bibliográfica e implementação exploratória.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5740138" y="2864888"/>
            <a:ext cx="6128700" cy="1313400"/>
          </a:xfrm>
          <a:prstGeom prst="roundRect">
            <a:avLst>
              <a:gd fmla="val 754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5934475" y="3069206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02 /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7194033" y="2973545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Construção do sistema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7194033" y="3352934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completo, camada geométrica, política de seleção, saída operacional e experimentos.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740138" y="4278800"/>
            <a:ext cx="6128700" cy="969300"/>
          </a:xfrm>
          <a:prstGeom prst="roundRect">
            <a:avLst>
              <a:gd fmla="val 754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5934488" y="4432550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450"/>
              <a:buFont typeface="Cambria"/>
              <a:buNone/>
            </a:pPr>
            <a:r>
              <a:rPr b="1" i="0" lang="en-US" sz="225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09 / 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7194033" y="4319993"/>
            <a:ext cx="4572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450"/>
              <a:buFont typeface="Cambria"/>
              <a:buNone/>
            </a:pPr>
            <a:r>
              <a:rPr b="1" i="0" lang="en-US" sz="195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Consolidação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7194033" y="4635452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Análise crítica, relatório final e apresentação.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74650" y="304875"/>
            <a:ext cx="118278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ESPERADOS E CRONOGRAMA</a:t>
            </a:r>
            <a:endParaRPr b="1" sz="4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411475" y="1380351"/>
            <a:ext cx="3722400" cy="3900600"/>
          </a:xfrm>
          <a:prstGeom prst="roundRect">
            <a:avLst>
              <a:gd fmla="val 4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576319" y="1534230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558176" y="2088313"/>
            <a:ext cx="3319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busca trivial não escala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563726" y="2984971"/>
            <a:ext cx="341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Varrer o mesmo modelo declarativo sem heurística resolve até 5 ou 6 pacientes. Um turno real tem de 10 a 15.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4329450" y="1380400"/>
            <a:ext cx="3514500" cy="3900600"/>
          </a:xfrm>
          <a:prstGeom prst="roundRect">
            <a:avLst>
              <a:gd fmla="val 4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4457565" y="1534168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4460351" y="2011675"/>
            <a:ext cx="3235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está correto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4457575" y="3017525"/>
            <a:ext cx="323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planejador de referência independente concordou sobre viabilidade e plano mínimo em todas as instâncias testadas.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8015400" y="1380301"/>
            <a:ext cx="3490500" cy="3900600"/>
          </a:xfrm>
          <a:prstGeom prst="roundRect">
            <a:avLst>
              <a:gd fmla="val 4000" name="adj"/>
            </a:avLst>
          </a:prstGeom>
          <a:solidFill>
            <a:srgbClr val="F3DFD3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8089262" y="1523316"/>
            <a:ext cx="29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5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CONTRA A HIPÓTESE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8089250" y="2011725"/>
            <a:ext cx="3235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6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hipótese foi </a:t>
            </a:r>
            <a:r>
              <a:rPr b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refutada</a:t>
            </a:r>
            <a:r>
              <a:rPr b="1" lang="en-US" sz="3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8089250" y="2984971"/>
            <a:ext cx="3235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Uma correção manual no executor procedural zera os falsos negativos. Ele não era incapaz: faltava-lhe a regra.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85950" y="5503383"/>
            <a:ext cx="10820100" cy="713100"/>
          </a:xfrm>
          <a:prstGeom prst="roundRect">
            <a:avLst>
              <a:gd fmla="val 11538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960270" y="5576535"/>
            <a:ext cx="10271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50"/>
              <a:buFont typeface="Cambria"/>
              <a:buNone/>
            </a:pPr>
            <a:r>
              <a:rPr b="0" i="1" lang="en-US" sz="2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caminho 1 de erro, previsto no slide da hipótese, foi o que se materializou.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 txBox="1"/>
          <p:nvPr>
            <p:ph idx="4294967295" type="sldNum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RESULTADOS JÁ OBTIDOS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685800" y="1170432"/>
            <a:ext cx="10817352" cy="1481328"/>
          </a:xfrm>
          <a:prstGeom prst="roundRect">
            <a:avLst>
              <a:gd fmla="val 5806" name="adj"/>
            </a:avLst>
          </a:prstGeom>
          <a:solidFill>
            <a:srgbClr val="DD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960120" y="1243584"/>
            <a:ext cx="10268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8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“Manter a norma como especificação declarativa preserva a corretude do sistema diante de regras novas, a um custo de busca que ainda cabe num turno real.”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685800" y="2788920"/>
            <a:ext cx="5047488" cy="2423160"/>
          </a:xfrm>
          <a:prstGeom prst="roundRect">
            <a:avLst>
              <a:gd fmla="val 5376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923544" y="2944368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TIRE A CAMADA DECLARATIVA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923544" y="3401568"/>
            <a:ext cx="4700016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corretude se perde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923544" y="4023360"/>
            <a:ext cx="47000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programa procedural volta a falhar assim que entra uma regra que ninguém previu ao escrevê-lo.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5971032" y="2788920"/>
            <a:ext cx="5047488" cy="2423160"/>
          </a:xfrm>
          <a:prstGeom prst="roundRect">
            <a:avLst>
              <a:gd fmla="val 5376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208776" y="2944368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50"/>
              <a:buFont typeface="Calibri"/>
              <a:buNone/>
            </a:pP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TIRE A BUSCA HEURÍSTICA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6208776" y="3401568"/>
            <a:ext cx="4700016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30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turno não cabe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6208776" y="4023360"/>
            <a:ext cx="47000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35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Varrer o mesmo modelo sem heurística para em 5 ou 6 pacientes, e um turno real tem de 10 a 15.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1" i="0" lang="en-US" sz="2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Nenhuma das duas metades sozinha resolve o problema. Planejamento Automatizado é o nome da combinação.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411475" y="304883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4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REFORMULAÇÃO DA HIPÓTESE</a:t>
            </a:r>
            <a:endParaRPr b="1" sz="4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