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Abertura. O enunciado do ciclo pede um artefato que facilite o planejamento das visitas dos ACS. Quase todo mundo vai atacar isso como problema de rota. Nos tambem, mas descobrimos que a rota e so metade do problema. Nao mencione PDDL ainda.</a:t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ACS visita as familias da microarea. O enunciado cita percurso, equipe, urgencia e intervalo. Nosso recorte: um agente, um turno, rota ja definida. A dor que nos interessou e que chegar na casa nao autoriza atender: a lei condiciona, e algumas condicoes acabam no meio do turno.</a:t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Leia o trecho em voz alta: e a unica leitura literal que vale a pena no deck. Tres condicoes conjuntivas e um efeito obrigatorio: isso e exatamente um esquema de acao STRIPS, formalismo de 1971. STRIPS = pre-condicoes, o que passa a valer e o que deixa de valer. Se a norma mudar, edita-se a norma no dominio, nao o codigo de busca.</a:t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a rota esta fixa e cada visita fosse independente, o problema se decomporia e um laco for bastaria. O que impede isso sao os recursos finitos. Observacao honesta: a lei exige assistencia e nao diz nada sobre forma ou frequencia. Representa-la como recurso finito por turno, e encerra-la ao sair da casa, sao decisoes de modelagem NOSSAS.</a:t>
            </a:r>
            <a:endParaRPr/>
          </a:p>
        </p:txBody>
      </p:sp>
      <p:sp>
        <p:nvSpPr>
          <p:cNvPr id="59" name="Google Shape;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Nao leia os tres cartoes. Gaste o tempo no primeiro e no segundo. O ponto: a literatura JA sabe que qualificacao importa, mas trata como rotulo estatico, agente i atende paciente j. Gonzalez-Ferrer e o precedente que blinda a escolha: traduzir norma em dominio de planejamento nao e invencao nossa. Nas buscas realizadas nao achamos trabalho que junte as duas coisas.</a:t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e a parte metodologica que vale sublinhar: a hipotese pode estar errada, e o desenho admite isso. Nao formulamos uma pergunta que so podia dar certo. Guarde esta frase, porque o slide 10 vai cobrar: um dos dois caminhos de erro realmente se materializou.</a:t>
            </a:r>
            <a:endParaRPr/>
          </a:p>
        </p:txBody>
      </p:sp>
      <p:sp>
        <p:nvSpPr>
          <p:cNvPr id="96" name="Google Shape;9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3ba9990baba801d0_1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h3ba9990baba801d0_1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slide responde a secao 4 do guia. Nao leia os tres cartoes: diga que os sete objetivos especificos se agrupam em formalizar a norma, construir o sistema e validar com medicao, e que a verificacao em planejador de referencia e objetivo declarado, nao detalhe. Se perguntarem quantos sao, sao sete, e estao listados no documento.</a:t>
            </a:r>
            <a:endParaRPr/>
          </a:p>
        </p:txBody>
      </p:sp>
      <p:sp>
        <p:nvSpPr>
          <p:cNvPr id="113" name="Google Shape;113;h3ba9990baba801d0_1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Explique POR QUE sobra decisao para o planejador, senao a plateia conclui que ele e decorativo. A camada geometrica entrega a ordem congelada e o custo de desvio. O que sobra para o planejador: o que fazer em cada casa, quando acionar a supervisao, e em qual parada vale a pena sair da rota para repor. Se perguntarem por que nao OR-Tools: ele resolve a metade geometrica e nao a normativa.</a:t>
            </a:r>
            <a:endParaRPr/>
          </a:p>
        </p:txBody>
      </p:sp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Apresente as lacunas como lacunas conhecidas, nao como promessas. A mais visivel frente ao enunciado e prioridade e intervalo na selecao do turno. Se perguntarem sobre dados de pacientes: todos ficticios, so as coordenadas sao reais, para dar ordem de grandeza a matriz.</a:t>
            </a:r>
            <a:endParaRPr/>
          </a:p>
        </p:txBody>
      </p:sp>
      <p:sp>
        <p:nvSpPr>
          <p:cNvPr id="157" name="Google Shape;15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slide fecha o circulo com o slide 6. Dissemos que a hipotese podia estar errada de dois jeitos, e um deles aconteceu. Abrir isso e mais forte do que esconder: mostra que o desenho experimental funcionou. Nao entre em numero de instancia aqui; se perguntarem, foram 40 microareas sorteadas.</a:t>
            </a:r>
            <a:endParaRPr/>
          </a:p>
        </p:txBody>
      </p:sp>
      <p:sp>
        <p:nvSpPr>
          <p:cNvPr id="179" name="Google Shape;17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Fecho. O trunfo do trabalho nao e ter usado Planning. E termos medido COMO ele ajuda neste problema, inclusive descobrindo que a resposta nao era a que esperavamos. Se a banca perguntar o que sobrou: declaratividade com efeito medido, e prova de inviabilidade. Se perguntar o que caiu: economia de tempo e exclusividade de capacidade.</a:t>
            </a:r>
            <a:endParaRPr/>
          </a:p>
        </p:txBody>
      </p:sp>
      <p:sp>
        <p:nvSpPr>
          <p:cNvPr id="200" name="Google Shape;200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>
  <p:cSld name="CAP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">
  <p:cSld name="BAS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/>
        </p:nvSpPr>
        <p:spPr>
          <a:xfrm>
            <a:off x="685800" y="632764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INF99003 · Ciclo 2 · Grupo 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 txBox="1"/>
          <p:nvPr/>
        </p:nvSpPr>
        <p:spPr>
          <a:xfrm>
            <a:off x="1106424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/>
        </p:nvSpPr>
        <p:spPr>
          <a:xfrm>
            <a:off x="914400" y="246965"/>
            <a:ext cx="10332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150"/>
              <a:buFont typeface="Calibri"/>
              <a:buNone/>
            </a:pPr>
            <a:r>
              <a:rPr b="1" i="0" lang="en-US" sz="165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PROJETO EM CIÊNCIA E INOVAÇÃO · INF99003 · CICLO 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5"/>
          <p:cNvSpPr txBox="1"/>
          <p:nvPr/>
        </p:nvSpPr>
        <p:spPr>
          <a:xfrm>
            <a:off x="914400" y="1691650"/>
            <a:ext cx="87009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4000"/>
              <a:buFont typeface="Cambria"/>
              <a:buNone/>
            </a:pPr>
            <a:r>
              <a:rPr b="1" i="0" lang="en-US" sz="5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Planejamento</a:t>
            </a:r>
            <a:r>
              <a:rPr b="1" lang="en-US" sz="52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i="0" lang="en-US" sz="5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Automatizado para o</a:t>
            </a:r>
            <a:r>
              <a:rPr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5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cumprimento de</a:t>
            </a:r>
            <a:r>
              <a:rPr b="1" lang="en-US" sz="52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i="0" lang="en-US" sz="5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protocolos legais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"/>
          <p:cNvSpPr txBox="1"/>
          <p:nvPr/>
        </p:nvSpPr>
        <p:spPr>
          <a:xfrm>
            <a:off x="914400" y="4294025"/>
            <a:ext cx="932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650"/>
              <a:buFont typeface="Calibri"/>
              <a:buNone/>
            </a:pPr>
            <a:r>
              <a:rPr b="0" i="0" lang="en-US" sz="285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Visitas domiciliares de Agentes Comunitários de Saúde na Atenção Primária do SUS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914400" y="5640910"/>
            <a:ext cx="1920300" cy="22800"/>
          </a:xfrm>
          <a:prstGeom prst="rect">
            <a:avLst/>
          </a:prstGeom>
          <a:solidFill>
            <a:srgbClr val="D9C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6" name="Google Shape;26;p5"/>
          <p:cNvSpPr txBox="1"/>
          <p:nvPr/>
        </p:nvSpPr>
        <p:spPr>
          <a:xfrm>
            <a:off x="929638" y="5904380"/>
            <a:ext cx="1033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00"/>
              <a:buFont typeface="Cambria"/>
              <a:buNone/>
            </a:pPr>
            <a:r>
              <a:rPr b="1" i="0" lang="en-US" sz="2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Gabriel Pieruccini Knopp   ·   Arthur Andrade da Silva   ·   Izadora Candotti de Oliveira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 txBox="1"/>
          <p:nvPr/>
        </p:nvSpPr>
        <p:spPr>
          <a:xfrm>
            <a:off x="929638" y="6297572"/>
            <a:ext cx="1033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250"/>
              <a:buFont typeface="Calibri"/>
              <a:buNone/>
            </a:pPr>
            <a:r>
              <a:rPr b="0" i="0" lang="en-US" sz="175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Grupo B   ·   Instituto de Informática, UFRGS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/>
        </p:nvSpPr>
        <p:spPr>
          <a:xfrm>
            <a:off x="411475" y="304883"/>
            <a:ext cx="1082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48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CONTEXTUALIZAÇÃO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6"/>
          <p:cNvSpPr/>
          <p:nvPr/>
        </p:nvSpPr>
        <p:spPr>
          <a:xfrm>
            <a:off x="685800" y="1828800"/>
            <a:ext cx="5303400" cy="2633400"/>
          </a:xfrm>
          <a:prstGeom prst="roundRect">
            <a:avLst>
              <a:gd fmla="val 4255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923550" y="2025400"/>
            <a:ext cx="4698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1" lang="en-US" sz="20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problema costuma ser tratado como um </a:t>
            </a:r>
            <a:r>
              <a:rPr b="1" i="0" lang="en-US" sz="2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problema de percurso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6"/>
          <p:cNvSpPr txBox="1"/>
          <p:nvPr/>
        </p:nvSpPr>
        <p:spPr>
          <a:xfrm>
            <a:off x="923482" y="2697002"/>
            <a:ext cx="48279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50"/>
              <a:buFont typeface="Calibri"/>
              <a:buNone/>
            </a:pPr>
            <a:r>
              <a:rPr b="0" i="0" lang="en-US" sz="22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Minimizar deslocamento, cobrir o território no prazo e respeitar a capacidade da equipe</a:t>
            </a:r>
            <a:r>
              <a:rPr lang="en-US" sz="22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são coisas que </a:t>
            </a:r>
            <a:r>
              <a:rPr b="0" i="0" lang="en-US" sz="22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roteirizadores já resolvem bem.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6199625" y="1828800"/>
            <a:ext cx="5303400" cy="2633400"/>
          </a:xfrm>
          <a:prstGeom prst="roundRect">
            <a:avLst>
              <a:gd fmla="val 4255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 txBox="1"/>
          <p:nvPr/>
        </p:nvSpPr>
        <p:spPr>
          <a:xfrm>
            <a:off x="6437375" y="2025400"/>
            <a:ext cx="4827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1" lang="en-US" sz="20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Essa formulação deixa de fora uma norma importante</a:t>
            </a:r>
            <a:endParaRPr b="1" sz="20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9" name="Google Shape;39;p6"/>
          <p:cNvSpPr txBox="1"/>
          <p:nvPr/>
        </p:nvSpPr>
        <p:spPr>
          <a:xfrm>
            <a:off x="6437376" y="2751244"/>
            <a:ext cx="48279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50"/>
              <a:buFont typeface="Calibri"/>
              <a:buNone/>
            </a:pPr>
            <a:r>
              <a:rPr b="0" i="0" lang="en-US" sz="22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 Lei 11.350/2006 condiciona o que o agente pode fazer em cada residência. Nem toda condição é estática: insumo e supervisão se esgotam ao longo do turno.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685950" y="4690008"/>
            <a:ext cx="10820100" cy="1478700"/>
          </a:xfrm>
          <a:prstGeom prst="roundRect">
            <a:avLst>
              <a:gd fmla="val 11538" name="adj"/>
            </a:avLst>
          </a:prstGeom>
          <a:solidFill>
            <a:srgbClr val="F3DF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 txBox="1"/>
          <p:nvPr/>
        </p:nvSpPr>
        <p:spPr>
          <a:xfrm>
            <a:off x="960275" y="4744257"/>
            <a:ext cx="10271400" cy="13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50"/>
              <a:buFont typeface="Cambria"/>
              <a:buNone/>
            </a:pPr>
            <a:r>
              <a:rPr b="0" i="1" lang="en-US" sz="3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 pergunta não é qual o menor percurso, e sim se aquela sequência de atendimentos é executável sem violar a norma.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 txBox="1"/>
          <p:nvPr>
            <p:ph idx="4294967295" type="sldNum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/>
        </p:nvSpPr>
        <p:spPr>
          <a:xfrm>
            <a:off x="685800" y="749808"/>
            <a:ext cx="108200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7"/>
          <p:cNvSpPr/>
          <p:nvPr/>
        </p:nvSpPr>
        <p:spPr>
          <a:xfrm>
            <a:off x="685800" y="1173675"/>
            <a:ext cx="10820100" cy="2063400"/>
          </a:xfrm>
          <a:prstGeom prst="roundRect">
            <a:avLst>
              <a:gd fmla="val 5556" name="adj"/>
            </a:avLst>
          </a:prstGeom>
          <a:solidFill>
            <a:srgbClr val="F3DF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7"/>
          <p:cNvSpPr txBox="1"/>
          <p:nvPr/>
        </p:nvSpPr>
        <p:spPr>
          <a:xfrm>
            <a:off x="814850" y="1323425"/>
            <a:ext cx="10569300" cy="14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00"/>
              <a:buFont typeface="Cambria"/>
              <a:buNone/>
            </a:pPr>
            <a:r>
              <a:rPr b="0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“desde que </a:t>
            </a:r>
            <a:r>
              <a:rPr b="1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tenha concluído curso técnico</a:t>
            </a:r>
            <a:r>
              <a:rPr b="0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e </a:t>
            </a:r>
            <a:r>
              <a:rPr b="1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tenha disponíveis os equipamentos adequados</a:t>
            </a:r>
            <a:r>
              <a:rPr b="0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, são atividades do Agente […] </a:t>
            </a:r>
            <a:r>
              <a:rPr b="1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assistidas por profissional de saúde de nível superior</a:t>
            </a:r>
            <a:r>
              <a:rPr b="0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[…] a aferição da pressão arterial […], </a:t>
            </a:r>
            <a:r>
              <a:rPr b="1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encaminhando o paciente</a:t>
            </a:r>
            <a:r>
              <a:rPr b="0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para a unidade de referência”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826233" y="2864565"/>
            <a:ext cx="1023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Lei nº 11.350/2006, art. 3º § 4º, na redação da Lei nº 13.595/2018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689450" y="3626571"/>
            <a:ext cx="10820100" cy="2700900"/>
          </a:xfrm>
          <a:prstGeom prst="roundRect">
            <a:avLst>
              <a:gd fmla="val 4945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/>
        </p:nvSpPr>
        <p:spPr>
          <a:xfrm>
            <a:off x="978450" y="3808001"/>
            <a:ext cx="10234800" cy="23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A6B5B"/>
              </a:buClr>
              <a:buSzPts val="1300"/>
              <a:buFont typeface="Courier New"/>
              <a:buNone/>
            </a:pPr>
            <a:r>
              <a:rPr b="1" i="0" lang="en-US" sz="2300" u="none" cap="none" strike="noStrike">
                <a:solidFill>
                  <a:srgbClr val="4A6B5B"/>
                </a:solidFill>
                <a:latin typeface="Courier New"/>
                <a:ea typeface="Courier New"/>
                <a:cs typeface="Courier New"/>
                <a:sym typeface="Courier New"/>
              </a:rPr>
              <a:t>:precondition</a:t>
            </a:r>
            <a:r>
              <a:rPr b="0" i="0" lang="en-US" sz="23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  <a:t> (and (curso-tecnico-concluido ?ag)</a:t>
            </a:r>
            <a:br>
              <a:rPr b="0" i="0" lang="en-US" sz="23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3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(equipamento-disponivel ?ag)</a:t>
            </a:r>
            <a:br>
              <a:rPr b="0" i="0" lang="en-US" sz="23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3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(supervisao-ativa ?ag))</a:t>
            </a:r>
            <a:br>
              <a:rPr b="0" i="0" lang="en-US" sz="23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300" u="none" cap="none" strike="noStrike">
                <a:solidFill>
                  <a:srgbClr val="4A6B5B"/>
                </a:solidFill>
                <a:latin typeface="Courier New"/>
                <a:ea typeface="Courier New"/>
                <a:cs typeface="Courier New"/>
                <a:sym typeface="Courier New"/>
              </a:rPr>
              <a:t>:effect</a:t>
            </a:r>
            <a:r>
              <a:rPr b="0" i="0" lang="en-US" sz="23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  <a:t>       (and (pa-ok ?p)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300"/>
              <a:buFont typeface="Courier New"/>
              <a:buNone/>
            </a:pPr>
            <a:r>
              <a:rPr b="0" i="0" lang="en-US" sz="23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(pendencia-encaminhamento ?p))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7"/>
          <p:cNvSpPr txBox="1"/>
          <p:nvPr>
            <p:ph idx="4294967295" type="sldNum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"/>
          <p:cNvSpPr txBox="1"/>
          <p:nvPr/>
        </p:nvSpPr>
        <p:spPr>
          <a:xfrm>
            <a:off x="411475" y="304883"/>
            <a:ext cx="1082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48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JUSTIFICATIVA - PLANNING</a:t>
            </a:r>
            <a:endParaRPr b="1" sz="48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t/>
            </a:r>
            <a:endParaRPr b="1" sz="48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/>
          <p:nvPr/>
        </p:nvSpPr>
        <p:spPr>
          <a:xfrm>
            <a:off x="685800" y="1173678"/>
            <a:ext cx="5047500" cy="2227800"/>
          </a:xfrm>
          <a:prstGeom prst="roundRect">
            <a:avLst>
              <a:gd fmla="val 5814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 txBox="1"/>
          <p:nvPr/>
        </p:nvSpPr>
        <p:spPr>
          <a:xfrm>
            <a:off x="836734" y="132464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250"/>
              <a:buFont typeface="Calibri"/>
              <a:buNone/>
            </a:pPr>
            <a:r>
              <a:rPr b="1" i="0" lang="en-US" sz="22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RECURSO 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8"/>
          <p:cNvSpPr txBox="1"/>
          <p:nvPr/>
        </p:nvSpPr>
        <p:spPr>
          <a:xfrm>
            <a:off x="847585" y="1642967"/>
            <a:ext cx="457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1" i="0" lang="en-US" sz="3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Insumo consumível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8"/>
          <p:cNvSpPr txBox="1"/>
          <p:nvPr/>
        </p:nvSpPr>
        <p:spPr>
          <a:xfrm>
            <a:off x="836572" y="2068900"/>
            <a:ext cx="4752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50"/>
              <a:buFont typeface="Calibri"/>
              <a:buNone/>
            </a:pPr>
            <a:r>
              <a:rPr b="0" i="0" lang="en-US" sz="24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 fita de glicemia só se repõe na unidade de saúde. Acabar no meio da rota obriga um desvio não previsto.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5971025" y="1173778"/>
            <a:ext cx="5047500" cy="2227800"/>
          </a:xfrm>
          <a:prstGeom prst="roundRect">
            <a:avLst>
              <a:gd fmla="val 5814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"/>
          <p:cNvSpPr txBox="1"/>
          <p:nvPr/>
        </p:nvSpPr>
        <p:spPr>
          <a:xfrm>
            <a:off x="6077726" y="1324581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250"/>
              <a:buFont typeface="Calibri"/>
              <a:buNone/>
            </a:pPr>
            <a:r>
              <a:rPr b="1" i="0" lang="en-US" sz="22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RECURSO 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 txBox="1"/>
          <p:nvPr/>
        </p:nvSpPr>
        <p:spPr>
          <a:xfrm>
            <a:off x="6077726" y="1642952"/>
            <a:ext cx="457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1" i="0" lang="en-US" sz="3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Supervisão da equipe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 txBox="1"/>
          <p:nvPr/>
        </p:nvSpPr>
        <p:spPr>
          <a:xfrm>
            <a:off x="6077725" y="2071125"/>
            <a:ext cx="4752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50"/>
              <a:buFont typeface="Calibri"/>
              <a:buNone/>
            </a:pPr>
            <a:r>
              <a:rPr b="0" i="0" lang="en-US" sz="23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 § 4º exige assistência de profissional de nível superior, e ela se encerra quando o agente deixa a residência.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218050" y="3675900"/>
            <a:ext cx="11676000" cy="2357700"/>
          </a:xfrm>
          <a:prstGeom prst="roundRect">
            <a:avLst>
              <a:gd fmla="val 6338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8"/>
          <p:cNvSpPr txBox="1"/>
          <p:nvPr/>
        </p:nvSpPr>
        <p:spPr>
          <a:xfrm>
            <a:off x="428275" y="3840500"/>
            <a:ext cx="11338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900"/>
              <a:buFont typeface="Cambria"/>
              <a:buNone/>
            </a:pPr>
            <a:r>
              <a:rPr b="1" i="0" lang="en-US" sz="29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Uma decisão tomada na terceira parada pode inviabilizar a sétima.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 txBox="1"/>
          <p:nvPr/>
        </p:nvSpPr>
        <p:spPr>
          <a:xfrm>
            <a:off x="444925" y="4869566"/>
            <a:ext cx="1130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50"/>
              <a:buFont typeface="Calibri"/>
              <a:buNone/>
            </a:pPr>
            <a:r>
              <a:rPr b="0" i="0" lang="en-US" sz="31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 número de sequências candidatas cresce exponencialmente, e a interação entre decisões distantes na rota </a:t>
            </a:r>
            <a:r>
              <a:rPr lang="en-US" sz="31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se torna não</a:t>
            </a:r>
            <a:r>
              <a:rPr b="0" i="0" lang="en-US" sz="31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facilmente tratável por inspeção manual nem por planilha.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 txBox="1"/>
          <p:nvPr>
            <p:ph idx="4294967295" type="sldNum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 txBox="1"/>
          <p:nvPr/>
        </p:nvSpPr>
        <p:spPr>
          <a:xfrm>
            <a:off x="411475" y="304883"/>
            <a:ext cx="1082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48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JUSTIFICATIVA - </a:t>
            </a:r>
            <a:r>
              <a:rPr b="1" lang="en-US" sz="4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PLANNING</a:t>
            </a:r>
            <a:endParaRPr b="1" sz="48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685800" y="1173676"/>
            <a:ext cx="3448200" cy="3501900"/>
          </a:xfrm>
          <a:prstGeom prst="roundRect">
            <a:avLst>
              <a:gd fmla="val 4132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 txBox="1"/>
          <p:nvPr/>
        </p:nvSpPr>
        <p:spPr>
          <a:xfrm>
            <a:off x="814650" y="1340002"/>
            <a:ext cx="31905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5483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50"/>
              <a:buFont typeface="Cambria"/>
              <a:buNone/>
            </a:pPr>
            <a:r>
              <a:rPr b="1" i="0" lang="en-US" sz="215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Roteamento em saúde</a:t>
            </a:r>
            <a:r>
              <a:rPr b="1" lang="en-US" sz="215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i="0" lang="en-US" sz="215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domiciliar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 txBox="1"/>
          <p:nvPr/>
        </p:nvSpPr>
        <p:spPr>
          <a:xfrm>
            <a:off x="814650" y="2159307"/>
            <a:ext cx="3190500" cy="22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50"/>
              <a:buFont typeface="Calibri"/>
              <a:buNone/>
            </a:pPr>
            <a:r>
              <a:rPr b="0" i="0" lang="en-US" sz="195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Reconhece qualificação profissional como restrição, mas a modela como etiqueta fixa de compatibilidade.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50"/>
              <a:buFont typeface="Calibri"/>
              <a:buNone/>
            </a:pPr>
            <a:r>
              <a:rPr b="0" i="0" lang="en-US" sz="195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Fikar &amp; Hirsch (2017)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50"/>
              <a:buFont typeface="Calibri"/>
              <a:buNone/>
            </a:pPr>
            <a:r>
              <a:rPr b="0" i="0" lang="en-US" sz="195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Cissé et al. (2017)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4371750" y="1173676"/>
            <a:ext cx="3448200" cy="3501900"/>
          </a:xfrm>
          <a:prstGeom prst="roundRect">
            <a:avLst>
              <a:gd fmla="val 4132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9"/>
          <p:cNvSpPr txBox="1"/>
          <p:nvPr/>
        </p:nvSpPr>
        <p:spPr>
          <a:xfrm>
            <a:off x="4492475" y="1340093"/>
            <a:ext cx="31905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5483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50"/>
              <a:buFont typeface="Cambria"/>
              <a:buNone/>
            </a:pPr>
            <a:r>
              <a:rPr b="1" i="0" lang="en-US" sz="215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Planejamento em protocolos clínicos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 txBox="1"/>
          <p:nvPr/>
        </p:nvSpPr>
        <p:spPr>
          <a:xfrm>
            <a:off x="4485450" y="2213764"/>
            <a:ext cx="3220800" cy="22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50"/>
              <a:buFont typeface="Calibri"/>
              <a:buNone/>
            </a:pPr>
            <a:r>
              <a:rPr b="0" i="0" lang="en-US" sz="195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Traduz diretrizes clínicas para domínios de planejamento, mas sem componente de roteamento.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50"/>
              <a:buFont typeface="Calibri"/>
              <a:buNone/>
            </a:pPr>
            <a:r>
              <a:rPr b="0" i="0" lang="en-US" sz="195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González-Ferrer et al. (2013)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50"/>
              <a:buFont typeface="Calibri"/>
              <a:buNone/>
            </a:pPr>
            <a:r>
              <a:rPr b="0" i="0" lang="en-US" sz="195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Bradbrook et al. (2005)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8057700" y="1173676"/>
            <a:ext cx="3448200" cy="3501900"/>
          </a:xfrm>
          <a:prstGeom prst="roundRect">
            <a:avLst>
              <a:gd fmla="val 4132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9"/>
          <p:cNvSpPr txBox="1"/>
          <p:nvPr/>
        </p:nvSpPr>
        <p:spPr>
          <a:xfrm>
            <a:off x="8295437" y="1419578"/>
            <a:ext cx="29727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5483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50"/>
              <a:buFont typeface="Cambria"/>
              <a:buNone/>
            </a:pPr>
            <a:r>
              <a:rPr b="1" i="0" lang="en-US" sz="215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Ferramentas de mercado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 txBox="1"/>
          <p:nvPr/>
        </p:nvSpPr>
        <p:spPr>
          <a:xfrm>
            <a:off x="8262900" y="2311225"/>
            <a:ext cx="30378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50"/>
              <a:buFont typeface="Calibri"/>
              <a:buNone/>
            </a:pPr>
            <a:r>
              <a:rPr b="0" i="0" lang="en-US" sz="225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OR-Tools e OSRM otimizam a geometria. O e-SUS Território registra a visita, sem roteirizar nem verificar conformidade.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685800" y="4831075"/>
            <a:ext cx="10820100" cy="1496400"/>
          </a:xfrm>
          <a:prstGeom prst="roundRect">
            <a:avLst>
              <a:gd fmla="val 11538" name="adj"/>
            </a:avLst>
          </a:prstGeom>
          <a:solidFill>
            <a:srgbClr val="DDE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9"/>
          <p:cNvSpPr txBox="1"/>
          <p:nvPr/>
        </p:nvSpPr>
        <p:spPr>
          <a:xfrm>
            <a:off x="923550" y="4983475"/>
            <a:ext cx="104607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50"/>
              <a:buFont typeface="Cambria"/>
              <a:buNone/>
            </a:pPr>
            <a:r>
              <a:rPr b="0" i="1" lang="en-US" sz="265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Na literatura, a qualificação é uma etiqueta fixa. Na lei brasileira, ela é</a:t>
            </a:r>
            <a:r>
              <a:rPr i="1" lang="en-US" sz="265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1" lang="en-US" sz="265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uma soma de condições que se gastam durante o turno. É nessa</a:t>
            </a:r>
            <a:r>
              <a:rPr i="1" lang="en-US" sz="265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1" lang="en-US" sz="265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interseção que o projeto se posiciona.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 txBox="1"/>
          <p:nvPr>
            <p:ph idx="4294967295" type="sldNum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 txBox="1"/>
          <p:nvPr/>
        </p:nvSpPr>
        <p:spPr>
          <a:xfrm>
            <a:off x="411475" y="304883"/>
            <a:ext cx="1082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48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REVISÃO DE LITERATURA E MERCADO</a:t>
            </a:r>
            <a:endParaRPr b="1" sz="48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/>
          <p:nvPr/>
        </p:nvSpPr>
        <p:spPr>
          <a:xfrm>
            <a:off x="685800" y="1173673"/>
            <a:ext cx="10820100" cy="1980900"/>
          </a:xfrm>
          <a:prstGeom prst="roundRect">
            <a:avLst>
              <a:gd fmla="val 6000" name="adj"/>
            </a:avLst>
          </a:prstGeom>
          <a:solidFill>
            <a:srgbClr val="F3DF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0"/>
          <p:cNvSpPr txBox="1"/>
          <p:nvPr/>
        </p:nvSpPr>
        <p:spPr>
          <a:xfrm>
            <a:off x="869125" y="1315250"/>
            <a:ext cx="10515300" cy="16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1578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900"/>
              <a:buFont typeface="Cambria"/>
              <a:buNone/>
            </a:pPr>
            <a:r>
              <a:rPr b="1" i="1" lang="en-US" sz="30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</a:t>
            </a:r>
            <a:r>
              <a:rPr b="1" i="1" lang="en-US" sz="3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 representação declarativa das condições legais reduzirá a ocorrência de falsos negativos: turnos classificados como inexequíveis quando existe sequência válida.</a:t>
            </a:r>
            <a:r>
              <a:rPr b="1" i="1" lang="en-US" sz="30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”</a:t>
            </a:r>
            <a:endParaRPr b="0" i="1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685800" y="3401580"/>
            <a:ext cx="5047500" cy="2753400"/>
          </a:xfrm>
          <a:prstGeom prst="roundRect">
            <a:avLst>
              <a:gd fmla="val 5814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0"/>
          <p:cNvSpPr txBox="1"/>
          <p:nvPr/>
        </p:nvSpPr>
        <p:spPr>
          <a:xfrm>
            <a:off x="890990" y="3570182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250"/>
              <a:buFont typeface="Calibri"/>
              <a:buNone/>
            </a:pPr>
            <a:r>
              <a:rPr b="1" i="0" lang="en-US" sz="2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SE ESTIVERMOS ERRADOS, CAMINHO 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 txBox="1"/>
          <p:nvPr/>
        </p:nvSpPr>
        <p:spPr>
          <a:xfrm>
            <a:off x="860393" y="4062154"/>
            <a:ext cx="4698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1" i="0" lang="en-US" sz="3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planejador é redundante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 txBox="1"/>
          <p:nvPr/>
        </p:nvSpPr>
        <p:spPr>
          <a:xfrm>
            <a:off x="923550" y="4668293"/>
            <a:ext cx="4572000" cy="11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50"/>
              <a:buFont typeface="Calibri"/>
              <a:buNone/>
            </a:pPr>
            <a:r>
              <a:rPr b="0" i="0" lang="en-US" sz="26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Um executor procedural simples alcança desempenho equivalente.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5971025" y="3401580"/>
            <a:ext cx="5047500" cy="2753400"/>
          </a:xfrm>
          <a:prstGeom prst="roundRect">
            <a:avLst>
              <a:gd fmla="val 5814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 txBox="1"/>
          <p:nvPr/>
        </p:nvSpPr>
        <p:spPr>
          <a:xfrm>
            <a:off x="6165371" y="354848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250"/>
              <a:buFont typeface="Calibri"/>
              <a:buNone/>
            </a:pPr>
            <a:r>
              <a:rPr b="1" i="0" lang="en-US" sz="2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SE ESTIVERMOS ERRADOS, CAMINHO 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0"/>
          <p:cNvSpPr txBox="1"/>
          <p:nvPr/>
        </p:nvSpPr>
        <p:spPr>
          <a:xfrm>
            <a:off x="6208775" y="4062154"/>
            <a:ext cx="457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1" i="0" lang="en-US" sz="3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planejador não escala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 txBox="1"/>
          <p:nvPr/>
        </p:nvSpPr>
        <p:spPr>
          <a:xfrm>
            <a:off x="6165376" y="4685633"/>
            <a:ext cx="4572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50"/>
              <a:buFont typeface="Calibri"/>
              <a:buNone/>
            </a:pPr>
            <a:r>
              <a:rPr b="0" i="0" lang="en-US" sz="26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 custo da busca cresce a ponto de inviabilizar microáreas reais.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0"/>
          <p:cNvSpPr txBox="1"/>
          <p:nvPr>
            <p:ph idx="4294967295" type="sldNum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 txBox="1"/>
          <p:nvPr/>
        </p:nvSpPr>
        <p:spPr>
          <a:xfrm>
            <a:off x="411475" y="304883"/>
            <a:ext cx="1082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48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HIPÓTESE</a:t>
            </a:r>
            <a:endParaRPr b="1" sz="48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512175" y="1173675"/>
            <a:ext cx="11349300" cy="1791000"/>
          </a:xfrm>
          <a:prstGeom prst="roundRect">
            <a:avLst>
              <a:gd fmla="val 7627" name="adj"/>
            </a:avLst>
          </a:prstGeom>
          <a:solidFill>
            <a:srgbClr val="F3DF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/>
        </p:nvSpPr>
        <p:spPr>
          <a:xfrm>
            <a:off x="804783" y="1283401"/>
            <a:ext cx="365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150"/>
              <a:buFont typeface="Calibri"/>
              <a:buNone/>
            </a:pPr>
            <a:r>
              <a:rPr b="1" i="0" lang="en-US" sz="18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OBJETIVO GERAL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 txBox="1"/>
          <p:nvPr/>
        </p:nvSpPr>
        <p:spPr>
          <a:xfrm>
            <a:off x="804775" y="1557725"/>
            <a:ext cx="108201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50"/>
              <a:buFont typeface="Cambria"/>
              <a:buNone/>
            </a:pPr>
            <a:r>
              <a:rPr b="0" i="0" lang="en-US" sz="24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Modelar, implementar e validar um sistema de apoio ao planejamento de turnos de visitas domiciliares, e mensurar em que dimensões o paradigma supera um executor procedural equivalente.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685950" y="3192525"/>
            <a:ext cx="3448200" cy="2621400"/>
          </a:xfrm>
          <a:prstGeom prst="roundRect">
            <a:avLst>
              <a:gd fmla="val 4762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1"/>
          <p:cNvSpPr txBox="1"/>
          <p:nvPr/>
        </p:nvSpPr>
        <p:spPr>
          <a:xfrm>
            <a:off x="923694" y="3343847"/>
            <a:ext cx="2972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700"/>
              <a:buFont typeface="Cambria"/>
              <a:buNone/>
            </a:pPr>
            <a:r>
              <a:rPr b="1" i="0" lang="en-US" sz="2200" u="none" cap="none" strike="noStrike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Formalizar </a:t>
            </a:r>
            <a:r>
              <a:rPr b="1" lang="en-US" sz="2200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b="1" i="0" lang="en-US" sz="2200" u="none" cap="none" strike="noStrike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 norma em domínio PDDL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 txBox="1"/>
          <p:nvPr/>
        </p:nvSpPr>
        <p:spPr>
          <a:xfrm>
            <a:off x="923694" y="4423999"/>
            <a:ext cx="2972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1"/>
          <p:cNvSpPr txBox="1"/>
          <p:nvPr/>
        </p:nvSpPr>
        <p:spPr>
          <a:xfrm>
            <a:off x="923725" y="4076524"/>
            <a:ext cx="2972700" cy="15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50"/>
              <a:buFont typeface="Calibri"/>
              <a:buNone/>
            </a:pPr>
            <a:r>
              <a:rPr b="0" i="0" lang="en-US" sz="205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Traduzir os §§ 3º e 4º do art. 3º da Lei 11.350/2006 e as diretrizes da PNAB em ações, pré-condições e efeitos.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4371900" y="3192525"/>
            <a:ext cx="3448200" cy="2621400"/>
          </a:xfrm>
          <a:prstGeom prst="roundRect">
            <a:avLst>
              <a:gd fmla="val 4762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1"/>
          <p:cNvSpPr txBox="1"/>
          <p:nvPr/>
        </p:nvSpPr>
        <p:spPr>
          <a:xfrm>
            <a:off x="4609650" y="3342755"/>
            <a:ext cx="29727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700"/>
              <a:buFont typeface="Cambria"/>
              <a:buNone/>
            </a:pPr>
            <a:r>
              <a:rPr b="1" i="0" lang="en-US" sz="2200" u="none" cap="none" strike="noStrike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Construir </a:t>
            </a:r>
            <a:r>
              <a:rPr b="1" lang="en-US" sz="2200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o</a:t>
            </a:r>
            <a:r>
              <a:rPr b="1" i="0" lang="en-US" sz="2200" u="none" cap="none" strike="noStrike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 sistema e o ambiente de medição</a:t>
            </a:r>
            <a:endParaRPr b="1" i="0" sz="2200" u="none" cap="none" strike="noStrike">
              <a:solidFill>
                <a:srgbClr val="B35C38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700"/>
              <a:buFont typeface="Cambria"/>
              <a:buNone/>
            </a:pPr>
            <a:r>
              <a:t/>
            </a:r>
            <a:endParaRPr b="1" sz="1700">
              <a:solidFill>
                <a:srgbClr val="B35C38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4" name="Google Shape;124;p11"/>
          <p:cNvSpPr txBox="1"/>
          <p:nvPr/>
        </p:nvSpPr>
        <p:spPr>
          <a:xfrm>
            <a:off x="4609650" y="3929850"/>
            <a:ext cx="2972700" cy="17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50"/>
              <a:buFont typeface="Calibri"/>
              <a:buNone/>
            </a:pPr>
            <a:r>
              <a:rPr b="0" i="0" lang="en-US" sz="205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 camada geométrica, o tradutor para PDDL, o executor procedural de referência e a saída legível pelo agente.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8057850" y="3192475"/>
            <a:ext cx="3448200" cy="2621400"/>
          </a:xfrm>
          <a:prstGeom prst="roundRect">
            <a:avLst>
              <a:gd fmla="val 4762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1"/>
          <p:cNvSpPr txBox="1"/>
          <p:nvPr/>
        </p:nvSpPr>
        <p:spPr>
          <a:xfrm>
            <a:off x="8182875" y="3553986"/>
            <a:ext cx="3201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4A6B5B"/>
              </a:buClr>
              <a:buSzPts val="1700"/>
              <a:buFont typeface="Cambria"/>
              <a:buNone/>
            </a:pPr>
            <a:r>
              <a:rPr b="1" i="0" lang="en-US" sz="2200" u="none" cap="none" strike="noStrike">
                <a:solidFill>
                  <a:srgbClr val="4A6B5B"/>
                </a:solidFill>
                <a:latin typeface="Cambria"/>
                <a:ea typeface="Cambria"/>
                <a:cs typeface="Cambria"/>
                <a:sym typeface="Cambria"/>
              </a:rPr>
              <a:t>Validar </a:t>
            </a:r>
            <a:r>
              <a:rPr b="1" lang="en-US" sz="2200">
                <a:solidFill>
                  <a:srgbClr val="4A6B5B"/>
                </a:solidFill>
                <a:latin typeface="Cambria"/>
                <a:ea typeface="Cambria"/>
                <a:cs typeface="Cambria"/>
                <a:sym typeface="Cambria"/>
              </a:rPr>
              <a:t>os </a:t>
            </a:r>
            <a:r>
              <a:rPr b="1" i="0" lang="en-US" sz="2200" u="none" cap="none" strike="noStrike">
                <a:solidFill>
                  <a:srgbClr val="4A6B5B"/>
                </a:solidFill>
                <a:latin typeface="Cambria"/>
                <a:ea typeface="Cambria"/>
                <a:cs typeface="Cambria"/>
                <a:sym typeface="Cambria"/>
              </a:rPr>
              <a:t>experimentos e a independência</a:t>
            </a:r>
            <a:endParaRPr b="1" i="0" sz="2200" u="none" cap="none" strike="noStrike">
              <a:solidFill>
                <a:srgbClr val="4A6B5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4A6B5B"/>
              </a:buClr>
              <a:buSzPts val="1700"/>
              <a:buFont typeface="Cambria"/>
              <a:buNone/>
            </a:pPr>
            <a:r>
              <a:t/>
            </a:r>
            <a:endParaRPr b="1" sz="2200">
              <a:solidFill>
                <a:srgbClr val="4A6B5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7" name="Google Shape;127;p11"/>
          <p:cNvSpPr txBox="1"/>
          <p:nvPr/>
        </p:nvSpPr>
        <p:spPr>
          <a:xfrm>
            <a:off x="8182875" y="4032000"/>
            <a:ext cx="3201600" cy="15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50"/>
              <a:buFont typeface="Calibri"/>
              <a:buNone/>
            </a:pPr>
            <a:r>
              <a:rPr b="0" i="0" lang="en-US" sz="205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Escalabilidade, qualidade de plano e reconhecimento de inviabilidade, com conferência em planejador de referência.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 txBox="1"/>
          <p:nvPr>
            <p:ph idx="4294967295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1"/>
          <p:cNvSpPr txBox="1"/>
          <p:nvPr/>
        </p:nvSpPr>
        <p:spPr>
          <a:xfrm>
            <a:off x="411475" y="304883"/>
            <a:ext cx="1082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48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OBJETIVOS</a:t>
            </a:r>
            <a:endParaRPr b="1" sz="48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/>
          <p:nvPr/>
        </p:nvSpPr>
        <p:spPr>
          <a:xfrm>
            <a:off x="685950" y="1173680"/>
            <a:ext cx="10820100" cy="987600"/>
          </a:xfrm>
          <a:prstGeom prst="roundRect">
            <a:avLst>
              <a:gd fmla="val 7407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2"/>
          <p:cNvSpPr/>
          <p:nvPr/>
        </p:nvSpPr>
        <p:spPr>
          <a:xfrm>
            <a:off x="941982" y="1448000"/>
            <a:ext cx="438900" cy="438900"/>
          </a:xfrm>
          <a:prstGeom prst="ellipse">
            <a:avLst/>
          </a:prstGeom>
          <a:solidFill>
            <a:srgbClr val="B35C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"/>
          <p:cNvSpPr txBox="1"/>
          <p:nvPr/>
        </p:nvSpPr>
        <p:spPr>
          <a:xfrm>
            <a:off x="941982" y="144800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2"/>
          <p:cNvSpPr txBox="1"/>
          <p:nvPr/>
        </p:nvSpPr>
        <p:spPr>
          <a:xfrm>
            <a:off x="1554623" y="1329125"/>
            <a:ext cx="5771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700"/>
              <a:buFont typeface="Cambria"/>
              <a:buNone/>
            </a:pPr>
            <a:r>
              <a:rPr b="1" i="0" lang="en-US" sz="3000" u="none" cap="none" strike="noStrike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Seleção:</a:t>
            </a:r>
            <a:r>
              <a:rPr b="0" i="0" lang="en-US" sz="3000" u="none" cap="none" strike="noStrike">
                <a:solidFill>
                  <a:srgbClr val="5C4F41"/>
                </a:solidFill>
                <a:latin typeface="Cambria"/>
                <a:ea typeface="Cambria"/>
                <a:cs typeface="Cambria"/>
                <a:sym typeface="Cambria"/>
              </a:rPr>
              <a:t>  quem entra no turno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2"/>
          <p:cNvSpPr txBox="1"/>
          <p:nvPr/>
        </p:nvSpPr>
        <p:spPr>
          <a:xfrm>
            <a:off x="1554625" y="1685750"/>
            <a:ext cx="9720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00"/>
              <a:buFont typeface="Calibri"/>
              <a:buNone/>
            </a:pPr>
            <a:r>
              <a:rPr b="0" i="0" lang="en-US" sz="22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Prioridade clínica e atraso em relação ao intervalo máximo, sob orçamento de tempo.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2"/>
          <p:cNvSpPr/>
          <p:nvPr/>
        </p:nvSpPr>
        <p:spPr>
          <a:xfrm>
            <a:off x="631525" y="2333323"/>
            <a:ext cx="10820100" cy="987600"/>
          </a:xfrm>
          <a:prstGeom prst="roundRect">
            <a:avLst>
              <a:gd fmla="val 7407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2"/>
          <p:cNvSpPr/>
          <p:nvPr/>
        </p:nvSpPr>
        <p:spPr>
          <a:xfrm>
            <a:off x="887557" y="2607643"/>
            <a:ext cx="438900" cy="438900"/>
          </a:xfrm>
          <a:prstGeom prst="ellipse">
            <a:avLst/>
          </a:prstGeom>
          <a:solidFill>
            <a:srgbClr val="B35C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2"/>
          <p:cNvSpPr txBox="1"/>
          <p:nvPr/>
        </p:nvSpPr>
        <p:spPr>
          <a:xfrm>
            <a:off x="887557" y="2607643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2"/>
          <p:cNvSpPr txBox="1"/>
          <p:nvPr/>
        </p:nvSpPr>
        <p:spPr>
          <a:xfrm>
            <a:off x="1500193" y="2488775"/>
            <a:ext cx="9720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700"/>
              <a:buFont typeface="Cambria"/>
              <a:buNone/>
            </a:pPr>
            <a:r>
              <a:rPr b="1" i="0" lang="en-US" sz="3000" u="none" cap="none" strike="noStrike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Roteamento</a:t>
            </a:r>
            <a:r>
              <a:rPr b="0" i="0" lang="en-US" sz="3000" u="none" cap="none" strike="noStrike">
                <a:solidFill>
                  <a:srgbClr val="5C4F41"/>
                </a:solidFill>
                <a:latin typeface="Cambria"/>
                <a:ea typeface="Cambria"/>
                <a:cs typeface="Cambria"/>
                <a:sym typeface="Cambria"/>
              </a:rPr>
              <a:t>   em que ordem visitar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2"/>
          <p:cNvSpPr txBox="1"/>
          <p:nvPr/>
        </p:nvSpPr>
        <p:spPr>
          <a:xfrm>
            <a:off x="1500200" y="2845375"/>
            <a:ext cx="9720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00"/>
              <a:buFont typeface="Calibri"/>
              <a:buNone/>
            </a:pPr>
            <a:r>
              <a:rPr b="0" i="0" lang="en-US" sz="19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Heurística de grafos sobre a matriz de distâncias. Entrega a rota e o custo de desviar até a unidade.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2"/>
          <p:cNvSpPr/>
          <p:nvPr/>
        </p:nvSpPr>
        <p:spPr>
          <a:xfrm>
            <a:off x="631525" y="3484603"/>
            <a:ext cx="10820100" cy="987600"/>
          </a:xfrm>
          <a:prstGeom prst="roundRect">
            <a:avLst>
              <a:gd fmla="val 7407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2"/>
          <p:cNvSpPr/>
          <p:nvPr/>
        </p:nvSpPr>
        <p:spPr>
          <a:xfrm>
            <a:off x="887557" y="3758923"/>
            <a:ext cx="438900" cy="438900"/>
          </a:xfrm>
          <a:prstGeom prst="ellipse">
            <a:avLst/>
          </a:prstGeom>
          <a:solidFill>
            <a:srgbClr val="4A6B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"/>
          <p:cNvSpPr txBox="1"/>
          <p:nvPr/>
        </p:nvSpPr>
        <p:spPr>
          <a:xfrm>
            <a:off x="887557" y="3758923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2"/>
          <p:cNvSpPr txBox="1"/>
          <p:nvPr/>
        </p:nvSpPr>
        <p:spPr>
          <a:xfrm>
            <a:off x="1500193" y="3640050"/>
            <a:ext cx="9666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5B"/>
              </a:buClr>
              <a:buSzPts val="1700"/>
              <a:buFont typeface="Cambria"/>
              <a:buNone/>
            </a:pPr>
            <a:r>
              <a:rPr b="1" i="0" lang="en-US" sz="3000" u="none" cap="none" strike="noStrike">
                <a:solidFill>
                  <a:srgbClr val="4A6B5B"/>
                </a:solidFill>
                <a:latin typeface="Cambria"/>
                <a:ea typeface="Cambria"/>
                <a:cs typeface="Cambria"/>
                <a:sym typeface="Cambria"/>
              </a:rPr>
              <a:t>Planejamento</a:t>
            </a:r>
            <a:r>
              <a:rPr b="0" i="0" lang="en-US" sz="3000" u="none" cap="none" strike="noStrike">
                <a:solidFill>
                  <a:srgbClr val="5C4F41"/>
                </a:solidFill>
                <a:latin typeface="Cambria"/>
                <a:ea typeface="Cambria"/>
                <a:cs typeface="Cambria"/>
                <a:sym typeface="Cambria"/>
              </a:rPr>
              <a:t>   o que fazer em cada parada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2"/>
          <p:cNvSpPr txBox="1"/>
          <p:nvPr/>
        </p:nvSpPr>
        <p:spPr>
          <a:xfrm>
            <a:off x="1500200" y="3996675"/>
            <a:ext cx="9720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00"/>
              <a:buFont typeface="Calibri"/>
              <a:buNone/>
            </a:pPr>
            <a:r>
              <a:rPr b="0" i="0" lang="en-US" sz="18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Domínio PDDL com as condições legais e os recursos finitos. Decide as ações e os desvios de reposição.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685800" y="4685374"/>
            <a:ext cx="10820100" cy="1556400"/>
          </a:xfrm>
          <a:prstGeom prst="roundRect">
            <a:avLst>
              <a:gd fmla="val 11538" name="adj"/>
            </a:avLst>
          </a:prstGeom>
          <a:solidFill>
            <a:srgbClr val="DDE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2"/>
          <p:cNvSpPr txBox="1"/>
          <p:nvPr/>
        </p:nvSpPr>
        <p:spPr>
          <a:xfrm>
            <a:off x="960120" y="5193792"/>
            <a:ext cx="1027145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50"/>
              <a:buFont typeface="Cambria"/>
              <a:buNone/>
            </a:pPr>
            <a:r>
              <a:rPr b="0" lang="en-US" sz="28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 camada 3 nunca escolhe a rota: ela só anda pelas arestas que a camada 2 autorizou. Por isso trocar o roteirizador não muda uma linha do domínio.</a:t>
            </a:r>
            <a:endParaRPr b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 txBox="1"/>
          <p:nvPr>
            <p:ph idx="4294967295" type="sldNum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2"/>
          <p:cNvSpPr txBox="1"/>
          <p:nvPr/>
        </p:nvSpPr>
        <p:spPr>
          <a:xfrm>
            <a:off x="411475" y="304883"/>
            <a:ext cx="1082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48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METODOLOGIA - PIPELINE</a:t>
            </a:r>
            <a:endParaRPr b="1" sz="48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/>
          <p:nvPr/>
        </p:nvSpPr>
        <p:spPr>
          <a:xfrm>
            <a:off x="323175" y="1529700"/>
            <a:ext cx="5309700" cy="3798600"/>
          </a:xfrm>
          <a:prstGeom prst="roundRect">
            <a:avLst>
              <a:gd fmla="val 2941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"/>
          <p:cNvSpPr txBox="1"/>
          <p:nvPr/>
        </p:nvSpPr>
        <p:spPr>
          <a:xfrm>
            <a:off x="431862" y="1660275"/>
            <a:ext cx="4926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1" i="0" lang="en-US" sz="26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Sistema validado em laboratór</a:t>
            </a:r>
            <a:r>
              <a:rPr b="1" i="0" lang="en-US" sz="26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io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 txBox="1"/>
          <p:nvPr/>
        </p:nvSpPr>
        <p:spPr>
          <a:xfrm>
            <a:off x="431875" y="2139100"/>
            <a:ext cx="5103300" cy="29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00"/>
              <a:buFont typeface="Calibri"/>
              <a:buNone/>
            </a:pPr>
            <a:r>
              <a:rPr b="0" i="0" lang="en-US" sz="19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Não é produto pronto para implantação em rede de saúde. </a:t>
            </a:r>
            <a:r>
              <a:rPr lang="en-US" sz="19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Objetivo de entrega: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00"/>
              <a:buFont typeface="Calibri"/>
              <a:buNone/>
            </a:pPr>
            <a:r>
              <a:rPr b="0" i="0" lang="en-US" sz="19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·  o sistema com as camadas integradas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00"/>
              <a:buFont typeface="Calibri"/>
              <a:buNone/>
            </a:pPr>
            <a:r>
              <a:rPr b="0" i="0" lang="en-US" sz="19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·  o domínio PDDL mapeado dispositivo a dispositivo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00"/>
              <a:buFont typeface="Calibri"/>
              <a:buNone/>
            </a:pPr>
            <a:r>
              <a:rPr b="0" i="0" lang="en-US" sz="19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·  a saída legível pelo agente de saúde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00"/>
              <a:buFont typeface="Calibri"/>
              <a:buNone/>
            </a:pPr>
            <a:r>
              <a:rPr b="0" i="0" lang="en-US" sz="19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·  os experimentos reprodutíveis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00"/>
              <a:buFont typeface="Calibri"/>
              <a:buNone/>
            </a:pPr>
            <a:r>
              <a:rPr b="0" i="0" lang="en-US" sz="19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·  o relatório técnico das medições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5740138" y="1529701"/>
            <a:ext cx="6128700" cy="1212900"/>
          </a:xfrm>
          <a:prstGeom prst="roundRect">
            <a:avLst>
              <a:gd fmla="val 7547" name="adj"/>
            </a:avLst>
          </a:prstGeom>
          <a:solidFill>
            <a:srgbClr val="DDE7E0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3"/>
          <p:cNvSpPr txBox="1"/>
          <p:nvPr/>
        </p:nvSpPr>
        <p:spPr>
          <a:xfrm>
            <a:off x="5934475" y="1716823"/>
            <a:ext cx="1143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4A6B5B"/>
              </a:buClr>
              <a:buSzPts val="1450"/>
              <a:buFont typeface="Cambria"/>
              <a:buNone/>
            </a:pPr>
            <a:r>
              <a:rPr b="1" i="0" lang="en-US" sz="2250" u="none" cap="none" strike="noStrike">
                <a:solidFill>
                  <a:srgbClr val="4A6B5B"/>
                </a:solidFill>
                <a:latin typeface="Cambria"/>
                <a:ea typeface="Cambria"/>
                <a:cs typeface="Cambria"/>
                <a:sym typeface="Cambria"/>
              </a:rPr>
              <a:t>25 / 09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 txBox="1"/>
          <p:nvPr/>
        </p:nvSpPr>
        <p:spPr>
          <a:xfrm>
            <a:off x="7194033" y="1668372"/>
            <a:ext cx="4572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450"/>
              <a:buFont typeface="Cambria"/>
              <a:buNone/>
            </a:pPr>
            <a:r>
              <a:rPr b="1" i="0" lang="en-US" sz="195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Concepção e verificação de viabilidade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 txBox="1"/>
          <p:nvPr/>
        </p:nvSpPr>
        <p:spPr>
          <a:xfrm>
            <a:off x="7194033" y="2117831"/>
            <a:ext cx="4572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Delimitação do problema, revisão bibliográfica e implementação exploratória.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5740138" y="2864888"/>
            <a:ext cx="6128700" cy="1313400"/>
          </a:xfrm>
          <a:prstGeom prst="roundRect">
            <a:avLst>
              <a:gd fmla="val 7547" name="adj"/>
            </a:avLst>
          </a:prstGeom>
          <a:solidFill>
            <a:srgbClr val="F0F4F9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3"/>
          <p:cNvSpPr txBox="1"/>
          <p:nvPr/>
        </p:nvSpPr>
        <p:spPr>
          <a:xfrm>
            <a:off x="5934475" y="3069206"/>
            <a:ext cx="1143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450"/>
              <a:buFont typeface="Cambria"/>
              <a:buNone/>
            </a:pPr>
            <a:r>
              <a:rPr b="1" i="0" lang="en-US" sz="2250" u="none" cap="none" strike="noStrike">
                <a:solidFill>
                  <a:srgbClr val="BF9000"/>
                </a:solidFill>
                <a:latin typeface="Cambria"/>
                <a:ea typeface="Cambria"/>
                <a:cs typeface="Cambria"/>
                <a:sym typeface="Cambria"/>
              </a:rPr>
              <a:t>02 / 10</a:t>
            </a:r>
            <a:endParaRPr b="0" i="0" sz="2250" u="none" cap="none" strike="noStrike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7194033" y="2973545"/>
            <a:ext cx="4572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450"/>
              <a:buFont typeface="Cambria"/>
              <a:buNone/>
            </a:pPr>
            <a:r>
              <a:rPr b="1" i="0" lang="en-US" sz="195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Construção do sistema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 txBox="1"/>
          <p:nvPr/>
        </p:nvSpPr>
        <p:spPr>
          <a:xfrm>
            <a:off x="7194033" y="3352934"/>
            <a:ext cx="4572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Domínio completo, camada geométrica, política de seleção, saída operacional e experimentos.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5740138" y="4278800"/>
            <a:ext cx="6128700" cy="969300"/>
          </a:xfrm>
          <a:prstGeom prst="roundRect">
            <a:avLst>
              <a:gd fmla="val 7547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"/>
          <p:cNvSpPr txBox="1"/>
          <p:nvPr/>
        </p:nvSpPr>
        <p:spPr>
          <a:xfrm>
            <a:off x="5934488" y="4432550"/>
            <a:ext cx="1143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450"/>
              <a:buFont typeface="Cambria"/>
              <a:buNone/>
            </a:pPr>
            <a:r>
              <a:rPr b="1" i="0" lang="en-US" sz="2250" u="none" cap="none" strike="noStrike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09 / 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7194033" y="4319993"/>
            <a:ext cx="4572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450"/>
              <a:buFont typeface="Cambria"/>
              <a:buNone/>
            </a:pPr>
            <a:r>
              <a:rPr b="1" i="0" lang="en-US" sz="195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Consolidação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"/>
          <p:cNvSpPr txBox="1"/>
          <p:nvPr/>
        </p:nvSpPr>
        <p:spPr>
          <a:xfrm>
            <a:off x="7194033" y="4635452"/>
            <a:ext cx="4572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Análise crítica, relatório final e apresentação.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 txBox="1"/>
          <p:nvPr>
            <p:ph idx="4294967295" type="sldNum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 txBox="1"/>
          <p:nvPr/>
        </p:nvSpPr>
        <p:spPr>
          <a:xfrm>
            <a:off x="174650" y="304875"/>
            <a:ext cx="118278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4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RESULTADOS ESPERADOS E CRONOGRAMA</a:t>
            </a:r>
            <a:endParaRPr b="1" sz="47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/>
          <p:nvPr/>
        </p:nvSpPr>
        <p:spPr>
          <a:xfrm>
            <a:off x="411475" y="1380351"/>
            <a:ext cx="3722400" cy="3900600"/>
          </a:xfrm>
          <a:prstGeom prst="roundRect">
            <a:avLst>
              <a:gd fmla="val 4000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4"/>
          <p:cNvSpPr txBox="1"/>
          <p:nvPr/>
        </p:nvSpPr>
        <p:spPr>
          <a:xfrm>
            <a:off x="576319" y="1534230"/>
            <a:ext cx="297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4A6B5B"/>
              </a:buClr>
              <a:buSzPts val="1250"/>
              <a:buFont typeface="Calibri"/>
              <a:buNone/>
            </a:pPr>
            <a:r>
              <a:rPr b="1" i="0" lang="en-US" sz="2050" u="none" cap="none" strike="noStrike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rPr>
              <a:t>A FAVOR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4"/>
          <p:cNvSpPr txBox="1"/>
          <p:nvPr/>
        </p:nvSpPr>
        <p:spPr>
          <a:xfrm>
            <a:off x="558176" y="2088313"/>
            <a:ext cx="3319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600"/>
              <a:buFont typeface="Cambria"/>
              <a:buNone/>
            </a:pPr>
            <a:r>
              <a:rPr b="1" i="0" lang="en-US" sz="3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 busca trivial não escala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 txBox="1"/>
          <p:nvPr/>
        </p:nvSpPr>
        <p:spPr>
          <a:xfrm>
            <a:off x="563726" y="2984971"/>
            <a:ext cx="3417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00"/>
              <a:buFont typeface="Calibri"/>
              <a:buNone/>
            </a:pPr>
            <a:r>
              <a:rPr b="0" i="0" lang="en-US" sz="24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Varrer o mesmo modelo declarativo sem heurística resolve até 5 ou 6 pacientes. Um turno real tem de 10 a 15.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4329450" y="1380400"/>
            <a:ext cx="3514500" cy="3900600"/>
          </a:xfrm>
          <a:prstGeom prst="roundRect">
            <a:avLst>
              <a:gd fmla="val 4000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4"/>
          <p:cNvSpPr txBox="1"/>
          <p:nvPr/>
        </p:nvSpPr>
        <p:spPr>
          <a:xfrm>
            <a:off x="4457565" y="1534168"/>
            <a:ext cx="297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4A6B5B"/>
              </a:buClr>
              <a:buSzPts val="1250"/>
              <a:buFont typeface="Calibri"/>
              <a:buNone/>
            </a:pPr>
            <a:r>
              <a:rPr b="1" i="0" lang="en-US" sz="2050" u="none" cap="none" strike="noStrike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rPr>
              <a:t>A FAVOR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 txBox="1"/>
          <p:nvPr/>
        </p:nvSpPr>
        <p:spPr>
          <a:xfrm>
            <a:off x="4460351" y="2011675"/>
            <a:ext cx="3235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600"/>
              <a:buFont typeface="Cambria"/>
              <a:buNone/>
            </a:pPr>
            <a:r>
              <a:rPr b="1" i="0" lang="en-US" sz="3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planejador está correto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 txBox="1"/>
          <p:nvPr/>
        </p:nvSpPr>
        <p:spPr>
          <a:xfrm>
            <a:off x="4457575" y="3017525"/>
            <a:ext cx="3235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00"/>
              <a:buFont typeface="Calibri"/>
              <a:buNone/>
            </a:pPr>
            <a:r>
              <a:rPr b="0" i="0" lang="en-US" sz="22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Um planejador de referência independente concordou sobre viabilidade e plano mínimo em todas as instâncias testadas.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8015400" y="1380301"/>
            <a:ext cx="3490500" cy="3900600"/>
          </a:xfrm>
          <a:prstGeom prst="roundRect">
            <a:avLst>
              <a:gd fmla="val 4000" name="adj"/>
            </a:avLst>
          </a:prstGeom>
          <a:solidFill>
            <a:srgbClr val="F3DFD3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4"/>
          <p:cNvSpPr txBox="1"/>
          <p:nvPr/>
        </p:nvSpPr>
        <p:spPr>
          <a:xfrm>
            <a:off x="8089262" y="1523316"/>
            <a:ext cx="297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250"/>
              <a:buFont typeface="Calibri"/>
              <a:buNone/>
            </a:pPr>
            <a:r>
              <a:rPr b="1" i="0" lang="en-US" sz="205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CONTRA A HIPÓTESE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 txBox="1"/>
          <p:nvPr/>
        </p:nvSpPr>
        <p:spPr>
          <a:xfrm>
            <a:off x="8089250" y="2011725"/>
            <a:ext cx="3235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600"/>
              <a:buFont typeface="Cambria"/>
              <a:buNone/>
            </a:pPr>
            <a:r>
              <a:rPr b="1" i="0" lang="en-US" sz="3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 hipótese foi </a:t>
            </a:r>
            <a:r>
              <a:rPr b="1" lang="en-US" sz="30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</a:t>
            </a:r>
            <a:r>
              <a:rPr b="1" i="0" lang="en-US" sz="3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refutada</a:t>
            </a:r>
            <a:r>
              <a:rPr b="1" lang="en-US" sz="30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”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8089250" y="2984971"/>
            <a:ext cx="3235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00"/>
              <a:buFont typeface="Calibri"/>
              <a:buNone/>
            </a:pPr>
            <a:r>
              <a:rPr b="0" i="0" lang="en-US" sz="24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Uma correção manual no executor procedural zera os falsos negativos. Ele não era incapaz: faltava-lhe a regra.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685950" y="5503383"/>
            <a:ext cx="10820100" cy="713100"/>
          </a:xfrm>
          <a:prstGeom prst="roundRect">
            <a:avLst>
              <a:gd fmla="val 11538" name="adj"/>
            </a:avLst>
          </a:prstGeom>
          <a:solidFill>
            <a:srgbClr val="F3DF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4"/>
          <p:cNvSpPr txBox="1"/>
          <p:nvPr/>
        </p:nvSpPr>
        <p:spPr>
          <a:xfrm>
            <a:off x="960270" y="5576535"/>
            <a:ext cx="10271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50"/>
              <a:buFont typeface="Cambria"/>
              <a:buNone/>
            </a:pPr>
            <a:r>
              <a:rPr b="0" i="1" lang="en-US" sz="24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caminho 1 de erro, previsto no slide da hipótese, foi o que se materializou.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4"/>
          <p:cNvSpPr txBox="1"/>
          <p:nvPr>
            <p:ph idx="4294967295" type="sldNum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4"/>
          <p:cNvSpPr txBox="1"/>
          <p:nvPr/>
        </p:nvSpPr>
        <p:spPr>
          <a:xfrm>
            <a:off x="411475" y="304883"/>
            <a:ext cx="1082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48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RESULTADOS JÁ OBTIDOS</a:t>
            </a:r>
            <a:endParaRPr b="1" sz="48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"/>
          <p:cNvSpPr/>
          <p:nvPr/>
        </p:nvSpPr>
        <p:spPr>
          <a:xfrm>
            <a:off x="685800" y="1405951"/>
            <a:ext cx="10820100" cy="1767000"/>
          </a:xfrm>
          <a:prstGeom prst="roundRect">
            <a:avLst>
              <a:gd fmla="val 5806" name="adj"/>
            </a:avLst>
          </a:prstGeom>
          <a:solidFill>
            <a:srgbClr val="DDE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"/>
          <p:cNvSpPr txBox="1"/>
          <p:nvPr/>
        </p:nvSpPr>
        <p:spPr>
          <a:xfrm>
            <a:off x="996896" y="1710637"/>
            <a:ext cx="101982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2000"/>
              <a:buFont typeface="Cambria"/>
              <a:buNone/>
            </a:pPr>
            <a:r>
              <a:rPr b="1" i="1" lang="en-US" sz="2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“Manter a norma como especificação declarativa (usar Planning) preserva a corretude do sistema diante de regras novas, a um custo de busca que ainda cabe num turno real.”</a:t>
            </a:r>
            <a:endParaRPr b="1" i="1" sz="26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685800" y="3419850"/>
            <a:ext cx="5047500" cy="2756700"/>
          </a:xfrm>
          <a:prstGeom prst="roundRect">
            <a:avLst>
              <a:gd fmla="val 5376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5"/>
          <p:cNvSpPr txBox="1"/>
          <p:nvPr/>
        </p:nvSpPr>
        <p:spPr>
          <a:xfrm>
            <a:off x="923544" y="3621024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4A6B5B"/>
              </a:buClr>
              <a:buSzPts val="1250"/>
              <a:buFont typeface="Calibri"/>
              <a:buNone/>
            </a:pPr>
            <a:r>
              <a:rPr b="1" i="0" lang="en-US" sz="2050" u="none" cap="none" strike="noStrike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rPr>
              <a:t>O QUE SUSTENTAMOS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 txBox="1"/>
          <p:nvPr/>
        </p:nvSpPr>
        <p:spPr>
          <a:xfrm>
            <a:off x="923544" y="3950208"/>
            <a:ext cx="457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1" i="0" lang="en-US" sz="3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Declaratividade e prova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 txBox="1"/>
          <p:nvPr/>
        </p:nvSpPr>
        <p:spPr>
          <a:xfrm>
            <a:off x="923544" y="4385705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50"/>
              <a:buFont typeface="Calibri"/>
              <a:buNone/>
            </a:pPr>
            <a:r>
              <a:rPr b="0" i="0" lang="en-US" sz="24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Regra nova é absorvida sem tocar no código de busca, e a inviabilidade é demonstrada, não apenas constatada.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5971025" y="3419850"/>
            <a:ext cx="5047500" cy="2756700"/>
          </a:xfrm>
          <a:prstGeom prst="roundRect">
            <a:avLst>
              <a:gd fmla="val 5376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5"/>
          <p:cNvSpPr txBox="1"/>
          <p:nvPr/>
        </p:nvSpPr>
        <p:spPr>
          <a:xfrm>
            <a:off x="6208776" y="3621024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250"/>
              <a:buFont typeface="Calibri"/>
              <a:buNone/>
            </a:pPr>
            <a:r>
              <a:rPr b="1" i="0" lang="en-US" sz="205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O QUE NÃO SUSTENTAMOS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 txBox="1"/>
          <p:nvPr/>
        </p:nvSpPr>
        <p:spPr>
          <a:xfrm>
            <a:off x="6208776" y="3950208"/>
            <a:ext cx="457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1" i="0" lang="en-US" sz="3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Economia e exclusividade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 txBox="1"/>
          <p:nvPr/>
        </p:nvSpPr>
        <p:spPr>
          <a:xfrm>
            <a:off x="6208776" y="4429111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50"/>
              <a:buFont typeface="Calibri"/>
              <a:buNone/>
            </a:pPr>
            <a:r>
              <a:rPr b="0" i="0" lang="en-US" sz="24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Não economiza deslocamento, e não encontra planos que um programa corrigido não encontraria.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5"/>
          <p:cNvSpPr txBox="1"/>
          <p:nvPr>
            <p:ph idx="4294967295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5"/>
          <p:cNvSpPr txBox="1"/>
          <p:nvPr/>
        </p:nvSpPr>
        <p:spPr>
          <a:xfrm>
            <a:off x="411475" y="304883"/>
            <a:ext cx="1082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48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REFORMULAÇÃO DA HIPÓTESE</a:t>
            </a:r>
            <a:endParaRPr b="1" sz="48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reme">
  <a:themeElements>
    <a:clrScheme name="Creme">
      <a:dk1>
        <a:srgbClr val="33291F"/>
      </a:dk1>
      <a:lt1>
        <a:srgbClr val="FEFCF7"/>
      </a:lt1>
      <a:dk2>
        <a:srgbClr val="5C4F41"/>
      </a:dk2>
      <a:lt2>
        <a:srgbClr val="F2E7D2"/>
      </a:lt2>
      <a:accent1>
        <a:srgbClr val="B35C38"/>
      </a:accent1>
      <a:accent2>
        <a:srgbClr val="4A6B5B"/>
      </a:accent2>
      <a:accent3>
        <a:srgbClr val="8A7A67"/>
      </a:accent3>
      <a:accent4>
        <a:srgbClr val="E8D8BC"/>
      </a:accent4>
      <a:accent5>
        <a:srgbClr val="F3DFD3"/>
      </a:accent5>
      <a:accent6>
        <a:srgbClr val="DDE7E0"/>
      </a:accent6>
      <a:hlink>
        <a:srgbClr val="B35C38"/>
      </a:hlink>
      <a:folHlink>
        <a:srgbClr val="8A7A6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reme">
  <a:themeElements>
    <a:clrScheme name="Creme">
      <a:dk1>
        <a:srgbClr val="33291F"/>
      </a:dk1>
      <a:lt1>
        <a:srgbClr val="FEFCF7"/>
      </a:lt1>
      <a:dk2>
        <a:srgbClr val="5C4F41"/>
      </a:dk2>
      <a:lt2>
        <a:srgbClr val="F2E7D2"/>
      </a:lt2>
      <a:accent1>
        <a:srgbClr val="B35C38"/>
      </a:accent1>
      <a:accent2>
        <a:srgbClr val="4A6B5B"/>
      </a:accent2>
      <a:accent3>
        <a:srgbClr val="8A7A67"/>
      </a:accent3>
      <a:accent4>
        <a:srgbClr val="E8D8BC"/>
      </a:accent4>
      <a:accent5>
        <a:srgbClr val="F3DFD3"/>
      </a:accent5>
      <a:accent6>
        <a:srgbClr val="DDE7E0"/>
      </a:accent6>
      <a:hlink>
        <a:srgbClr val="B35C38"/>
      </a:hlink>
      <a:folHlink>
        <a:srgbClr val="8A7A6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